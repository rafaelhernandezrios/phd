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D33"/>
                </a:solidFill>
                <a:latin typeface="Calibri"/>
              </a:defRPr>
            </a:pPr>
            <a:r>
              <a:rPr sz="1300" b="0" i="0" u="none" strike="noStrike">
                <a:solidFill>
                  <a:srgbClr val="0E1D33"/>
                </a:solidFill>
                <a:latin typeface="Calibri"/>
              </a:rPr>
              <a:t>Exactitud reposo vs tarea por montaje</a:t>
            </a:r>
          </a:p>
        </c:rich>
      </c:tx>
      <c:layout/>
      <c:overlay val="0"/>
    </c:title>
    <c:autoTitleDeleted val="0"/>
    <c:plotArea>
      <c:layout/>
      <c:barChart>
        <c:barDir val="col"/>
        <c:grouping val="clustered"/>
        <c:varyColors val="0"/>
        <c:ser>
          <c:idx val="0"/>
          <c:order val="0"/>
          <c:tx>
            <c:strRef>
              <c:f>Sheet1!$B$1</c:f>
              <c:strCache>
                <c:ptCount val="1"/>
                <c:pt idx="0">
                  <c:v>Exactitud LOSO</c:v>
                </c:pt>
              </c:strCache>
            </c:strRef>
          </c:tx>
          <c:spPr>
            <a:solidFill>
              <a:srgbClr val="1391B5"/>
            </a:solidFill>
            <a:effectLst/>
          </c:spPr>
          <c:invertIfNegative val="0"/>
          <c:dLbls>
            <c:numFmt formatCode="0.000" sourceLinked="0"/>
            <c:txPr>
              <a:bodyPr/>
              <a:lstStyle/>
              <a:p>
                <a:pPr>
                  <a:defRPr b="1" i="0" strike="noStrike" sz="1200" u="none">
                    <a:solidFill>
                      <a:srgbClr val="0E1D33"/>
                    </a:solidFill>
                    <a:latin typeface="Arial"/>
                  </a:defRPr>
                </a:pPr>
              </a:p>
            </c:txPr>
            <c:showLegendKey val="0"/>
            <c:showVal val="1"/>
            <c:showCatName val="0"/>
            <c:showSerName val="0"/>
            <c:showPercent val="0"/>
            <c:showBubbleSize val="0"/>
            <c:showLeaderLines val="0"/>
          </c:dLbls>
          <c:cat>
            <c:multiLvlStrRef>
              <c:f>Sheet1!$A$2:$A$5</c:f>
              <c:multiLvlStrCache>
                <c:ptCount val="4"/>
                <c:lvl>
                  <c:pt idx="0">
                    <c:v>19 ch (10–20 completo)</c:v>
                  </c:pt>
                  <c:pt idx="1">
                    <c:v>8 ch (diadema)</c:v>
                  </c:pt>
                  <c:pt idx="2">
                    <c:v>6 ch (F+P)</c:v>
                  </c:pt>
                  <c:pt idx="3">
                    <c:v>2 ch (Fz+Pz)</c:v>
                  </c:pt>
                </c:lvl>
              </c:multiLvlStrCache>
            </c:multiLvlStrRef>
          </c:cat>
          <c:val>
            <c:numRef>
              <c:f>Sheet1!$B$2:$B$5</c:f>
              <c:numCache>
                <c:formatCode>General</c:formatCode>
                <c:ptCount val="4"/>
                <c:pt idx="0">
                  <c:v>0.844</c:v>
                </c:pt>
                <c:pt idx="1">
                  <c:v>0.851</c:v>
                </c:pt>
                <c:pt idx="2">
                  <c:v>0.814</c:v>
                </c:pt>
                <c:pt idx="3">
                  <c:v>0.806</c:v>
                </c:pt>
              </c:numCache>
            </c:numRef>
          </c:val>
        </c:ser>
        <c:dLbls>
          <c:numFmt formatCode="0.000" sourceLinked="0"/>
          <c:txPr>
            <a:bodyPr/>
            <a:lstStyle/>
            <a:p>
              <a:pPr>
                <a:defRPr b="1" i="0" strike="noStrike" sz="1200" u="none">
                  <a:solidFill>
                    <a:srgbClr val="0E1D33"/>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E1D33"/>
                </a:solidFill>
                <a:latin typeface="Arial"/>
              </a:defRPr>
            </a:pPr>
            <a:endParaRPr lang="en-US"/>
          </a:p>
        </c:txPr>
        <c:crossAx val="2094734552"/>
        <c:crosses val="autoZero"/>
        <c:auto val="1"/>
        <c:lblAlgn val="ctr"/>
        <c:noMultiLvlLbl val="1"/>
      </c:catAx>
      <c:valAx>
        <c:axId val="2094734552"/>
        <c:scaling>
          <c:orientation val="minMax"/>
          <c:max val="0.92"/>
          <c:min val="0.6"/>
        </c:scaling>
        <c:delete val="0"/>
        <c:axPos val="l"/>
        <c:majorGridlines>
          <c:spPr>
            <a:ln w="12700" cap="flat">
              <a:solidFill>
                <a:srgbClr val="E4EB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E7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Continuación del Seminario II (junio 2026). En esa sesión el sistema estaba validado solo en su capa de estimación (índice CLI). Hoy presento tres bloques nuevos: el módulo de IA con validación honesta, la plataforma VR de sutura robótica con háptica, y el controlador de bucle cerrado ya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avances desde el Seminario II. El mensaje de fondo: pasamos de 'tenemos un índice validado' a 'tenemos el sistema completo instrumentado y medido en simulación'.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único bloque que sigue abierto es B7: la validación con usuarios. Todo lo demás pasó de diseño a implementación durante el Año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cambio metodológico más importante del año: dejamos de comparar contra números inflados de la literatura y montamos un protocolo que se puede defender ante un revisor.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+5 puntos por una decisión de protocolo, no por un modelo mejor. Y el matiz honesto de la recalibración en línea, que solo debe usarse cuando reposo y tarea están bien separados.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diagnóstico ahorra trabajo: en vez de gastar meses probando arquitecturas, demostramos estadísticamente que el problema estaba mal planteado y lo replanteamos.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más va a discutir el comité. La literatura atribuye el efecto a la theta frontal; en nuestros datos, con dos sistemas distintos, el efecto es alfa. No invalida el índice, pero cambia su interpretación y la elección de montaje.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para la tesis: la háptica es una magnitud física que el controlador puede escalar, no una vibración. Eso la convierte en actuador legítimo sobre la variable que estamos regulando.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probablemente el aporte de sistema más citable: no es un resultado de accuracy, es una consecuencia arquitectónica derivada de medir el 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conviene ser explícito con el comité: encontramos un problema de instrumentación en nuestras propias grabaciones, lo cuantificamos, y ajustamos el protocolo en lugar de forzar un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idea de que el año produjo tanto resultados positivos como dos correcciones de rumbo bien fundamentadas: la interpretación del índice y la arquitectura del 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D33"/>
        </a:solidFill>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1B3A5C"/>
          </a:solidFill>
          <a:ln w="12700">
            <a:solidFill>
              <a:srgbClr val="333333"/>
            </a:solidFill>
            <a:prstDash val="solid"/>
          </a:ln>
        </p:spPr>
      </p:sp>
      <p:sp>
        <p:nvSpPr>
          <p:cNvPr id="3" name="Shape 1"/>
          <p:cNvSpPr/>
          <p:nvPr/>
        </p:nvSpPr>
        <p:spPr>
          <a:xfrm>
            <a:off x="10424160" y="4480560"/>
            <a:ext cx="2926080" cy="2926080"/>
          </a:xfrm>
          <a:prstGeom prst="ellipse">
            <a:avLst/>
          </a:prstGeom>
          <a:solidFill>
            <a:srgbClr val="142B47"/>
          </a:solidFill>
          <a:ln w="12700">
            <a:solidFill>
              <a:srgbClr val="333333"/>
            </a:solidFill>
            <a:prstDash val="solid"/>
          </a:ln>
        </p:spPr>
      </p:sp>
      <p:sp>
        <p:nvSpPr>
          <p:cNvPr id="4" name="Text 2"/>
          <p:cNvSpPr/>
          <p:nvPr/>
        </p:nvSpPr>
        <p:spPr>
          <a:xfrm>
            <a:off x="640080" y="502920"/>
            <a:ext cx="10515600" cy="274320"/>
          </a:xfrm>
          <a:prstGeom prst="rect">
            <a:avLst/>
          </a:prstGeom>
          <a:noFill/>
          <a:ln/>
        </p:spPr>
        <p:txBody>
          <a:bodyPr wrap="square" lIns="0" tIns="0" rIns="0" bIns="0" rtlCol="0" anchor="ctr"/>
          <a:lstStyle/>
          <a:p>
            <a:pPr indent="0" marL="0">
              <a:buNone/>
            </a:pPr>
            <a:r>
              <a:rPr lang="en-US" sz="1050" spc="120" kern="0" dirty="0">
                <a:solidFill>
                  <a:srgbClr val="8FB6CC"/>
                </a:solidFill>
                <a:latin typeface="Calibri" pitchFamily="34" charset="0"/>
                <a:ea typeface="Calibri" pitchFamily="34" charset="-122"/>
                <a:cs typeface="Calibri" pitchFamily="34" charset="-120"/>
              </a:rPr>
              <a:t>UNIVERSIDAD AUTÓNOMA DEL ESTADO DE HIDALGO  ·  DOCTORADO EN CIENCIAS COMPUTACIONALES</a:t>
            </a:r>
            <a:endParaRPr lang="en-US" sz="1050" dirty="0"/>
          </a:p>
        </p:txBody>
      </p:sp>
      <p:sp>
        <p:nvSpPr>
          <p:cNvPr id="5" name="Text 3"/>
          <p:cNvSpPr/>
          <p:nvPr/>
        </p:nvSpPr>
        <p:spPr>
          <a:xfrm>
            <a:off x="640080" y="1051560"/>
            <a:ext cx="7772400" cy="548640"/>
          </a:xfrm>
          <a:prstGeom prst="rect">
            <a:avLst/>
          </a:prstGeom>
          <a:noFill/>
          <a:ln/>
        </p:spPr>
        <p:txBody>
          <a:bodyPr wrap="square" lIns="0" tIns="0" rIns="0" bIns="0" rtlCol="0" anchor="ctr"/>
          <a:lstStyle/>
          <a:p>
            <a:pPr indent="0" marL="0">
              <a:buNone/>
            </a:pPr>
            <a:r>
              <a:rPr lang="en-US" sz="1500" b="1" spc="100" kern="0" dirty="0">
                <a:solidFill>
                  <a:srgbClr val="1391B5"/>
                </a:solidFill>
                <a:latin typeface="Calibri" pitchFamily="34" charset="0"/>
                <a:ea typeface="Calibri" pitchFamily="34" charset="-122"/>
                <a:cs typeface="Calibri" pitchFamily="34" charset="-120"/>
              </a:rPr>
              <a:t>Seminario de Tesis III</a:t>
            </a:r>
            <a:endParaRPr lang="en-US" sz="1500" dirty="0"/>
          </a:p>
        </p:txBody>
      </p:sp>
      <p:sp>
        <p:nvSpPr>
          <p:cNvPr id="6" name="Text 4"/>
          <p:cNvSpPr/>
          <p:nvPr/>
        </p:nvSpPr>
        <p:spPr>
          <a:xfrm>
            <a:off x="640080" y="1691640"/>
            <a:ext cx="9692640" cy="137160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Sistema Neuroadaptativo para Entrenamiento en Cirugía Robótica</a:t>
            </a:r>
            <a:endParaRPr lang="en-US" sz="3400" dirty="0"/>
          </a:p>
        </p:txBody>
      </p:sp>
      <p:sp>
        <p:nvSpPr>
          <p:cNvPr id="7" name="Text 5"/>
          <p:cNvSpPr/>
          <p:nvPr/>
        </p:nvSpPr>
        <p:spPr>
          <a:xfrm>
            <a:off x="658368" y="3063240"/>
            <a:ext cx="9509760" cy="457200"/>
          </a:xfrm>
          <a:prstGeom prst="rect">
            <a:avLst/>
          </a:prstGeom>
          <a:noFill/>
          <a:ln/>
        </p:spPr>
        <p:txBody>
          <a:bodyPr wrap="square" lIns="0" tIns="0" rIns="0" bIns="0" rtlCol="0" anchor="ctr"/>
          <a:lstStyle/>
          <a:p>
            <a:pPr indent="0" marL="0">
              <a:buNone/>
            </a:pPr>
            <a:r>
              <a:rPr lang="en-US" sz="1500" i="1" dirty="0">
                <a:solidFill>
                  <a:srgbClr val="B9CEDC"/>
                </a:solidFill>
                <a:latin typeface="Calibri" pitchFamily="34" charset="0"/>
                <a:ea typeface="Calibri" pitchFamily="34" charset="-122"/>
                <a:cs typeface="Calibri" pitchFamily="34" charset="-120"/>
              </a:rPr>
              <a:t>Estimación y regulación de carga cognitiva mediante EEG, IA y realidad virtual háptica</a:t>
            </a:r>
            <a:endParaRPr lang="en-US" sz="1500" dirty="0"/>
          </a:p>
        </p:txBody>
      </p:sp>
      <p:sp>
        <p:nvSpPr>
          <p:cNvPr id="8" name="Text 6"/>
          <p:cNvSpPr/>
          <p:nvPr/>
        </p:nvSpPr>
        <p:spPr>
          <a:xfrm>
            <a:off x="658368" y="3886200"/>
            <a:ext cx="5486400" cy="320040"/>
          </a:xfrm>
          <a:prstGeom prst="rect">
            <a:avLst/>
          </a:prstGeom>
          <a:noFill/>
          <a:ln/>
        </p:spPr>
        <p:txBody>
          <a:bodyPr wrap="square" lIns="0" tIns="0" rIns="0" bIns="0" rtlCol="0" anchor="ctr"/>
          <a:lstStyle/>
          <a:p>
            <a:pPr indent="0" marL="0">
              <a:buNone/>
            </a:pPr>
            <a:r>
              <a:rPr lang="en-US" sz="1300" b="1" dirty="0">
                <a:solidFill>
                  <a:srgbClr val="1391B5"/>
                </a:solidFill>
                <a:latin typeface="Calibri" pitchFamily="34" charset="0"/>
                <a:ea typeface="Calibri" pitchFamily="34" charset="-122"/>
                <a:cs typeface="Calibri" pitchFamily="34" charset="-120"/>
              </a:rPr>
              <a:t>Estado del proyecto — Año 2 en curso</a:t>
            </a:r>
            <a:endParaRPr lang="en-US" sz="1300" dirty="0"/>
          </a:p>
        </p:txBody>
      </p:sp>
      <p:sp>
        <p:nvSpPr>
          <p:cNvPr id="9" name="Text 7"/>
          <p:cNvSpPr/>
          <p:nvPr/>
        </p:nvSpPr>
        <p:spPr>
          <a:xfrm>
            <a:off x="658368" y="4709160"/>
            <a:ext cx="59436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 Eng. Edgar Rafael Hernández Ríos</a:t>
            </a:r>
            <a:endParaRPr lang="en-US" sz="1600" dirty="0"/>
          </a:p>
        </p:txBody>
      </p:sp>
      <p:sp>
        <p:nvSpPr>
          <p:cNvPr id="10" name="Text 8"/>
          <p:cNvSpPr/>
          <p:nvPr/>
        </p:nvSpPr>
        <p:spPr>
          <a:xfrm>
            <a:off x="658368" y="5074920"/>
            <a:ext cx="7772400" cy="731520"/>
          </a:xfrm>
          <a:prstGeom prst="rect">
            <a:avLst/>
          </a:prstGeom>
          <a:noFill/>
          <a:ln/>
        </p:spPr>
        <p:txBody>
          <a:bodyPr wrap="square" lIns="0" tIns="0" rIns="0" bIns="0" rtlCol="0" anchor="ctr"/>
          <a:lstStyle/>
          <a:p>
            <a:pPr indent="0" marL="0">
              <a:lnSpc>
                <a:spcPts val="1800"/>
              </a:lnSpc>
              <a:buNone/>
            </a:pPr>
            <a:r>
              <a:rPr lang="en-US" sz="1250" b="1" dirty="0">
                <a:solidFill>
                  <a:srgbClr val="B9CEDC"/>
                </a:solidFill>
                <a:latin typeface="Calibri" pitchFamily="34" charset="0"/>
                <a:ea typeface="Calibri" pitchFamily="34" charset="-122"/>
                <a:cs typeface="Calibri" pitchFamily="34" charset="-120"/>
              </a:rPr>
              <a:t>Director: </a:t>
            </a:r>
            <a:pPr indent="0" marL="0">
              <a:lnSpc>
                <a:spcPts val="1800"/>
              </a:lnSpc>
              <a:buNone/>
            </a:pPr>
            <a:r>
              <a:rPr lang="en-US" sz="1250" dirty="0">
                <a:solidFill>
                  <a:srgbClr val="B9CEDC"/>
                </a:solidFill>
                <a:latin typeface="Calibri" pitchFamily="34" charset="0"/>
                <a:ea typeface="Calibri" pitchFamily="34" charset="-122"/>
                <a:cs typeface="Calibri" pitchFamily="34" charset="-120"/>
              </a:rPr>
              <a:t>Dr. Omar Arturo Domínguez Ramírez (UAEH)</a:t>
            </a:r>
            <a:endParaRPr lang="en-US" sz="1250" dirty="0"/>
          </a:p>
          <a:p>
            <a:pPr indent="0" marL="0">
              <a:lnSpc>
                <a:spcPts val="1800"/>
              </a:lnSpc>
              <a:buNone/>
            </a:pPr>
            <a:r>
              <a:rPr lang="en-US" sz="1250" b="1" dirty="0">
                <a:solidFill>
                  <a:srgbClr val="B9CEDC"/>
                </a:solidFill>
                <a:latin typeface="Calibri" pitchFamily="34" charset="0"/>
                <a:ea typeface="Calibri" pitchFamily="34" charset="-122"/>
                <a:cs typeface="Calibri" pitchFamily="34" charset="-120"/>
              </a:rPr>
              <a:t>Co-director: </a:t>
            </a:r>
            <a:pPr indent="0" marL="0">
              <a:lnSpc>
                <a:spcPts val="1800"/>
              </a:lnSpc>
              <a:buNone/>
            </a:pPr>
            <a:r>
              <a:rPr lang="en-US" sz="1250" dirty="0">
                <a:solidFill>
                  <a:srgbClr val="B9CEDC"/>
                </a:solidFill>
                <a:latin typeface="Calibri" pitchFamily="34" charset="0"/>
                <a:ea typeface="Calibri" pitchFamily="34" charset="-122"/>
                <a:cs typeface="Calibri" pitchFamily="34" charset="-120"/>
              </a:rPr>
              <a:t>Dr. Christian Peñaloza — Mirai Innovation Research Institute, Osaka</a:t>
            </a:r>
            <a:endParaRPr lang="en-US" sz="1250" dirty="0"/>
          </a:p>
        </p:txBody>
      </p:sp>
      <p:sp>
        <p:nvSpPr>
          <p:cNvPr id="11" name="Text 9"/>
          <p:cNvSpPr/>
          <p:nvPr/>
        </p:nvSpPr>
        <p:spPr>
          <a:xfrm>
            <a:off x="658368" y="6035040"/>
            <a:ext cx="3657600" cy="320040"/>
          </a:xfrm>
          <a:prstGeom prst="rect">
            <a:avLst/>
          </a:prstGeom>
          <a:noFill/>
          <a:ln/>
        </p:spPr>
        <p:txBody>
          <a:bodyPr wrap="square" lIns="0" tIns="0" rIns="0" bIns="0" rtlCol="0" anchor="ctr"/>
          <a:lstStyle/>
          <a:p>
            <a:pPr indent="0" marL="0">
              <a:buNone/>
            </a:pPr>
            <a:r>
              <a:rPr lang="en-US" sz="1200" dirty="0">
                <a:solidFill>
                  <a:srgbClr val="7C99AD"/>
                </a:solidFill>
                <a:latin typeface="Calibri" pitchFamily="34" charset="0"/>
                <a:ea typeface="Calibri" pitchFamily="34" charset="-122"/>
                <a:cs typeface="Calibri" pitchFamily="34" charset="-120"/>
              </a:rPr>
              <a:t>Agosto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RESUMEN EJECUTIVO</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De junio a hoy: qué cambió en el proyecto</a:t>
            </a:r>
            <a:endParaRPr lang="en-US" sz="3000" dirty="0"/>
          </a:p>
        </p:txBody>
      </p:sp>
      <p:sp>
        <p:nvSpPr>
          <p:cNvPr id="4" name="Shape 2"/>
          <p:cNvSpPr/>
          <p:nvPr/>
        </p:nvSpPr>
        <p:spPr>
          <a:xfrm>
            <a:off x="548640" y="1463040"/>
            <a:ext cx="3520440" cy="3200400"/>
          </a:xfrm>
          <a:prstGeom prst="roundRect">
            <a:avLst>
              <a:gd name="adj" fmla="val 1714"/>
            </a:avLst>
          </a:prstGeom>
          <a:solidFill>
            <a:srgbClr val="F1F5F8"/>
          </a:solidFill>
          <a:ln w="12700">
            <a:solidFill>
              <a:srgbClr val="D8E2EA"/>
            </a:solidFill>
            <a:prstDash val="solid"/>
          </a:ln>
        </p:spPr>
      </p:sp>
      <p:sp>
        <p:nvSpPr>
          <p:cNvPr id="5" name="Shape 3"/>
          <p:cNvSpPr/>
          <p:nvPr/>
        </p:nvSpPr>
        <p:spPr>
          <a:xfrm>
            <a:off x="804672" y="1719072"/>
            <a:ext cx="384048" cy="384048"/>
          </a:xfrm>
          <a:prstGeom prst="ellipse">
            <a:avLst/>
          </a:prstGeom>
          <a:solidFill>
            <a:srgbClr val="1391B5"/>
          </a:solidFill>
          <a:ln w="12700">
            <a:solidFill>
              <a:srgbClr val="333333"/>
            </a:solidFill>
            <a:prstDash val="solid"/>
          </a:ln>
        </p:spPr>
      </p:sp>
      <p:sp>
        <p:nvSpPr>
          <p:cNvPr id="6" name="Text 4"/>
          <p:cNvSpPr/>
          <p:nvPr/>
        </p:nvSpPr>
        <p:spPr>
          <a:xfrm>
            <a:off x="804672"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1664208"/>
            <a:ext cx="2514600" cy="548640"/>
          </a:xfrm>
          <a:prstGeom prst="rect">
            <a:avLst/>
          </a:prstGeom>
          <a:noFill/>
          <a:ln/>
        </p:spPr>
        <p:txBody>
          <a:bodyPr wrap="square" lIns="0" tIns="0" rIns="0" bIns="0" rtlCol="0" anchor="ctr"/>
          <a:lstStyle/>
          <a:p>
            <a:pPr indent="0" marL="0">
              <a:buNone/>
            </a:pPr>
            <a:r>
              <a:rPr lang="en-US" sz="1450" b="1" dirty="0">
                <a:solidFill>
                  <a:srgbClr val="0E1D33"/>
                </a:solidFill>
                <a:latin typeface="Calibri" pitchFamily="34" charset="0"/>
                <a:ea typeface="Calibri" pitchFamily="34" charset="-122"/>
                <a:cs typeface="Calibri" pitchFamily="34" charset="-120"/>
              </a:rPr>
              <a:t>El estimador se rehízo</a:t>
            </a:r>
            <a:endParaRPr lang="en-US" sz="1450" dirty="0"/>
          </a:p>
          <a:p>
            <a:pPr indent="0" marL="0">
              <a:buNone/>
            </a:pPr>
            <a:r>
              <a:rPr lang="en-US" sz="1450" b="1" dirty="0">
                <a:solidFill>
                  <a:srgbClr val="0E1D33"/>
                </a:solidFill>
                <a:latin typeface="Calibri" pitchFamily="34" charset="0"/>
                <a:ea typeface="Calibri" pitchFamily="34" charset="-122"/>
                <a:cs typeface="Calibri" pitchFamily="34" charset="-120"/>
              </a:rPr>
              <a:t>con evaluación honesta</a:t>
            </a:r>
            <a:endParaRPr lang="en-US" sz="1450" dirty="0"/>
          </a:p>
        </p:txBody>
      </p:sp>
      <p:sp>
        <p:nvSpPr>
          <p:cNvPr id="8" name="Text 6"/>
          <p:cNvSpPr/>
          <p:nvPr/>
        </p:nvSpPr>
        <p:spPr>
          <a:xfrm>
            <a:off x="822960" y="2468880"/>
            <a:ext cx="2971800" cy="20116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Nuevo pipeline LOSO con calibración por sujeto sobre 51 sujetos (2 datasets públicos).</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0.82 / 0.76 de exactitud reposo–tarea, transfiriendo entre hardware distinto.</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Se documenta también lo que no funciona: el nivel intermedio no es una clase.</a:t>
            </a:r>
            <a:endParaRPr lang="en-US" sz="1250" dirty="0"/>
          </a:p>
        </p:txBody>
      </p:sp>
      <p:sp>
        <p:nvSpPr>
          <p:cNvPr id="9" name="Shape 7"/>
          <p:cNvSpPr/>
          <p:nvPr/>
        </p:nvSpPr>
        <p:spPr>
          <a:xfrm>
            <a:off x="4334256" y="1463040"/>
            <a:ext cx="3520440" cy="3200400"/>
          </a:xfrm>
          <a:prstGeom prst="roundRect">
            <a:avLst>
              <a:gd name="adj" fmla="val 1714"/>
            </a:avLst>
          </a:prstGeom>
          <a:solidFill>
            <a:srgbClr val="F1F5F8"/>
          </a:solidFill>
          <a:ln w="12700">
            <a:solidFill>
              <a:srgbClr val="D8E2EA"/>
            </a:solidFill>
            <a:prstDash val="solid"/>
          </a:ln>
        </p:spPr>
      </p:sp>
      <p:sp>
        <p:nvSpPr>
          <p:cNvPr id="10" name="Shape 8"/>
          <p:cNvSpPr/>
          <p:nvPr/>
        </p:nvSpPr>
        <p:spPr>
          <a:xfrm>
            <a:off x="4590288" y="1719072"/>
            <a:ext cx="384048" cy="384048"/>
          </a:xfrm>
          <a:prstGeom prst="ellipse">
            <a:avLst/>
          </a:prstGeom>
          <a:solidFill>
            <a:srgbClr val="1B3A5C"/>
          </a:solidFill>
          <a:ln w="12700">
            <a:solidFill>
              <a:srgbClr val="333333"/>
            </a:solidFill>
            <a:prstDash val="solid"/>
          </a:ln>
        </p:spPr>
      </p:sp>
      <p:sp>
        <p:nvSpPr>
          <p:cNvPr id="11" name="Text 9"/>
          <p:cNvSpPr/>
          <p:nvPr/>
        </p:nvSpPr>
        <p:spPr>
          <a:xfrm>
            <a:off x="4590288"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11496" y="1664208"/>
            <a:ext cx="2514600" cy="548640"/>
          </a:xfrm>
          <a:prstGeom prst="rect">
            <a:avLst/>
          </a:prstGeom>
          <a:noFill/>
          <a:ln/>
        </p:spPr>
        <p:txBody>
          <a:bodyPr wrap="square" lIns="0" tIns="0" rIns="0" bIns="0" rtlCol="0" anchor="ctr"/>
          <a:lstStyle/>
          <a:p>
            <a:pPr indent="0" marL="0">
              <a:buNone/>
            </a:pPr>
            <a:r>
              <a:rPr lang="en-US" sz="1450" b="1" dirty="0">
                <a:solidFill>
                  <a:srgbClr val="0E1D33"/>
                </a:solidFill>
                <a:latin typeface="Calibri" pitchFamily="34" charset="0"/>
                <a:ea typeface="Calibri" pitchFamily="34" charset="-122"/>
                <a:cs typeface="Calibri" pitchFamily="34" charset="-120"/>
              </a:rPr>
              <a:t>La plataforma VR quirúrgica</a:t>
            </a:r>
            <a:endParaRPr lang="en-US" sz="1450" dirty="0"/>
          </a:p>
          <a:p>
            <a:pPr indent="0" marL="0">
              <a:buNone/>
            </a:pPr>
            <a:r>
              <a:rPr lang="en-US" sz="1450" b="1" dirty="0">
                <a:solidFill>
                  <a:srgbClr val="0E1D33"/>
                </a:solidFill>
                <a:latin typeface="Calibri" pitchFamily="34" charset="0"/>
                <a:ea typeface="Calibri" pitchFamily="34" charset="-122"/>
                <a:cs typeface="Calibri" pitchFamily="34" charset="-120"/>
              </a:rPr>
              <a:t>ya existe y es háptica</a:t>
            </a:r>
            <a:endParaRPr lang="en-US" sz="1450" dirty="0"/>
          </a:p>
        </p:txBody>
      </p:sp>
      <p:sp>
        <p:nvSpPr>
          <p:cNvPr id="13" name="Text 11"/>
          <p:cNvSpPr/>
          <p:nvPr/>
        </p:nvSpPr>
        <p:spPr>
          <a:xfrm>
            <a:off x="4608576" y="2468880"/>
            <a:ext cx="2971800" cy="20116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Entrenador de sutura tipo da Vinci en Unity 6 / OpenXR / Quest 3.</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5 ejercicios, teleoperación con pivote en trócar y escalado de movimiento.</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Fuerza real con 3D Systems Touch (OpenHaptics), hasta 3.3 N.</a:t>
            </a:r>
            <a:endParaRPr lang="en-US" sz="1250" dirty="0"/>
          </a:p>
        </p:txBody>
      </p:sp>
      <p:sp>
        <p:nvSpPr>
          <p:cNvPr id="14" name="Shape 12"/>
          <p:cNvSpPr/>
          <p:nvPr/>
        </p:nvSpPr>
        <p:spPr>
          <a:xfrm>
            <a:off x="8119872" y="1463040"/>
            <a:ext cx="3520440" cy="3200400"/>
          </a:xfrm>
          <a:prstGeom prst="roundRect">
            <a:avLst>
              <a:gd name="adj" fmla="val 1714"/>
            </a:avLst>
          </a:prstGeom>
          <a:solidFill>
            <a:srgbClr val="F1F5F8"/>
          </a:solidFill>
          <a:ln w="12700">
            <a:solidFill>
              <a:srgbClr val="D8E2EA"/>
            </a:solidFill>
            <a:prstDash val="solid"/>
          </a:ln>
        </p:spPr>
      </p:sp>
      <p:sp>
        <p:nvSpPr>
          <p:cNvPr id="15" name="Shape 13"/>
          <p:cNvSpPr/>
          <p:nvPr/>
        </p:nvSpPr>
        <p:spPr>
          <a:xfrm>
            <a:off x="8375904" y="1719072"/>
            <a:ext cx="384048" cy="384048"/>
          </a:xfrm>
          <a:prstGeom prst="ellipse">
            <a:avLst/>
          </a:prstGeom>
          <a:solidFill>
            <a:srgbClr val="2E9E6B"/>
          </a:solidFill>
          <a:ln w="12700">
            <a:solidFill>
              <a:srgbClr val="333333"/>
            </a:solidFill>
            <a:prstDash val="solid"/>
          </a:ln>
        </p:spPr>
      </p:sp>
      <p:sp>
        <p:nvSpPr>
          <p:cNvPr id="16" name="Text 14"/>
          <p:cNvSpPr/>
          <p:nvPr/>
        </p:nvSpPr>
        <p:spPr>
          <a:xfrm>
            <a:off x="8375904"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897112" y="1664208"/>
            <a:ext cx="2514600" cy="548640"/>
          </a:xfrm>
          <a:prstGeom prst="rect">
            <a:avLst/>
          </a:prstGeom>
          <a:noFill/>
          <a:ln/>
        </p:spPr>
        <p:txBody>
          <a:bodyPr wrap="square" lIns="0" tIns="0" rIns="0" bIns="0" rtlCol="0" anchor="ctr"/>
          <a:lstStyle/>
          <a:p>
            <a:pPr indent="0" marL="0">
              <a:buNone/>
            </a:pPr>
            <a:r>
              <a:rPr lang="en-US" sz="1450" b="1" dirty="0">
                <a:solidFill>
                  <a:srgbClr val="0E1D33"/>
                </a:solidFill>
                <a:latin typeface="Calibri" pitchFamily="34" charset="0"/>
                <a:ea typeface="Calibri" pitchFamily="34" charset="-122"/>
                <a:cs typeface="Calibri" pitchFamily="34" charset="-120"/>
              </a:rPr>
              <a:t>El bucle cerrado está</a:t>
            </a:r>
            <a:endParaRPr lang="en-US" sz="1450" dirty="0"/>
          </a:p>
          <a:p>
            <a:pPr indent="0" marL="0">
              <a:buNone/>
            </a:pPr>
            <a:r>
              <a:rPr lang="en-US" sz="1450" b="1" dirty="0">
                <a:solidFill>
                  <a:srgbClr val="0E1D33"/>
                </a:solidFill>
                <a:latin typeface="Calibri" pitchFamily="34" charset="0"/>
                <a:ea typeface="Calibri" pitchFamily="34" charset="-122"/>
                <a:cs typeface="Calibri" pitchFamily="34" charset="-120"/>
              </a:rPr>
              <a:t>implementado y medido</a:t>
            </a:r>
            <a:endParaRPr lang="en-US" sz="1450" dirty="0"/>
          </a:p>
        </p:txBody>
      </p:sp>
      <p:sp>
        <p:nvSpPr>
          <p:cNvPr id="18" name="Text 16"/>
          <p:cNvSpPr/>
          <p:nvPr/>
        </p:nvSpPr>
        <p:spPr>
          <a:xfrm>
            <a:off x="8394192" y="2468880"/>
            <a:ext cx="2971800" cy="20116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Controlador de dificultad EEG→VR con guardas anti-oscilación.</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Evaluado en software-in-the-loop con 5,369 ventanas reales de 15 sujetos.</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Latencia de cómputo: 16 ms sobre un stride de 2 s (0.8 %).</a:t>
            </a:r>
            <a:endParaRPr lang="en-US" sz="1250" dirty="0"/>
          </a:p>
        </p:txBody>
      </p:sp>
      <p:sp>
        <p:nvSpPr>
          <p:cNvPr id="19" name="Shape 17"/>
          <p:cNvSpPr/>
          <p:nvPr/>
        </p:nvSpPr>
        <p:spPr>
          <a:xfrm>
            <a:off x="548640" y="4937760"/>
            <a:ext cx="11091672" cy="1051560"/>
          </a:xfrm>
          <a:prstGeom prst="roundRect">
            <a:avLst>
              <a:gd name="adj" fmla="val 5217"/>
            </a:avLst>
          </a:prstGeom>
          <a:solidFill>
            <a:srgbClr val="0E1D33"/>
          </a:solidFill>
          <a:ln w="12700">
            <a:solidFill>
              <a:srgbClr val="0E1D33"/>
            </a:solidFill>
            <a:prstDash val="solid"/>
          </a:ln>
        </p:spPr>
      </p:sp>
      <p:sp>
        <p:nvSpPr>
          <p:cNvPr id="20" name="Text 18"/>
          <p:cNvSpPr/>
          <p:nvPr/>
        </p:nvSpPr>
        <p:spPr>
          <a:xfrm>
            <a:off x="868680" y="5074920"/>
            <a:ext cx="10424160" cy="777240"/>
          </a:xfrm>
          <a:prstGeom prst="rect">
            <a:avLst/>
          </a:prstGeom>
          <a:noFill/>
          <a:ln/>
        </p:spPr>
        <p:txBody>
          <a:bodyPr wrap="square" lIns="0" tIns="0" rIns="0" bIns="0" rtlCol="0" anchor="ctr"/>
          <a:lstStyle/>
          <a:p>
            <a:pPr indent="0" marL="0">
              <a:lnSpc>
                <a:spcPts val="2000"/>
              </a:lnSpc>
              <a:buNone/>
            </a:pPr>
            <a:r>
              <a:rPr lang="en-US" sz="1350" b="1" dirty="0">
                <a:solidFill>
                  <a:srgbClr val="1391B5"/>
                </a:solidFill>
                <a:latin typeface="Calibri" pitchFamily="34" charset="0"/>
                <a:ea typeface="Calibri" pitchFamily="34" charset="-122"/>
                <a:cs typeface="Calibri" pitchFamily="34" charset="-120"/>
              </a:rPr>
              <a:t>Consecuencia para la tesis:  </a:t>
            </a:r>
            <a:pPr indent="0" marL="0">
              <a:lnSpc>
                <a:spcPts val="2000"/>
              </a:lnSpc>
              <a:buNone/>
            </a:pPr>
            <a:r>
              <a:rPr lang="en-US" sz="1350" dirty="0">
                <a:solidFill>
                  <a:srgbClr val="FFFFFF"/>
                </a:solidFill>
                <a:latin typeface="Calibri" pitchFamily="34" charset="0"/>
                <a:ea typeface="Calibri" pitchFamily="34" charset="-122"/>
                <a:cs typeface="Calibri" pitchFamily="34" charset="-120"/>
              </a:rPr>
              <a:t>los tres bloques del sistema (B1–B8) ya existen como software funcional. Lo que falta no es construir, sino </a:t>
            </a:r>
            <a:pPr indent="0" marL="0">
              <a:lnSpc>
                <a:spcPts val="2000"/>
              </a:lnSpc>
              <a:buNone/>
            </a:pPr>
            <a:r>
              <a:rPr lang="en-US" sz="1350" b="1" dirty="0">
                <a:solidFill>
                  <a:srgbClr val="FFFFFF"/>
                </a:solidFill>
                <a:latin typeface="Calibri" pitchFamily="34" charset="0"/>
                <a:ea typeface="Calibri" pitchFamily="34" charset="-122"/>
                <a:cs typeface="Calibri" pitchFamily="34" charset="-120"/>
              </a:rPr>
              <a:t>cerrar el lazo con un usuario real puesto el EEG</a:t>
            </a:r>
            <a:pPr indent="0" marL="0">
              <a:lnSpc>
                <a:spcPts val="2000"/>
              </a:lnSpc>
              <a:buNone/>
            </a:pPr>
            <a:r>
              <a:rPr lang="en-US" sz="1350" dirty="0">
                <a:solidFill>
                  <a:srgbClr val="FFFFFF"/>
                </a:solidFill>
                <a:latin typeface="Calibri" pitchFamily="34" charset="0"/>
                <a:ea typeface="Calibri" pitchFamily="34" charset="-122"/>
                <a:cs typeface="Calibri" pitchFamily="34" charset="-120"/>
              </a:rPr>
              <a:t> y re-adquirir datos propios con tasa de muestreo válida.</a:t>
            </a:r>
            <a:endParaRPr lang="en-US" sz="1350" dirty="0"/>
          </a:p>
        </p:txBody>
      </p:sp>
      <p:sp>
        <p:nvSpPr>
          <p:cNvPr id="21" name="Text 19"/>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22" name="Text 20"/>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RECORDATORIO</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Arquitectura del sistema: estado por bloque</a:t>
            </a:r>
            <a:endParaRPr lang="en-US" sz="3000" dirty="0"/>
          </a:p>
        </p:txBody>
      </p:sp>
      <p:sp>
        <p:nvSpPr>
          <p:cNvPr id="4" name="Text 2"/>
          <p:cNvSpPr/>
          <p:nvPr/>
        </p:nvSpPr>
        <p:spPr>
          <a:xfrm>
            <a:off x="548640" y="1371600"/>
            <a:ext cx="11091672" cy="457200"/>
          </a:xfrm>
          <a:prstGeom prst="rect">
            <a:avLst/>
          </a:prstGeom>
          <a:noFill/>
          <a:ln/>
        </p:spPr>
        <p:txBody>
          <a:bodyPr wrap="square" lIns="0" tIns="0" rIns="0" bIns="0" rtlCol="0" anchor="ctr"/>
          <a:lstStyle/>
          <a:p>
            <a:pPr indent="0" marL="0">
              <a:buNone/>
            </a:pPr>
            <a:r>
              <a:rPr lang="en-US" sz="1350" i="1" dirty="0">
                <a:solidFill>
                  <a:srgbClr val="1B3A5C"/>
                </a:solidFill>
                <a:latin typeface="Calibri" pitchFamily="34" charset="0"/>
                <a:ea typeface="Calibri" pitchFamily="34" charset="-122"/>
                <a:cs typeface="Calibri" pitchFamily="34" charset="-120"/>
              </a:rPr>
              <a:t>¿Cómo diseñar una consola de entrenamiento que, mediante EEG e IA, detecte la carga cognitiva y modifique en tiempo real el entorno VR para optimizar el aprendizaje quirúrgico?</a:t>
            </a:r>
            <a:endParaRPr lang="en-US" sz="1350" dirty="0"/>
          </a:p>
        </p:txBody>
      </p:sp>
      <p:sp>
        <p:nvSpPr>
          <p:cNvPr id="5" name="Shape 3"/>
          <p:cNvSpPr/>
          <p:nvPr/>
        </p:nvSpPr>
        <p:spPr>
          <a:xfrm>
            <a:off x="548640" y="1965960"/>
            <a:ext cx="11091672" cy="502920"/>
          </a:xfrm>
          <a:prstGeom prst="roundRect">
            <a:avLst>
              <a:gd name="adj" fmla="val 10909"/>
            </a:avLst>
          </a:prstGeom>
          <a:solidFill>
            <a:srgbClr val="F1F5F8"/>
          </a:solidFill>
          <a:ln w="12700">
            <a:solidFill>
              <a:srgbClr val="D8E2EA"/>
            </a:solidFill>
            <a:prstDash val="solid"/>
          </a:ln>
        </p:spPr>
      </p:sp>
      <p:sp>
        <p:nvSpPr>
          <p:cNvPr id="6" name="Text 4"/>
          <p:cNvSpPr/>
          <p:nvPr/>
        </p:nvSpPr>
        <p:spPr>
          <a:xfrm>
            <a:off x="713232" y="1965960"/>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B1</a:t>
            </a:r>
            <a:endParaRPr lang="en-US" sz="1400" dirty="0"/>
          </a:p>
        </p:txBody>
      </p:sp>
      <p:sp>
        <p:nvSpPr>
          <p:cNvPr id="7" name="Text 5"/>
          <p:cNvSpPr/>
          <p:nvPr/>
        </p:nvSpPr>
        <p:spPr>
          <a:xfrm>
            <a:off x="1325880" y="1965960"/>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Adquisición EEG</a:t>
            </a:r>
            <a:endParaRPr lang="en-US" sz="1300" dirty="0"/>
          </a:p>
        </p:txBody>
      </p:sp>
      <p:sp>
        <p:nvSpPr>
          <p:cNvPr id="8" name="Text 6"/>
          <p:cNvSpPr/>
          <p:nvPr/>
        </p:nvSpPr>
        <p:spPr>
          <a:xfrm>
            <a:off x="4114800" y="1965960"/>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AURA 8 canales · LSL</a:t>
            </a:r>
            <a:endParaRPr lang="en-US" sz="1250" dirty="0"/>
          </a:p>
        </p:txBody>
      </p:sp>
      <p:sp>
        <p:nvSpPr>
          <p:cNvPr id="9" name="Shape 7"/>
          <p:cNvSpPr/>
          <p:nvPr/>
        </p:nvSpPr>
        <p:spPr>
          <a:xfrm>
            <a:off x="10104120" y="2066544"/>
            <a:ext cx="1371600" cy="301752"/>
          </a:xfrm>
          <a:prstGeom prst="roundRect">
            <a:avLst>
              <a:gd name="adj" fmla="val 48485"/>
            </a:avLst>
          </a:prstGeom>
          <a:solidFill>
            <a:srgbClr val="E4F3EC"/>
          </a:solidFill>
          <a:ln w="12700">
            <a:solidFill>
              <a:srgbClr val="333333"/>
            </a:solidFill>
            <a:prstDash val="solid"/>
          </a:ln>
        </p:spPr>
      </p:sp>
      <p:sp>
        <p:nvSpPr>
          <p:cNvPr id="10" name="Text 8"/>
          <p:cNvSpPr/>
          <p:nvPr/>
        </p:nvSpPr>
        <p:spPr>
          <a:xfrm>
            <a:off x="10104120" y="2066544"/>
            <a:ext cx="1371600" cy="301752"/>
          </a:xfrm>
          <a:prstGeom prst="rect">
            <a:avLst/>
          </a:prstGeom>
          <a:noFill/>
          <a:ln/>
        </p:spPr>
        <p:txBody>
          <a:bodyPr wrap="square" lIns="0" tIns="0" rIns="0" bIns="0" rtlCol="0" anchor="ctr"/>
          <a:lstStyle/>
          <a:p>
            <a:pPr algn="ctr" indent="0" marL="0">
              <a:buNone/>
            </a:pPr>
            <a:r>
              <a:rPr lang="en-US" sz="1050" b="1" dirty="0">
                <a:solidFill>
                  <a:srgbClr val="2E9E6B"/>
                </a:solidFill>
                <a:latin typeface="Calibri" pitchFamily="34" charset="0"/>
                <a:ea typeface="Calibri" pitchFamily="34" charset="-122"/>
                <a:cs typeface="Calibri" pitchFamily="34" charset="-120"/>
              </a:rPr>
              <a:t>Operativo</a:t>
            </a:r>
            <a:endParaRPr lang="en-US" sz="1050" dirty="0"/>
          </a:p>
        </p:txBody>
      </p:sp>
      <p:sp>
        <p:nvSpPr>
          <p:cNvPr id="11" name="Shape 9"/>
          <p:cNvSpPr/>
          <p:nvPr/>
        </p:nvSpPr>
        <p:spPr>
          <a:xfrm>
            <a:off x="548640" y="2519172"/>
            <a:ext cx="11091672" cy="502920"/>
          </a:xfrm>
          <a:prstGeom prst="roundRect">
            <a:avLst>
              <a:gd name="adj" fmla="val 10909"/>
            </a:avLst>
          </a:prstGeom>
          <a:solidFill>
            <a:srgbClr val="F7FAFC"/>
          </a:solidFill>
          <a:ln w="12700">
            <a:solidFill>
              <a:srgbClr val="D8E2EA"/>
            </a:solidFill>
            <a:prstDash val="solid"/>
          </a:ln>
        </p:spPr>
      </p:sp>
      <p:sp>
        <p:nvSpPr>
          <p:cNvPr id="12" name="Text 10"/>
          <p:cNvSpPr/>
          <p:nvPr/>
        </p:nvSpPr>
        <p:spPr>
          <a:xfrm>
            <a:off x="713232" y="2519172"/>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B2</a:t>
            </a:r>
            <a:endParaRPr lang="en-US" sz="1400" dirty="0"/>
          </a:p>
        </p:txBody>
      </p:sp>
      <p:sp>
        <p:nvSpPr>
          <p:cNvPr id="13" name="Text 11"/>
          <p:cNvSpPr/>
          <p:nvPr/>
        </p:nvSpPr>
        <p:spPr>
          <a:xfrm>
            <a:off x="1325880" y="2519172"/>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Procesamiento y features</a:t>
            </a:r>
            <a:endParaRPr lang="en-US" sz="1300" dirty="0"/>
          </a:p>
        </p:txBody>
      </p:sp>
      <p:sp>
        <p:nvSpPr>
          <p:cNvPr id="14" name="Text 12"/>
          <p:cNvSpPr/>
          <p:nvPr/>
        </p:nvSpPr>
        <p:spPr>
          <a:xfrm>
            <a:off x="4114800" y="2519172"/>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Ventanas 4 s / stride 2 s · 1–40 Hz · 218 features</a:t>
            </a:r>
            <a:endParaRPr lang="en-US" sz="1250" dirty="0"/>
          </a:p>
        </p:txBody>
      </p:sp>
      <p:sp>
        <p:nvSpPr>
          <p:cNvPr id="15" name="Shape 13"/>
          <p:cNvSpPr/>
          <p:nvPr/>
        </p:nvSpPr>
        <p:spPr>
          <a:xfrm>
            <a:off x="10104120" y="2619756"/>
            <a:ext cx="1371600" cy="301752"/>
          </a:xfrm>
          <a:prstGeom prst="roundRect">
            <a:avLst>
              <a:gd name="adj" fmla="val 48485"/>
            </a:avLst>
          </a:prstGeom>
          <a:solidFill>
            <a:srgbClr val="E4F3EC"/>
          </a:solidFill>
          <a:ln w="12700">
            <a:solidFill>
              <a:srgbClr val="333333"/>
            </a:solidFill>
            <a:prstDash val="solid"/>
          </a:ln>
        </p:spPr>
      </p:sp>
      <p:sp>
        <p:nvSpPr>
          <p:cNvPr id="16" name="Text 14"/>
          <p:cNvSpPr/>
          <p:nvPr/>
        </p:nvSpPr>
        <p:spPr>
          <a:xfrm>
            <a:off x="10104120" y="2619756"/>
            <a:ext cx="1371600" cy="301752"/>
          </a:xfrm>
          <a:prstGeom prst="rect">
            <a:avLst/>
          </a:prstGeom>
          <a:noFill/>
          <a:ln/>
        </p:spPr>
        <p:txBody>
          <a:bodyPr wrap="square" lIns="0" tIns="0" rIns="0" bIns="0" rtlCol="0" anchor="ctr"/>
          <a:lstStyle/>
          <a:p>
            <a:pPr algn="ctr" indent="0" marL="0">
              <a:buNone/>
            </a:pPr>
            <a:r>
              <a:rPr lang="en-US" sz="1050" b="1" dirty="0">
                <a:solidFill>
                  <a:srgbClr val="2E9E6B"/>
                </a:solidFill>
                <a:latin typeface="Calibri" pitchFamily="34" charset="0"/>
                <a:ea typeface="Calibri" pitchFamily="34" charset="-122"/>
                <a:cs typeface="Calibri" pitchFamily="34" charset="-120"/>
              </a:rPr>
              <a:t>Operativo</a:t>
            </a:r>
            <a:endParaRPr lang="en-US" sz="1050" dirty="0"/>
          </a:p>
        </p:txBody>
      </p:sp>
      <p:sp>
        <p:nvSpPr>
          <p:cNvPr id="17" name="Shape 15"/>
          <p:cNvSpPr/>
          <p:nvPr/>
        </p:nvSpPr>
        <p:spPr>
          <a:xfrm>
            <a:off x="548640" y="3072384"/>
            <a:ext cx="11091672" cy="502920"/>
          </a:xfrm>
          <a:prstGeom prst="roundRect">
            <a:avLst>
              <a:gd name="adj" fmla="val 10909"/>
            </a:avLst>
          </a:prstGeom>
          <a:solidFill>
            <a:srgbClr val="F1F5F8"/>
          </a:solidFill>
          <a:ln w="12700">
            <a:solidFill>
              <a:srgbClr val="D8E2EA"/>
            </a:solidFill>
            <a:prstDash val="solid"/>
          </a:ln>
        </p:spPr>
      </p:sp>
      <p:sp>
        <p:nvSpPr>
          <p:cNvPr id="18" name="Text 16"/>
          <p:cNvSpPr/>
          <p:nvPr/>
        </p:nvSpPr>
        <p:spPr>
          <a:xfrm>
            <a:off x="713232" y="3072384"/>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B3</a:t>
            </a:r>
            <a:endParaRPr lang="en-US" sz="1400" dirty="0"/>
          </a:p>
        </p:txBody>
      </p:sp>
      <p:sp>
        <p:nvSpPr>
          <p:cNvPr id="19" name="Text 17"/>
          <p:cNvSpPr/>
          <p:nvPr/>
        </p:nvSpPr>
        <p:spPr>
          <a:xfrm>
            <a:off x="1325880" y="3072384"/>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Estado cognitivo (IA)</a:t>
            </a:r>
            <a:endParaRPr lang="en-US" sz="1300" dirty="0"/>
          </a:p>
        </p:txBody>
      </p:sp>
      <p:sp>
        <p:nvSpPr>
          <p:cNvPr id="20" name="Text 18"/>
          <p:cNvSpPr/>
          <p:nvPr/>
        </p:nvSpPr>
        <p:spPr>
          <a:xfrm>
            <a:off x="4114800" y="3072384"/>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LOSO + calibración · ordinal + jerárquico 3 zonas</a:t>
            </a:r>
            <a:endParaRPr lang="en-US" sz="1250" dirty="0"/>
          </a:p>
        </p:txBody>
      </p:sp>
      <p:sp>
        <p:nvSpPr>
          <p:cNvPr id="21" name="Shape 19"/>
          <p:cNvSpPr/>
          <p:nvPr/>
        </p:nvSpPr>
        <p:spPr>
          <a:xfrm>
            <a:off x="10104120" y="3172968"/>
            <a:ext cx="1371600" cy="301752"/>
          </a:xfrm>
          <a:prstGeom prst="roundRect">
            <a:avLst>
              <a:gd name="adj" fmla="val 48485"/>
            </a:avLst>
          </a:prstGeom>
          <a:solidFill>
            <a:srgbClr val="E4F3EC"/>
          </a:solidFill>
          <a:ln w="12700">
            <a:solidFill>
              <a:srgbClr val="333333"/>
            </a:solidFill>
            <a:prstDash val="solid"/>
          </a:ln>
        </p:spPr>
      </p:sp>
      <p:sp>
        <p:nvSpPr>
          <p:cNvPr id="22" name="Text 20"/>
          <p:cNvSpPr/>
          <p:nvPr/>
        </p:nvSpPr>
        <p:spPr>
          <a:xfrm>
            <a:off x="10104120" y="3172968"/>
            <a:ext cx="1371600" cy="301752"/>
          </a:xfrm>
          <a:prstGeom prst="rect">
            <a:avLst/>
          </a:prstGeom>
          <a:noFill/>
          <a:ln/>
        </p:spPr>
        <p:txBody>
          <a:bodyPr wrap="square" lIns="0" tIns="0" rIns="0" bIns="0" rtlCol="0" anchor="ctr"/>
          <a:lstStyle/>
          <a:p>
            <a:pPr algn="ctr" indent="0" marL="0">
              <a:buNone/>
            </a:pPr>
            <a:r>
              <a:rPr lang="en-US" sz="1050" b="1" dirty="0">
                <a:solidFill>
                  <a:srgbClr val="2E9E6B"/>
                </a:solidFill>
                <a:latin typeface="Calibri" pitchFamily="34" charset="0"/>
                <a:ea typeface="Calibri" pitchFamily="34" charset="-122"/>
                <a:cs typeface="Calibri" pitchFamily="34" charset="-120"/>
              </a:rPr>
              <a:t>Validado</a:t>
            </a:r>
            <a:endParaRPr lang="en-US" sz="1050" dirty="0"/>
          </a:p>
        </p:txBody>
      </p:sp>
      <p:sp>
        <p:nvSpPr>
          <p:cNvPr id="23" name="Shape 21"/>
          <p:cNvSpPr/>
          <p:nvPr/>
        </p:nvSpPr>
        <p:spPr>
          <a:xfrm>
            <a:off x="548640" y="3625596"/>
            <a:ext cx="11091672" cy="502920"/>
          </a:xfrm>
          <a:prstGeom prst="roundRect">
            <a:avLst>
              <a:gd name="adj" fmla="val 10909"/>
            </a:avLst>
          </a:prstGeom>
          <a:solidFill>
            <a:srgbClr val="F7FAFC"/>
          </a:solidFill>
          <a:ln w="12700">
            <a:solidFill>
              <a:srgbClr val="D8E2EA"/>
            </a:solidFill>
            <a:prstDash val="solid"/>
          </a:ln>
        </p:spPr>
      </p:sp>
      <p:sp>
        <p:nvSpPr>
          <p:cNvPr id="24" name="Text 22"/>
          <p:cNvSpPr/>
          <p:nvPr/>
        </p:nvSpPr>
        <p:spPr>
          <a:xfrm>
            <a:off x="713232" y="3625596"/>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B4</a:t>
            </a:r>
            <a:endParaRPr lang="en-US" sz="1400" dirty="0"/>
          </a:p>
        </p:txBody>
      </p:sp>
      <p:sp>
        <p:nvSpPr>
          <p:cNvPr id="25" name="Text 23"/>
          <p:cNvSpPr/>
          <p:nvPr/>
        </p:nvSpPr>
        <p:spPr>
          <a:xfrm>
            <a:off x="1325880" y="3625596"/>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Entorno VR adaptativo</a:t>
            </a:r>
            <a:endParaRPr lang="en-US" sz="1300" dirty="0"/>
          </a:p>
        </p:txBody>
      </p:sp>
      <p:sp>
        <p:nvSpPr>
          <p:cNvPr id="26" name="Text 24"/>
          <p:cNvSpPr/>
          <p:nvPr/>
        </p:nvSpPr>
        <p:spPr>
          <a:xfrm>
            <a:off x="4114800" y="3625596"/>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Unity 6 · Quest 3 · 5 ejercicios de sutura</a:t>
            </a:r>
            <a:endParaRPr lang="en-US" sz="1250" dirty="0"/>
          </a:p>
        </p:txBody>
      </p:sp>
      <p:sp>
        <p:nvSpPr>
          <p:cNvPr id="27" name="Shape 25"/>
          <p:cNvSpPr/>
          <p:nvPr/>
        </p:nvSpPr>
        <p:spPr>
          <a:xfrm>
            <a:off x="10104120" y="3726180"/>
            <a:ext cx="1371600" cy="301752"/>
          </a:xfrm>
          <a:prstGeom prst="roundRect">
            <a:avLst>
              <a:gd name="adj" fmla="val 48485"/>
            </a:avLst>
          </a:prstGeom>
          <a:solidFill>
            <a:srgbClr val="E4F3EC"/>
          </a:solidFill>
          <a:ln w="12700">
            <a:solidFill>
              <a:srgbClr val="333333"/>
            </a:solidFill>
            <a:prstDash val="solid"/>
          </a:ln>
        </p:spPr>
      </p:sp>
      <p:sp>
        <p:nvSpPr>
          <p:cNvPr id="28" name="Text 26"/>
          <p:cNvSpPr/>
          <p:nvPr/>
        </p:nvSpPr>
        <p:spPr>
          <a:xfrm>
            <a:off x="10104120" y="3726180"/>
            <a:ext cx="1371600" cy="301752"/>
          </a:xfrm>
          <a:prstGeom prst="rect">
            <a:avLst/>
          </a:prstGeom>
          <a:noFill/>
          <a:ln/>
        </p:spPr>
        <p:txBody>
          <a:bodyPr wrap="square" lIns="0" tIns="0" rIns="0" bIns="0" rtlCol="0" anchor="ctr"/>
          <a:lstStyle/>
          <a:p>
            <a:pPr algn="ctr" indent="0" marL="0">
              <a:buNone/>
            </a:pPr>
            <a:r>
              <a:rPr lang="en-US" sz="1050" b="1" dirty="0">
                <a:solidFill>
                  <a:srgbClr val="2E9E6B"/>
                </a:solidFill>
                <a:latin typeface="Calibri" pitchFamily="34" charset="0"/>
                <a:ea typeface="Calibri" pitchFamily="34" charset="-122"/>
                <a:cs typeface="Calibri" pitchFamily="34" charset="-120"/>
              </a:rPr>
              <a:t>Construido</a:t>
            </a:r>
            <a:endParaRPr lang="en-US" sz="1050" dirty="0"/>
          </a:p>
        </p:txBody>
      </p:sp>
      <p:sp>
        <p:nvSpPr>
          <p:cNvPr id="29" name="Shape 27"/>
          <p:cNvSpPr/>
          <p:nvPr/>
        </p:nvSpPr>
        <p:spPr>
          <a:xfrm>
            <a:off x="548640" y="4178808"/>
            <a:ext cx="11091672" cy="502920"/>
          </a:xfrm>
          <a:prstGeom prst="roundRect">
            <a:avLst>
              <a:gd name="adj" fmla="val 10909"/>
            </a:avLst>
          </a:prstGeom>
          <a:solidFill>
            <a:srgbClr val="F1F5F8"/>
          </a:solidFill>
          <a:ln w="12700">
            <a:solidFill>
              <a:srgbClr val="D8E2EA"/>
            </a:solidFill>
            <a:prstDash val="solid"/>
          </a:ln>
        </p:spPr>
      </p:sp>
      <p:sp>
        <p:nvSpPr>
          <p:cNvPr id="30" name="Text 28"/>
          <p:cNvSpPr/>
          <p:nvPr/>
        </p:nvSpPr>
        <p:spPr>
          <a:xfrm>
            <a:off x="713232" y="4178808"/>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B5</a:t>
            </a:r>
            <a:endParaRPr lang="en-US" sz="1400" dirty="0"/>
          </a:p>
        </p:txBody>
      </p:sp>
      <p:sp>
        <p:nvSpPr>
          <p:cNvPr id="31" name="Text 29"/>
          <p:cNvSpPr/>
          <p:nvPr/>
        </p:nvSpPr>
        <p:spPr>
          <a:xfrm>
            <a:off x="1325880" y="4178808"/>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Feedback multisensorial</a:t>
            </a:r>
            <a:endParaRPr lang="en-US" sz="1300" dirty="0"/>
          </a:p>
        </p:txBody>
      </p:sp>
      <p:sp>
        <p:nvSpPr>
          <p:cNvPr id="32" name="Text 30"/>
          <p:cNvSpPr/>
          <p:nvPr/>
        </p:nvSpPr>
        <p:spPr>
          <a:xfrm>
            <a:off x="4114800" y="4178808"/>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Visual / auditivo / vibrotáctil</a:t>
            </a:r>
            <a:endParaRPr lang="en-US" sz="1250" dirty="0"/>
          </a:p>
        </p:txBody>
      </p:sp>
      <p:sp>
        <p:nvSpPr>
          <p:cNvPr id="33" name="Shape 31"/>
          <p:cNvSpPr/>
          <p:nvPr/>
        </p:nvSpPr>
        <p:spPr>
          <a:xfrm>
            <a:off x="10104120" y="4279392"/>
            <a:ext cx="1371600" cy="301752"/>
          </a:xfrm>
          <a:prstGeom prst="roundRect">
            <a:avLst>
              <a:gd name="adj" fmla="val 48485"/>
            </a:avLst>
          </a:prstGeom>
          <a:solidFill>
            <a:srgbClr val="E4F3EC"/>
          </a:solidFill>
          <a:ln w="12700">
            <a:solidFill>
              <a:srgbClr val="333333"/>
            </a:solidFill>
            <a:prstDash val="solid"/>
          </a:ln>
        </p:spPr>
      </p:sp>
      <p:sp>
        <p:nvSpPr>
          <p:cNvPr id="34" name="Text 32"/>
          <p:cNvSpPr/>
          <p:nvPr/>
        </p:nvSpPr>
        <p:spPr>
          <a:xfrm>
            <a:off x="10104120" y="4279392"/>
            <a:ext cx="1371600" cy="301752"/>
          </a:xfrm>
          <a:prstGeom prst="rect">
            <a:avLst/>
          </a:prstGeom>
          <a:noFill/>
          <a:ln/>
        </p:spPr>
        <p:txBody>
          <a:bodyPr wrap="square" lIns="0" tIns="0" rIns="0" bIns="0" rtlCol="0" anchor="ctr"/>
          <a:lstStyle/>
          <a:p>
            <a:pPr algn="ctr" indent="0" marL="0">
              <a:buNone/>
            </a:pPr>
            <a:r>
              <a:rPr lang="en-US" sz="1050" b="1" dirty="0">
                <a:solidFill>
                  <a:srgbClr val="2E9E6B"/>
                </a:solidFill>
                <a:latin typeface="Calibri" pitchFamily="34" charset="0"/>
                <a:ea typeface="Calibri" pitchFamily="34" charset="-122"/>
                <a:cs typeface="Calibri" pitchFamily="34" charset="-120"/>
              </a:rPr>
              <a:t>Construido</a:t>
            </a:r>
            <a:endParaRPr lang="en-US" sz="1050" dirty="0"/>
          </a:p>
        </p:txBody>
      </p:sp>
      <p:sp>
        <p:nvSpPr>
          <p:cNvPr id="35" name="Shape 33"/>
          <p:cNvSpPr/>
          <p:nvPr/>
        </p:nvSpPr>
        <p:spPr>
          <a:xfrm>
            <a:off x="548640" y="4732020"/>
            <a:ext cx="11091672" cy="502920"/>
          </a:xfrm>
          <a:prstGeom prst="roundRect">
            <a:avLst>
              <a:gd name="adj" fmla="val 10909"/>
            </a:avLst>
          </a:prstGeom>
          <a:solidFill>
            <a:srgbClr val="F7FAFC"/>
          </a:solidFill>
          <a:ln w="12700">
            <a:solidFill>
              <a:srgbClr val="D8E2EA"/>
            </a:solidFill>
            <a:prstDash val="solid"/>
          </a:ln>
        </p:spPr>
      </p:sp>
      <p:sp>
        <p:nvSpPr>
          <p:cNvPr id="36" name="Text 34"/>
          <p:cNvSpPr/>
          <p:nvPr/>
        </p:nvSpPr>
        <p:spPr>
          <a:xfrm>
            <a:off x="713232" y="4732020"/>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B6</a:t>
            </a:r>
            <a:endParaRPr lang="en-US" sz="1400" dirty="0"/>
          </a:p>
        </p:txBody>
      </p:sp>
      <p:sp>
        <p:nvSpPr>
          <p:cNvPr id="37" name="Text 35"/>
          <p:cNvSpPr/>
          <p:nvPr/>
        </p:nvSpPr>
        <p:spPr>
          <a:xfrm>
            <a:off x="1325880" y="4732020"/>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Consola háptica</a:t>
            </a:r>
            <a:endParaRPr lang="en-US" sz="1300" dirty="0"/>
          </a:p>
        </p:txBody>
      </p:sp>
      <p:sp>
        <p:nvSpPr>
          <p:cNvPr id="38" name="Text 36"/>
          <p:cNvSpPr/>
          <p:nvPr/>
        </p:nvSpPr>
        <p:spPr>
          <a:xfrm>
            <a:off x="4114800" y="4732020"/>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3D Systems Touch · OpenHaptics · 3.3 N</a:t>
            </a:r>
            <a:endParaRPr lang="en-US" sz="1250" dirty="0"/>
          </a:p>
        </p:txBody>
      </p:sp>
      <p:sp>
        <p:nvSpPr>
          <p:cNvPr id="39" name="Shape 37"/>
          <p:cNvSpPr/>
          <p:nvPr/>
        </p:nvSpPr>
        <p:spPr>
          <a:xfrm>
            <a:off x="10104120" y="4832604"/>
            <a:ext cx="1371600" cy="301752"/>
          </a:xfrm>
          <a:prstGeom prst="roundRect">
            <a:avLst>
              <a:gd name="adj" fmla="val 48485"/>
            </a:avLst>
          </a:prstGeom>
          <a:solidFill>
            <a:srgbClr val="E4F3EC"/>
          </a:solidFill>
          <a:ln w="12700">
            <a:solidFill>
              <a:srgbClr val="333333"/>
            </a:solidFill>
            <a:prstDash val="solid"/>
          </a:ln>
        </p:spPr>
      </p:sp>
      <p:sp>
        <p:nvSpPr>
          <p:cNvPr id="40" name="Text 38"/>
          <p:cNvSpPr/>
          <p:nvPr/>
        </p:nvSpPr>
        <p:spPr>
          <a:xfrm>
            <a:off x="10104120" y="4832604"/>
            <a:ext cx="1371600" cy="301752"/>
          </a:xfrm>
          <a:prstGeom prst="rect">
            <a:avLst/>
          </a:prstGeom>
          <a:noFill/>
          <a:ln/>
        </p:spPr>
        <p:txBody>
          <a:bodyPr wrap="square" lIns="0" tIns="0" rIns="0" bIns="0" rtlCol="0" anchor="ctr"/>
          <a:lstStyle/>
          <a:p>
            <a:pPr algn="ctr" indent="0" marL="0">
              <a:buNone/>
            </a:pPr>
            <a:r>
              <a:rPr lang="en-US" sz="1050" b="1" dirty="0">
                <a:solidFill>
                  <a:srgbClr val="2E9E6B"/>
                </a:solidFill>
                <a:latin typeface="Calibri" pitchFamily="34" charset="0"/>
                <a:ea typeface="Calibri" pitchFamily="34" charset="-122"/>
                <a:cs typeface="Calibri" pitchFamily="34" charset="-120"/>
              </a:rPr>
              <a:t>Integrado</a:t>
            </a:r>
            <a:endParaRPr lang="en-US" sz="1050" dirty="0"/>
          </a:p>
        </p:txBody>
      </p:sp>
      <p:sp>
        <p:nvSpPr>
          <p:cNvPr id="41" name="Shape 39"/>
          <p:cNvSpPr/>
          <p:nvPr/>
        </p:nvSpPr>
        <p:spPr>
          <a:xfrm>
            <a:off x="548640" y="5285232"/>
            <a:ext cx="11091672" cy="502920"/>
          </a:xfrm>
          <a:prstGeom prst="roundRect">
            <a:avLst>
              <a:gd name="adj" fmla="val 10909"/>
            </a:avLst>
          </a:prstGeom>
          <a:solidFill>
            <a:srgbClr val="F1F5F8"/>
          </a:solidFill>
          <a:ln w="12700">
            <a:solidFill>
              <a:srgbClr val="D8E2EA"/>
            </a:solidFill>
            <a:prstDash val="solid"/>
          </a:ln>
        </p:spPr>
      </p:sp>
      <p:sp>
        <p:nvSpPr>
          <p:cNvPr id="42" name="Text 40"/>
          <p:cNvSpPr/>
          <p:nvPr/>
        </p:nvSpPr>
        <p:spPr>
          <a:xfrm>
            <a:off x="713232" y="5285232"/>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B7</a:t>
            </a:r>
            <a:endParaRPr lang="en-US" sz="1400" dirty="0"/>
          </a:p>
        </p:txBody>
      </p:sp>
      <p:sp>
        <p:nvSpPr>
          <p:cNvPr id="43" name="Text 41"/>
          <p:cNvSpPr/>
          <p:nvPr/>
        </p:nvSpPr>
        <p:spPr>
          <a:xfrm>
            <a:off x="1325880" y="5285232"/>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Usuario</a:t>
            </a:r>
            <a:endParaRPr lang="en-US" sz="1300" dirty="0"/>
          </a:p>
        </p:txBody>
      </p:sp>
      <p:sp>
        <p:nvSpPr>
          <p:cNvPr id="44" name="Text 42"/>
          <p:cNvSpPr/>
          <p:nvPr/>
        </p:nvSpPr>
        <p:spPr>
          <a:xfrm>
            <a:off x="4114800" y="5285232"/>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Experimento con residentes/estudiantes</a:t>
            </a:r>
            <a:endParaRPr lang="en-US" sz="1250" dirty="0"/>
          </a:p>
        </p:txBody>
      </p:sp>
      <p:sp>
        <p:nvSpPr>
          <p:cNvPr id="45" name="Shape 43"/>
          <p:cNvSpPr/>
          <p:nvPr/>
        </p:nvSpPr>
        <p:spPr>
          <a:xfrm>
            <a:off x="10104120" y="5385816"/>
            <a:ext cx="1371600" cy="301752"/>
          </a:xfrm>
          <a:prstGeom prst="roundRect">
            <a:avLst>
              <a:gd name="adj" fmla="val 48485"/>
            </a:avLst>
          </a:prstGeom>
          <a:solidFill>
            <a:srgbClr val="FBEEDC"/>
          </a:solidFill>
          <a:ln w="12700">
            <a:solidFill>
              <a:srgbClr val="333333"/>
            </a:solidFill>
            <a:prstDash val="solid"/>
          </a:ln>
        </p:spPr>
      </p:sp>
      <p:sp>
        <p:nvSpPr>
          <p:cNvPr id="46" name="Text 44"/>
          <p:cNvSpPr/>
          <p:nvPr/>
        </p:nvSpPr>
        <p:spPr>
          <a:xfrm>
            <a:off x="10104120" y="5385816"/>
            <a:ext cx="1371600" cy="301752"/>
          </a:xfrm>
          <a:prstGeom prst="rect">
            <a:avLst/>
          </a:prstGeom>
          <a:noFill/>
          <a:ln/>
        </p:spPr>
        <p:txBody>
          <a:bodyPr wrap="square" lIns="0" tIns="0" rIns="0" bIns="0" rtlCol="0" anchor="ctr"/>
          <a:lstStyle/>
          <a:p>
            <a:pPr algn="ctr" indent="0" marL="0">
              <a:buNone/>
            </a:pPr>
            <a:r>
              <a:rPr lang="en-US" sz="1050" b="1" dirty="0">
                <a:solidFill>
                  <a:srgbClr val="C97B21"/>
                </a:solidFill>
                <a:latin typeface="Calibri" pitchFamily="34" charset="0"/>
                <a:ea typeface="Calibri" pitchFamily="34" charset="-122"/>
                <a:cs typeface="Calibri" pitchFamily="34" charset="-120"/>
              </a:rPr>
              <a:t>Pendiente</a:t>
            </a:r>
            <a:endParaRPr lang="en-US" sz="1050" dirty="0"/>
          </a:p>
        </p:txBody>
      </p:sp>
      <p:sp>
        <p:nvSpPr>
          <p:cNvPr id="47" name="Shape 45"/>
          <p:cNvSpPr/>
          <p:nvPr/>
        </p:nvSpPr>
        <p:spPr>
          <a:xfrm>
            <a:off x="548640" y="5838444"/>
            <a:ext cx="11091672" cy="502920"/>
          </a:xfrm>
          <a:prstGeom prst="roundRect">
            <a:avLst>
              <a:gd name="adj" fmla="val 10909"/>
            </a:avLst>
          </a:prstGeom>
          <a:solidFill>
            <a:srgbClr val="F7FAFC"/>
          </a:solidFill>
          <a:ln w="12700">
            <a:solidFill>
              <a:srgbClr val="D8E2EA"/>
            </a:solidFill>
            <a:prstDash val="solid"/>
          </a:ln>
        </p:spPr>
      </p:sp>
      <p:sp>
        <p:nvSpPr>
          <p:cNvPr id="48" name="Text 46"/>
          <p:cNvSpPr/>
          <p:nvPr/>
        </p:nvSpPr>
        <p:spPr>
          <a:xfrm>
            <a:off x="713232" y="5838444"/>
            <a:ext cx="566928" cy="502920"/>
          </a:xfrm>
          <a:prstGeom prst="rect">
            <a:avLst/>
          </a:prstGeom>
          <a:noFill/>
          <a:ln/>
        </p:spPr>
        <p:txBody>
          <a:bodyPr wrap="square" lIns="0" tIns="0" rIns="0" bIns="0" rtlCol="0" anchor="ctr"/>
          <a:lstStyle/>
          <a:p>
            <a:pPr indent="0" marL="0">
              <a:buNone/>
            </a:pPr>
            <a:r>
              <a:rPr lang="en-US" sz="1400" b="1" dirty="0">
                <a:solidFill>
                  <a:srgbClr val="1391B5"/>
                </a:solidFill>
                <a:latin typeface="Cambria" pitchFamily="34" charset="0"/>
                <a:ea typeface="Cambria" pitchFamily="34" charset="-122"/>
                <a:cs typeface="Cambria" pitchFamily="34" charset="-120"/>
              </a:rPr>
              <a:t>B8</a:t>
            </a:r>
            <a:endParaRPr lang="en-US" sz="1400" dirty="0"/>
          </a:p>
        </p:txBody>
      </p:sp>
      <p:sp>
        <p:nvSpPr>
          <p:cNvPr id="49" name="Text 47"/>
          <p:cNvSpPr/>
          <p:nvPr/>
        </p:nvSpPr>
        <p:spPr>
          <a:xfrm>
            <a:off x="1325880" y="5838444"/>
            <a:ext cx="2697480" cy="50292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Registro y métricas</a:t>
            </a:r>
            <a:endParaRPr lang="en-US" sz="1300" dirty="0"/>
          </a:p>
        </p:txBody>
      </p:sp>
      <p:sp>
        <p:nvSpPr>
          <p:cNvPr id="50" name="Text 48"/>
          <p:cNvSpPr/>
          <p:nvPr/>
        </p:nvSpPr>
        <p:spPr>
          <a:xfrm>
            <a:off x="4114800" y="5838444"/>
            <a:ext cx="5852160" cy="50292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Telemetría 20 Hz + traza del controlador</a:t>
            </a:r>
            <a:endParaRPr lang="en-US" sz="1250" dirty="0"/>
          </a:p>
        </p:txBody>
      </p:sp>
      <p:sp>
        <p:nvSpPr>
          <p:cNvPr id="51" name="Shape 49"/>
          <p:cNvSpPr/>
          <p:nvPr/>
        </p:nvSpPr>
        <p:spPr>
          <a:xfrm>
            <a:off x="10104120" y="5939028"/>
            <a:ext cx="1371600" cy="301752"/>
          </a:xfrm>
          <a:prstGeom prst="roundRect">
            <a:avLst>
              <a:gd name="adj" fmla="val 48485"/>
            </a:avLst>
          </a:prstGeom>
          <a:solidFill>
            <a:srgbClr val="E4F3EC"/>
          </a:solidFill>
          <a:ln w="12700">
            <a:solidFill>
              <a:srgbClr val="333333"/>
            </a:solidFill>
            <a:prstDash val="solid"/>
          </a:ln>
        </p:spPr>
      </p:sp>
      <p:sp>
        <p:nvSpPr>
          <p:cNvPr id="52" name="Text 50"/>
          <p:cNvSpPr/>
          <p:nvPr/>
        </p:nvSpPr>
        <p:spPr>
          <a:xfrm>
            <a:off x="10104120" y="5939028"/>
            <a:ext cx="1371600" cy="301752"/>
          </a:xfrm>
          <a:prstGeom prst="rect">
            <a:avLst/>
          </a:prstGeom>
          <a:noFill/>
          <a:ln/>
        </p:spPr>
        <p:txBody>
          <a:bodyPr wrap="square" lIns="0" tIns="0" rIns="0" bIns="0" rtlCol="0" anchor="ctr"/>
          <a:lstStyle/>
          <a:p>
            <a:pPr algn="ctr" indent="0" marL="0">
              <a:buNone/>
            </a:pPr>
            <a:r>
              <a:rPr lang="en-US" sz="1050" b="1" dirty="0">
                <a:solidFill>
                  <a:srgbClr val="2E9E6B"/>
                </a:solidFill>
                <a:latin typeface="Calibri" pitchFamily="34" charset="0"/>
                <a:ea typeface="Calibri" pitchFamily="34" charset="-122"/>
                <a:cs typeface="Calibri" pitchFamily="34" charset="-120"/>
              </a:rPr>
              <a:t>Operativo</a:t>
            </a:r>
            <a:endParaRPr lang="en-US" sz="1050" dirty="0"/>
          </a:p>
        </p:txBody>
      </p:sp>
      <p:sp>
        <p:nvSpPr>
          <p:cNvPr id="53" name="Text 51"/>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54" name="Text 52"/>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AVANCE 1 · IA COGNITIVA</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Módulo B3: un estimador que sobreviva al despliegue</a:t>
            </a:r>
            <a:endParaRPr lang="en-US" sz="3000" dirty="0"/>
          </a:p>
        </p:txBody>
      </p:sp>
      <p:sp>
        <p:nvSpPr>
          <p:cNvPr id="4" name="Shape 2"/>
          <p:cNvSpPr/>
          <p:nvPr/>
        </p:nvSpPr>
        <p:spPr>
          <a:xfrm>
            <a:off x="548640" y="1417320"/>
            <a:ext cx="5440680" cy="2148840"/>
          </a:xfrm>
          <a:prstGeom prst="roundRect">
            <a:avLst>
              <a:gd name="adj" fmla="val 2553"/>
            </a:avLst>
          </a:prstGeom>
          <a:solidFill>
            <a:srgbClr val="F1F5F8"/>
          </a:solidFill>
          <a:ln w="12700">
            <a:solidFill>
              <a:srgbClr val="D8E2EA"/>
            </a:solidFill>
            <a:prstDash val="solid"/>
          </a:ln>
        </p:spPr>
      </p:sp>
      <p:sp>
        <p:nvSpPr>
          <p:cNvPr id="5" name="Text 3"/>
          <p:cNvSpPr/>
          <p:nvPr/>
        </p:nvSpPr>
        <p:spPr>
          <a:xfrm>
            <a:off x="777240" y="1572768"/>
            <a:ext cx="5029200" cy="320040"/>
          </a:xfrm>
          <a:prstGeom prst="rect">
            <a:avLst/>
          </a:prstGeom>
          <a:noFill/>
          <a:ln/>
        </p:spPr>
        <p:txBody>
          <a:bodyPr wrap="square" lIns="0" tIns="0" rIns="0" bIns="0" rtlCol="0" anchor="ctr"/>
          <a:lstStyle/>
          <a:p>
            <a:pPr indent="0" marL="0">
              <a:buNone/>
            </a:pPr>
            <a:r>
              <a:rPr lang="en-US" sz="1450" b="1" dirty="0">
                <a:solidFill>
                  <a:srgbClr val="0E1D33"/>
                </a:solidFill>
                <a:latin typeface="Calibri" pitchFamily="34" charset="0"/>
                <a:ea typeface="Calibri" pitchFamily="34" charset="-122"/>
                <a:cs typeface="Calibri" pitchFamily="34" charset="-120"/>
              </a:rPr>
              <a:t>El problema con la literatura</a:t>
            </a:r>
            <a:endParaRPr lang="en-US" sz="1450" dirty="0"/>
          </a:p>
        </p:txBody>
      </p:sp>
      <p:sp>
        <p:nvSpPr>
          <p:cNvPr id="6" name="Text 4"/>
          <p:cNvSpPr/>
          <p:nvPr/>
        </p:nvSpPr>
        <p:spPr>
          <a:xfrm>
            <a:off x="777240" y="1965960"/>
            <a:ext cx="5029200" cy="14630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Se reportan 95–99 % de exactitud mezclando ventanas del mismo sujeto.</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No se separa el dato de calibración del de prueba.</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Casi nunca se dice cuántos electrodos hacen falta.</a:t>
            </a:r>
            <a:endParaRPr lang="en-US" sz="1250" dirty="0"/>
          </a:p>
        </p:txBody>
      </p:sp>
      <p:sp>
        <p:nvSpPr>
          <p:cNvPr id="7" name="Shape 5"/>
          <p:cNvSpPr/>
          <p:nvPr/>
        </p:nvSpPr>
        <p:spPr>
          <a:xfrm>
            <a:off x="6199632" y="1417320"/>
            <a:ext cx="5440680" cy="2148840"/>
          </a:xfrm>
          <a:prstGeom prst="roundRect">
            <a:avLst>
              <a:gd name="adj" fmla="val 2553"/>
            </a:avLst>
          </a:prstGeom>
          <a:solidFill>
            <a:srgbClr val="0E1D33"/>
          </a:solidFill>
          <a:ln w="12700">
            <a:solidFill>
              <a:srgbClr val="0E1D33"/>
            </a:solidFill>
            <a:prstDash val="solid"/>
          </a:ln>
        </p:spPr>
      </p:sp>
      <p:sp>
        <p:nvSpPr>
          <p:cNvPr id="8" name="Text 6"/>
          <p:cNvSpPr/>
          <p:nvPr/>
        </p:nvSpPr>
        <p:spPr>
          <a:xfrm>
            <a:off x="6428232" y="1572768"/>
            <a:ext cx="5029200" cy="320040"/>
          </a:xfrm>
          <a:prstGeom prst="rect">
            <a:avLst/>
          </a:prstGeom>
          <a:noFill/>
          <a:ln/>
        </p:spPr>
        <p:txBody>
          <a:bodyPr wrap="square" lIns="0" tIns="0" rIns="0" bIns="0" rtlCol="0" anchor="ctr"/>
          <a:lstStyle/>
          <a:p>
            <a:pPr indent="0" marL="0">
              <a:buNone/>
            </a:pPr>
            <a:r>
              <a:rPr lang="en-US" sz="1450" b="1" dirty="0">
                <a:solidFill>
                  <a:srgbClr val="1391B5"/>
                </a:solidFill>
                <a:latin typeface="Calibri" pitchFamily="34" charset="0"/>
                <a:ea typeface="Calibri" pitchFamily="34" charset="-122"/>
                <a:cs typeface="Calibri" pitchFamily="34" charset="-120"/>
              </a:rPr>
              <a:t>Nuestro protocolo</a:t>
            </a:r>
            <a:endParaRPr lang="en-US" sz="1450" dirty="0"/>
          </a:p>
        </p:txBody>
      </p:sp>
      <p:sp>
        <p:nvSpPr>
          <p:cNvPr id="9" name="Text 7"/>
          <p:cNvSpPr/>
          <p:nvPr/>
        </p:nvSpPr>
        <p:spPr>
          <a:xfrm>
            <a:off x="6428232" y="1965960"/>
            <a:ext cx="5029200" cy="14630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D3E3EE"/>
                </a:solidFill>
                <a:latin typeface="Calibri" pitchFamily="34" charset="0"/>
                <a:ea typeface="Calibri" pitchFamily="34" charset="-122"/>
                <a:cs typeface="Calibri" pitchFamily="34" charset="-120"/>
              </a:rPr>
              <a:t>Calibración por sujeto: z-score contra su propio reposo (tarar la báscula).</a:t>
            </a:r>
            <a:endParaRPr lang="en-US" sz="1250" dirty="0"/>
          </a:p>
          <a:p>
            <a:pPr marL="342900" indent="-342900">
              <a:spcAft>
                <a:spcPts val="700"/>
              </a:spcAft>
              <a:buSzPct val="100000"/>
              <a:buChar char="•"/>
            </a:pPr>
            <a:r>
              <a:rPr lang="en-US" sz="1250" dirty="0">
                <a:solidFill>
                  <a:srgbClr val="D3E3EE"/>
                </a:solidFill>
                <a:latin typeface="Calibri" pitchFamily="34" charset="0"/>
                <a:ea typeface="Calibri" pitchFamily="34" charset="-122"/>
                <a:cs typeface="Calibri" pitchFamily="34" charset="-120"/>
              </a:rPr>
              <a:t>LOSO con la ventana de calibración estrictamente reservada.</a:t>
            </a:r>
            <a:endParaRPr lang="en-US" sz="1250" dirty="0"/>
          </a:p>
          <a:p>
            <a:pPr marL="342900" indent="-342900">
              <a:spcAft>
                <a:spcPts val="700"/>
              </a:spcAft>
              <a:buSzPct val="100000"/>
              <a:buChar char="•"/>
            </a:pPr>
            <a:r>
              <a:rPr lang="en-US" sz="1250" dirty="0">
                <a:solidFill>
                  <a:srgbClr val="D3E3EE"/>
                </a:solidFill>
                <a:latin typeface="Calibri" pitchFamily="34" charset="0"/>
                <a:ea typeface="Calibri" pitchFamily="34" charset="-122"/>
                <a:cs typeface="Calibri" pitchFamily="34" charset="-120"/>
              </a:rPr>
              <a:t>Features con base fisiológica; se eliminan las asimetrías frontales (miden emoción).</a:t>
            </a:r>
            <a:endParaRPr lang="en-US" sz="1250" dirty="0"/>
          </a:p>
        </p:txBody>
      </p:sp>
      <p:sp>
        <p:nvSpPr>
          <p:cNvPr id="10" name="Shape 8"/>
          <p:cNvSpPr/>
          <p:nvPr/>
        </p:nvSpPr>
        <p:spPr>
          <a:xfrm>
            <a:off x="548640" y="3840480"/>
            <a:ext cx="3566160" cy="1143000"/>
          </a:xfrm>
          <a:prstGeom prst="roundRect">
            <a:avLst>
              <a:gd name="adj" fmla="val 4800"/>
            </a:avLst>
          </a:prstGeom>
          <a:solidFill>
            <a:srgbClr val="DCEEF5"/>
          </a:solidFill>
          <a:ln w="12700">
            <a:solidFill>
              <a:srgbClr val="BEDDE9"/>
            </a:solidFill>
            <a:prstDash val="solid"/>
          </a:ln>
        </p:spPr>
      </p:sp>
      <p:sp>
        <p:nvSpPr>
          <p:cNvPr id="11" name="Text 9"/>
          <p:cNvSpPr/>
          <p:nvPr/>
        </p:nvSpPr>
        <p:spPr>
          <a:xfrm>
            <a:off x="777240" y="3986784"/>
            <a:ext cx="310896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Aritmética / Stroop</a:t>
            </a:r>
            <a:endParaRPr lang="en-US" sz="1350" dirty="0"/>
          </a:p>
        </p:txBody>
      </p:sp>
      <p:sp>
        <p:nvSpPr>
          <p:cNvPr id="12" name="Text 10"/>
          <p:cNvSpPr/>
          <p:nvPr/>
        </p:nvSpPr>
        <p:spPr>
          <a:xfrm>
            <a:off x="777240" y="4297680"/>
            <a:ext cx="3108960" cy="548640"/>
          </a:xfrm>
          <a:prstGeom prst="rect">
            <a:avLst/>
          </a:prstGeom>
          <a:noFill/>
          <a:ln/>
        </p:spPr>
        <p:txBody>
          <a:bodyPr wrap="square" lIns="0" tIns="0" rIns="0" bIns="0" rtlCol="0" anchor="ctr"/>
          <a:lstStyle/>
          <a:p>
            <a:pPr indent="0" marL="0">
              <a:buNone/>
            </a:pPr>
            <a:r>
              <a:rPr lang="en-US" sz="1150" dirty="0">
                <a:solidFill>
                  <a:srgbClr val="3F5567"/>
                </a:solidFill>
                <a:latin typeface="Calibri" pitchFamily="34" charset="0"/>
                <a:ea typeface="Calibri" pitchFamily="34" charset="-122"/>
                <a:cs typeface="Calibri" pitchFamily="34" charset="-120"/>
              </a:rPr>
              <a:t>15 sujetos · OpenBCI 8 ch · 250 Hz · 4 niveles de demanda</a:t>
            </a:r>
            <a:endParaRPr lang="en-US" sz="1150" dirty="0"/>
          </a:p>
        </p:txBody>
      </p:sp>
      <p:sp>
        <p:nvSpPr>
          <p:cNvPr id="13" name="Shape 11"/>
          <p:cNvSpPr/>
          <p:nvPr/>
        </p:nvSpPr>
        <p:spPr>
          <a:xfrm>
            <a:off x="4297680" y="3840480"/>
            <a:ext cx="3566160" cy="1143000"/>
          </a:xfrm>
          <a:prstGeom prst="roundRect">
            <a:avLst>
              <a:gd name="adj" fmla="val 4800"/>
            </a:avLst>
          </a:prstGeom>
          <a:solidFill>
            <a:srgbClr val="DCEEF5"/>
          </a:solidFill>
          <a:ln w="12700">
            <a:solidFill>
              <a:srgbClr val="BEDDE9"/>
            </a:solidFill>
            <a:prstDash val="solid"/>
          </a:ln>
        </p:spPr>
      </p:sp>
      <p:sp>
        <p:nvSpPr>
          <p:cNvPr id="14" name="Text 12"/>
          <p:cNvSpPr/>
          <p:nvPr/>
        </p:nvSpPr>
        <p:spPr>
          <a:xfrm>
            <a:off x="4526280" y="3986784"/>
            <a:ext cx="310896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PhysioNet eegmat</a:t>
            </a:r>
            <a:endParaRPr lang="en-US" sz="1350" dirty="0"/>
          </a:p>
        </p:txBody>
      </p:sp>
      <p:sp>
        <p:nvSpPr>
          <p:cNvPr id="15" name="Text 13"/>
          <p:cNvSpPr/>
          <p:nvPr/>
        </p:nvSpPr>
        <p:spPr>
          <a:xfrm>
            <a:off x="4526280" y="4297680"/>
            <a:ext cx="3108960" cy="548640"/>
          </a:xfrm>
          <a:prstGeom prst="rect">
            <a:avLst/>
          </a:prstGeom>
          <a:noFill/>
          <a:ln/>
        </p:spPr>
        <p:txBody>
          <a:bodyPr wrap="square" lIns="0" tIns="0" rIns="0" bIns="0" rtlCol="0" anchor="ctr"/>
          <a:lstStyle/>
          <a:p>
            <a:pPr indent="0" marL="0">
              <a:buNone/>
            </a:pPr>
            <a:r>
              <a:rPr lang="en-US" sz="1150" dirty="0">
                <a:solidFill>
                  <a:srgbClr val="3F5567"/>
                </a:solidFill>
                <a:latin typeface="Calibri" pitchFamily="34" charset="0"/>
                <a:ea typeface="Calibri" pitchFamily="34" charset="-122"/>
                <a:cs typeface="Calibri" pitchFamily="34" charset="-120"/>
              </a:rPr>
              <a:t>36 sujetos · 10–20 completo, 19 ch · 500 Hz · réplica en otro hardware</a:t>
            </a:r>
            <a:endParaRPr lang="en-US" sz="1150" dirty="0"/>
          </a:p>
        </p:txBody>
      </p:sp>
      <p:sp>
        <p:nvSpPr>
          <p:cNvPr id="16" name="Shape 14"/>
          <p:cNvSpPr/>
          <p:nvPr/>
        </p:nvSpPr>
        <p:spPr>
          <a:xfrm>
            <a:off x="8074152" y="3840480"/>
            <a:ext cx="3566160" cy="1143000"/>
          </a:xfrm>
          <a:prstGeom prst="roundRect">
            <a:avLst>
              <a:gd name="adj" fmla="val 4800"/>
            </a:avLst>
          </a:prstGeom>
          <a:solidFill>
            <a:srgbClr val="F1F5F8"/>
          </a:solidFill>
          <a:ln w="12700">
            <a:solidFill>
              <a:srgbClr val="D8E2EA"/>
            </a:solidFill>
            <a:prstDash val="solid"/>
          </a:ln>
        </p:spPr>
      </p:sp>
      <p:sp>
        <p:nvSpPr>
          <p:cNvPr id="17" name="Text 15"/>
          <p:cNvSpPr/>
          <p:nvPr/>
        </p:nvSpPr>
        <p:spPr>
          <a:xfrm>
            <a:off x="8302752" y="3950208"/>
            <a:ext cx="3108960" cy="566928"/>
          </a:xfrm>
          <a:prstGeom prst="rect">
            <a:avLst/>
          </a:prstGeom>
          <a:noFill/>
          <a:ln/>
        </p:spPr>
        <p:txBody>
          <a:bodyPr wrap="square" lIns="0" tIns="0" rIns="0" bIns="0" rtlCol="0" anchor="ctr"/>
          <a:lstStyle/>
          <a:p>
            <a:pPr algn="l" indent="0" marL="0">
              <a:buNone/>
            </a:pPr>
            <a:r>
              <a:rPr lang="en-US" sz="2600" b="1" dirty="0">
                <a:solidFill>
                  <a:srgbClr val="0E1D33"/>
                </a:solidFill>
                <a:latin typeface="Cambria" pitchFamily="34" charset="0"/>
                <a:ea typeface="Cambria" pitchFamily="34" charset="-122"/>
                <a:cs typeface="Cambria" pitchFamily="34" charset="-120"/>
              </a:rPr>
              <a:t>51 sujetos</a:t>
            </a:r>
            <a:endParaRPr lang="en-US" sz="2600" dirty="0"/>
          </a:p>
        </p:txBody>
      </p:sp>
      <p:sp>
        <p:nvSpPr>
          <p:cNvPr id="18" name="Text 16"/>
          <p:cNvSpPr/>
          <p:nvPr/>
        </p:nvSpPr>
        <p:spPr>
          <a:xfrm>
            <a:off x="8302752" y="4498848"/>
            <a:ext cx="3108960" cy="457200"/>
          </a:xfrm>
          <a:prstGeom prst="rect">
            <a:avLst/>
          </a:prstGeom>
          <a:noFill/>
          <a:ln/>
        </p:spPr>
        <p:txBody>
          <a:bodyPr wrap="square" lIns="0" tIns="0" rIns="0" bIns="0" rtlCol="0" anchor="ctr"/>
          <a:lstStyle/>
          <a:p>
            <a:pPr algn="l" indent="0" marL="0">
              <a:buNone/>
            </a:pPr>
            <a:endParaRPr lang="en-US" sz="1150" dirty="0"/>
          </a:p>
        </p:txBody>
      </p:sp>
      <p:sp>
        <p:nvSpPr>
          <p:cNvPr id="19" name="Text 17"/>
          <p:cNvSpPr/>
          <p:nvPr/>
        </p:nvSpPr>
        <p:spPr>
          <a:xfrm>
            <a:off x="8302752" y="4462272"/>
            <a:ext cx="3108960" cy="45720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evaluados con el mismo pipeline, sin ver nunca al sujeto de prueba</a:t>
            </a:r>
            <a:endParaRPr lang="en-US" sz="1150" dirty="0"/>
          </a:p>
        </p:txBody>
      </p:sp>
      <p:sp>
        <p:nvSpPr>
          <p:cNvPr id="20" name="Shape 18"/>
          <p:cNvSpPr/>
          <p:nvPr/>
        </p:nvSpPr>
        <p:spPr>
          <a:xfrm>
            <a:off x="548640" y="5303520"/>
            <a:ext cx="11091672" cy="777240"/>
          </a:xfrm>
          <a:prstGeom prst="roundRect">
            <a:avLst>
              <a:gd name="adj" fmla="val 7059"/>
            </a:avLst>
          </a:prstGeom>
          <a:solidFill>
            <a:srgbClr val="FFFFFF"/>
          </a:solidFill>
          <a:ln w="12700">
            <a:solidFill>
              <a:srgbClr val="1391B5"/>
            </a:solidFill>
            <a:prstDash val="solid"/>
          </a:ln>
        </p:spPr>
      </p:sp>
      <p:sp>
        <p:nvSpPr>
          <p:cNvPr id="21" name="Text 19"/>
          <p:cNvSpPr/>
          <p:nvPr/>
        </p:nvSpPr>
        <p:spPr>
          <a:xfrm>
            <a:off x="868680" y="5394960"/>
            <a:ext cx="10424160" cy="594360"/>
          </a:xfrm>
          <a:prstGeom prst="rect">
            <a:avLst/>
          </a:prstGeom>
          <a:noFill/>
          <a:ln/>
        </p:spPr>
        <p:txBody>
          <a:bodyPr wrap="square" lIns="0" tIns="0" rIns="0" bIns="0" rtlCol="0" anchor="ctr"/>
          <a:lstStyle/>
          <a:p>
            <a:pPr indent="0" marL="0">
              <a:buNone/>
            </a:pPr>
            <a:r>
              <a:rPr lang="en-US" sz="1350" b="1" dirty="0">
                <a:solidFill>
                  <a:srgbClr val="1391B5"/>
                </a:solidFill>
                <a:latin typeface="Calibri" pitchFamily="34" charset="0"/>
                <a:ea typeface="Calibri" pitchFamily="34" charset="-122"/>
                <a:cs typeface="Calibri" pitchFamily="34" charset="-120"/>
              </a:rPr>
              <a:t>Posicionamiento:  </a:t>
            </a:r>
            <a:pPr indent="0" marL="0">
              <a:buNone/>
            </a:pPr>
            <a:r>
              <a:rPr lang="en-US" sz="1350" dirty="0">
                <a:solidFill>
                  <a:srgbClr val="1B2733"/>
                </a:solidFill>
                <a:latin typeface="Calibri" pitchFamily="34" charset="0"/>
                <a:ea typeface="Calibri" pitchFamily="34" charset="-122"/>
                <a:cs typeface="Calibri" pitchFamily="34" charset="-120"/>
              </a:rPr>
              <a:t>no es un clasificador nuevo, es un </a:t>
            </a:r>
            <a:pPr indent="0" marL="0">
              <a:buNone/>
            </a:pPr>
            <a:r>
              <a:rPr lang="en-US" sz="1350" b="1" dirty="0">
                <a:solidFill>
                  <a:srgbClr val="0E1D33"/>
                </a:solidFill>
                <a:latin typeface="Calibri" pitchFamily="34" charset="0"/>
                <a:ea typeface="Calibri" pitchFamily="34" charset="-122"/>
                <a:cs typeface="Calibri" pitchFamily="34" charset="-120"/>
              </a:rPr>
              <a:t>estudio de protocolo</a:t>
            </a:r>
            <a:pPr indent="0" marL="0">
              <a:buNone/>
            </a:pPr>
            <a:r>
              <a:rPr lang="en-US" sz="1350" dirty="0">
                <a:solidFill>
                  <a:srgbClr val="1B2733"/>
                </a:solidFill>
                <a:latin typeface="Calibri" pitchFamily="34" charset="0"/>
                <a:ea typeface="Calibri" pitchFamily="34" charset="-122"/>
                <a:cs typeface="Calibri" pitchFamily="34" charset="-120"/>
              </a:rPr>
              <a:t> — la calibración por sujeto, y no el modelo, es la palanca dominante.</a:t>
            </a:r>
            <a:endParaRPr lang="en-US" sz="1350" dirty="0"/>
          </a:p>
        </p:txBody>
      </p:sp>
      <p:sp>
        <p:nvSpPr>
          <p:cNvPr id="22" name="Text 20"/>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23" name="Text 21"/>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RESULTADOS · REPOSO VS TAREA</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La calibración por sujeto es la palanca dominante</a:t>
            </a:r>
            <a:endParaRPr lang="en-US" sz="3000" dirty="0"/>
          </a:p>
        </p:txBody>
      </p:sp>
      <p:sp>
        <p:nvSpPr>
          <p:cNvPr id="4" name="Text 2"/>
          <p:cNvSpPr/>
          <p:nvPr/>
        </p:nvSpPr>
        <p:spPr>
          <a:xfrm>
            <a:off x="777240" y="1481328"/>
            <a:ext cx="3383280" cy="320040"/>
          </a:xfrm>
          <a:prstGeom prst="rect">
            <a:avLst/>
          </a:prstGeom>
          <a:noFill/>
          <a:ln/>
        </p:spPr>
        <p:txBody>
          <a:bodyPr wrap="square" lIns="0" tIns="0" rIns="0" bIns="0" rtlCol="0" anchor="ctr"/>
          <a:lstStyle/>
          <a:p>
            <a:pPr algn="l" indent="0" marL="0">
              <a:buNone/>
            </a:pPr>
            <a:r>
              <a:rPr lang="en-US" sz="1150" b="1" dirty="0">
                <a:solidFill>
                  <a:srgbClr val="5D6E7E"/>
                </a:solidFill>
                <a:latin typeface="Calibri" pitchFamily="34" charset="0"/>
                <a:ea typeface="Calibri" pitchFamily="34" charset="-122"/>
                <a:cs typeface="Calibri" pitchFamily="34" charset="-120"/>
              </a:rPr>
              <a:t>Configuración</a:t>
            </a:r>
            <a:endParaRPr lang="en-US" sz="1150" dirty="0"/>
          </a:p>
        </p:txBody>
      </p:sp>
      <p:sp>
        <p:nvSpPr>
          <p:cNvPr id="5" name="Text 3"/>
          <p:cNvSpPr/>
          <p:nvPr/>
        </p:nvSpPr>
        <p:spPr>
          <a:xfrm>
            <a:off x="4206240" y="1481328"/>
            <a:ext cx="960120" cy="320040"/>
          </a:xfrm>
          <a:prstGeom prst="rect">
            <a:avLst/>
          </a:prstGeom>
          <a:noFill/>
          <a:ln/>
        </p:spPr>
        <p:txBody>
          <a:bodyPr wrap="square" lIns="0" tIns="0" rIns="0" bIns="0" rtlCol="0" anchor="ctr"/>
          <a:lstStyle/>
          <a:p>
            <a:pPr algn="ctr" indent="0" marL="0">
              <a:buNone/>
            </a:pPr>
            <a:r>
              <a:rPr lang="en-US" sz="1150" b="1" dirty="0">
                <a:solidFill>
                  <a:srgbClr val="5D6E7E"/>
                </a:solidFill>
                <a:latin typeface="Calibri" pitchFamily="34" charset="0"/>
                <a:ea typeface="Calibri" pitchFamily="34" charset="-122"/>
                <a:cs typeface="Calibri" pitchFamily="34" charset="-120"/>
              </a:rPr>
              <a:t>Exactitud</a:t>
            </a:r>
            <a:endParaRPr lang="en-US" sz="1150" dirty="0"/>
          </a:p>
        </p:txBody>
      </p:sp>
      <p:sp>
        <p:nvSpPr>
          <p:cNvPr id="6" name="Text 4"/>
          <p:cNvSpPr/>
          <p:nvPr/>
        </p:nvSpPr>
        <p:spPr>
          <a:xfrm>
            <a:off x="5166360" y="1481328"/>
            <a:ext cx="960120" cy="320040"/>
          </a:xfrm>
          <a:prstGeom prst="rect">
            <a:avLst/>
          </a:prstGeom>
          <a:noFill/>
          <a:ln/>
        </p:spPr>
        <p:txBody>
          <a:bodyPr wrap="square" lIns="0" tIns="0" rIns="0" bIns="0" rtlCol="0" anchor="ctr"/>
          <a:lstStyle/>
          <a:p>
            <a:pPr algn="ctr" indent="0" marL="0">
              <a:buNone/>
            </a:pPr>
            <a:r>
              <a:rPr lang="en-US" sz="1150" b="1" dirty="0">
                <a:solidFill>
                  <a:srgbClr val="5D6E7E"/>
                </a:solidFill>
                <a:latin typeface="Calibri" pitchFamily="34" charset="0"/>
                <a:ea typeface="Calibri" pitchFamily="34" charset="-122"/>
                <a:cs typeface="Calibri" pitchFamily="34" charset="-120"/>
              </a:rPr>
              <a:t>F1 macro</a:t>
            </a:r>
            <a:endParaRPr lang="en-US" sz="1150" dirty="0"/>
          </a:p>
        </p:txBody>
      </p:sp>
      <p:sp>
        <p:nvSpPr>
          <p:cNvPr id="7" name="Text 5"/>
          <p:cNvSpPr/>
          <p:nvPr/>
        </p:nvSpPr>
        <p:spPr>
          <a:xfrm>
            <a:off x="6126480" y="1481328"/>
            <a:ext cx="1097280" cy="320040"/>
          </a:xfrm>
          <a:prstGeom prst="rect">
            <a:avLst/>
          </a:prstGeom>
          <a:noFill/>
          <a:ln/>
        </p:spPr>
        <p:txBody>
          <a:bodyPr wrap="square" lIns="0" tIns="0" rIns="0" bIns="0" rtlCol="0" anchor="ctr"/>
          <a:lstStyle/>
          <a:p>
            <a:pPr algn="ctr" indent="0" marL="0">
              <a:buNone/>
            </a:pPr>
            <a:r>
              <a:rPr lang="en-US" sz="1150" b="1" dirty="0">
                <a:solidFill>
                  <a:srgbClr val="5D6E7E"/>
                </a:solidFill>
                <a:latin typeface="Calibri" pitchFamily="34" charset="0"/>
                <a:ea typeface="Calibri" pitchFamily="34" charset="-122"/>
                <a:cs typeface="Calibri" pitchFamily="34" charset="-120"/>
              </a:rPr>
              <a:t>Recall reposo</a:t>
            </a:r>
            <a:endParaRPr lang="en-US" sz="1150" dirty="0"/>
          </a:p>
        </p:txBody>
      </p:sp>
      <p:sp>
        <p:nvSpPr>
          <p:cNvPr id="8" name="Shape 6"/>
          <p:cNvSpPr/>
          <p:nvPr/>
        </p:nvSpPr>
        <p:spPr>
          <a:xfrm>
            <a:off x="548640" y="1847088"/>
            <a:ext cx="6675120" cy="548640"/>
          </a:xfrm>
          <a:prstGeom prst="roundRect">
            <a:avLst>
              <a:gd name="adj" fmla="val 10000"/>
            </a:avLst>
          </a:prstGeom>
          <a:solidFill>
            <a:srgbClr val="F1F5F8"/>
          </a:solidFill>
          <a:ln w="12700">
            <a:solidFill>
              <a:srgbClr val="D8E2EA"/>
            </a:solidFill>
            <a:prstDash val="solid"/>
          </a:ln>
        </p:spPr>
      </p:sp>
      <p:sp>
        <p:nvSpPr>
          <p:cNvPr id="9" name="Text 7"/>
          <p:cNvSpPr/>
          <p:nvPr/>
        </p:nvSpPr>
        <p:spPr>
          <a:xfrm>
            <a:off x="777240" y="1847088"/>
            <a:ext cx="3383280" cy="548640"/>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Split por archivo (protocolo laxo)</a:t>
            </a:r>
            <a:endParaRPr lang="en-US" sz="1250" dirty="0"/>
          </a:p>
        </p:txBody>
      </p:sp>
      <p:sp>
        <p:nvSpPr>
          <p:cNvPr id="10" name="Text 8"/>
          <p:cNvSpPr/>
          <p:nvPr/>
        </p:nvSpPr>
        <p:spPr>
          <a:xfrm>
            <a:off x="4206240" y="1847088"/>
            <a:ext cx="960120" cy="548640"/>
          </a:xfrm>
          <a:prstGeom prst="rect">
            <a:avLst/>
          </a:prstGeom>
          <a:noFill/>
          <a:ln/>
        </p:spPr>
        <p:txBody>
          <a:bodyPr wrap="square" lIns="0" tIns="0" rIns="0" bIns="0" rtlCol="0" anchor="ctr"/>
          <a:lstStyle/>
          <a:p>
            <a:pPr algn="ctr" indent="0" marL="0">
              <a:buNone/>
            </a:pPr>
            <a:r>
              <a:rPr lang="en-US" sz="1500" dirty="0">
                <a:solidFill>
                  <a:srgbClr val="5D6E7E"/>
                </a:solidFill>
                <a:latin typeface="Cambria" pitchFamily="34" charset="0"/>
                <a:ea typeface="Cambria" pitchFamily="34" charset="-122"/>
                <a:cs typeface="Cambria" pitchFamily="34" charset="-120"/>
              </a:rPr>
              <a:t>0.78</a:t>
            </a:r>
            <a:endParaRPr lang="en-US" sz="1500" dirty="0"/>
          </a:p>
        </p:txBody>
      </p:sp>
      <p:sp>
        <p:nvSpPr>
          <p:cNvPr id="11" name="Text 9"/>
          <p:cNvSpPr/>
          <p:nvPr/>
        </p:nvSpPr>
        <p:spPr>
          <a:xfrm>
            <a:off x="5166360" y="1847088"/>
            <a:ext cx="960120" cy="548640"/>
          </a:xfrm>
          <a:prstGeom prst="rect">
            <a:avLst/>
          </a:prstGeom>
          <a:noFill/>
          <a:ln/>
        </p:spPr>
        <p:txBody>
          <a:bodyPr wrap="square" lIns="0" tIns="0" rIns="0" bIns="0" rtlCol="0" anchor="ctr"/>
          <a:lstStyle/>
          <a:p>
            <a:pPr algn="ctr" indent="0" marL="0">
              <a:buNone/>
            </a:pPr>
            <a:r>
              <a:rPr lang="en-US" sz="1500" dirty="0">
                <a:solidFill>
                  <a:srgbClr val="5D6E7E"/>
                </a:solidFill>
                <a:latin typeface="Cambria" pitchFamily="34" charset="0"/>
                <a:ea typeface="Cambria" pitchFamily="34" charset="-122"/>
                <a:cs typeface="Cambria" pitchFamily="34" charset="-120"/>
              </a:rPr>
              <a:t>0.67</a:t>
            </a:r>
            <a:endParaRPr lang="en-US" sz="1500" dirty="0"/>
          </a:p>
        </p:txBody>
      </p:sp>
      <p:sp>
        <p:nvSpPr>
          <p:cNvPr id="12" name="Text 10"/>
          <p:cNvSpPr/>
          <p:nvPr/>
        </p:nvSpPr>
        <p:spPr>
          <a:xfrm>
            <a:off x="6195060" y="1847088"/>
            <a:ext cx="1097280" cy="548640"/>
          </a:xfrm>
          <a:prstGeom prst="rect">
            <a:avLst/>
          </a:prstGeom>
          <a:noFill/>
          <a:ln/>
        </p:spPr>
        <p:txBody>
          <a:bodyPr wrap="square" lIns="0" tIns="0" rIns="0" bIns="0" rtlCol="0" anchor="ctr"/>
          <a:lstStyle/>
          <a:p>
            <a:pPr algn="ctr" indent="0" marL="0">
              <a:buNone/>
            </a:pPr>
            <a:r>
              <a:rPr lang="en-US" sz="1500" dirty="0">
                <a:solidFill>
                  <a:srgbClr val="5D6E7E"/>
                </a:solidFill>
                <a:latin typeface="Cambria" pitchFamily="34" charset="0"/>
                <a:ea typeface="Cambria" pitchFamily="34" charset="-122"/>
                <a:cs typeface="Cambria" pitchFamily="34" charset="-120"/>
              </a:rPr>
              <a:t>0.40</a:t>
            </a:r>
            <a:endParaRPr lang="en-US" sz="1500" dirty="0"/>
          </a:p>
        </p:txBody>
      </p:sp>
      <p:sp>
        <p:nvSpPr>
          <p:cNvPr id="13" name="Shape 11"/>
          <p:cNvSpPr/>
          <p:nvPr/>
        </p:nvSpPr>
        <p:spPr>
          <a:xfrm>
            <a:off x="548640" y="2414016"/>
            <a:ext cx="6675120" cy="548640"/>
          </a:xfrm>
          <a:prstGeom prst="roundRect">
            <a:avLst>
              <a:gd name="adj" fmla="val 10000"/>
            </a:avLst>
          </a:prstGeom>
          <a:solidFill>
            <a:srgbClr val="F1F5F8"/>
          </a:solidFill>
          <a:ln w="12700">
            <a:solidFill>
              <a:srgbClr val="D8E2EA"/>
            </a:solidFill>
            <a:prstDash val="solid"/>
          </a:ln>
        </p:spPr>
      </p:sp>
      <p:sp>
        <p:nvSpPr>
          <p:cNvPr id="14" name="Text 12"/>
          <p:cNvSpPr/>
          <p:nvPr/>
        </p:nvSpPr>
        <p:spPr>
          <a:xfrm>
            <a:off x="777240" y="2414016"/>
            <a:ext cx="3383280" cy="548640"/>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LOSO, sin calibración</a:t>
            </a:r>
            <a:endParaRPr lang="en-US" sz="1250" dirty="0"/>
          </a:p>
        </p:txBody>
      </p:sp>
      <p:sp>
        <p:nvSpPr>
          <p:cNvPr id="15" name="Text 13"/>
          <p:cNvSpPr/>
          <p:nvPr/>
        </p:nvSpPr>
        <p:spPr>
          <a:xfrm>
            <a:off x="4206240" y="2414016"/>
            <a:ext cx="960120" cy="548640"/>
          </a:xfrm>
          <a:prstGeom prst="rect">
            <a:avLst/>
          </a:prstGeom>
          <a:noFill/>
          <a:ln/>
        </p:spPr>
        <p:txBody>
          <a:bodyPr wrap="square" lIns="0" tIns="0" rIns="0" bIns="0" rtlCol="0" anchor="ctr"/>
          <a:lstStyle/>
          <a:p>
            <a:pPr algn="ctr" indent="0" marL="0">
              <a:buNone/>
            </a:pPr>
            <a:r>
              <a:rPr lang="en-US" sz="1500" dirty="0">
                <a:solidFill>
                  <a:srgbClr val="5D6E7E"/>
                </a:solidFill>
                <a:latin typeface="Cambria" pitchFamily="34" charset="0"/>
                <a:ea typeface="Cambria" pitchFamily="34" charset="-122"/>
                <a:cs typeface="Cambria" pitchFamily="34" charset="-120"/>
              </a:rPr>
              <a:t>0.77</a:t>
            </a:r>
            <a:endParaRPr lang="en-US" sz="1500" dirty="0"/>
          </a:p>
        </p:txBody>
      </p:sp>
      <p:sp>
        <p:nvSpPr>
          <p:cNvPr id="16" name="Text 14"/>
          <p:cNvSpPr/>
          <p:nvPr/>
        </p:nvSpPr>
        <p:spPr>
          <a:xfrm>
            <a:off x="5166360" y="2414016"/>
            <a:ext cx="960120" cy="548640"/>
          </a:xfrm>
          <a:prstGeom prst="rect">
            <a:avLst/>
          </a:prstGeom>
          <a:noFill/>
          <a:ln/>
        </p:spPr>
        <p:txBody>
          <a:bodyPr wrap="square" lIns="0" tIns="0" rIns="0" bIns="0" rtlCol="0" anchor="ctr"/>
          <a:lstStyle/>
          <a:p>
            <a:pPr algn="ctr" indent="0" marL="0">
              <a:buNone/>
            </a:pPr>
            <a:r>
              <a:rPr lang="en-US" sz="1500" dirty="0">
                <a:solidFill>
                  <a:srgbClr val="5D6E7E"/>
                </a:solidFill>
                <a:latin typeface="Cambria" pitchFamily="34" charset="0"/>
                <a:ea typeface="Cambria" pitchFamily="34" charset="-122"/>
                <a:cs typeface="Cambria" pitchFamily="34" charset="-120"/>
              </a:rPr>
              <a:t>0.70</a:t>
            </a:r>
            <a:endParaRPr lang="en-US" sz="1500" dirty="0"/>
          </a:p>
        </p:txBody>
      </p:sp>
      <p:sp>
        <p:nvSpPr>
          <p:cNvPr id="17" name="Text 15"/>
          <p:cNvSpPr/>
          <p:nvPr/>
        </p:nvSpPr>
        <p:spPr>
          <a:xfrm>
            <a:off x="6195060" y="2414016"/>
            <a:ext cx="1097280" cy="548640"/>
          </a:xfrm>
          <a:prstGeom prst="rect">
            <a:avLst/>
          </a:prstGeom>
          <a:noFill/>
          <a:ln/>
        </p:spPr>
        <p:txBody>
          <a:bodyPr wrap="square" lIns="0" tIns="0" rIns="0" bIns="0" rtlCol="0" anchor="ctr"/>
          <a:lstStyle/>
          <a:p>
            <a:pPr algn="ctr" indent="0" marL="0">
              <a:buNone/>
            </a:pPr>
            <a:r>
              <a:rPr lang="en-US" sz="1500" dirty="0">
                <a:solidFill>
                  <a:srgbClr val="5D6E7E"/>
                </a:solidFill>
                <a:latin typeface="Cambria" pitchFamily="34" charset="0"/>
                <a:ea typeface="Cambria" pitchFamily="34" charset="-122"/>
                <a:cs typeface="Cambria" pitchFamily="34" charset="-120"/>
              </a:rPr>
              <a:t>0.46</a:t>
            </a:r>
            <a:endParaRPr lang="en-US" sz="1500" dirty="0"/>
          </a:p>
        </p:txBody>
      </p:sp>
      <p:sp>
        <p:nvSpPr>
          <p:cNvPr id="18" name="Shape 16"/>
          <p:cNvSpPr/>
          <p:nvPr/>
        </p:nvSpPr>
        <p:spPr>
          <a:xfrm>
            <a:off x="548640" y="2980944"/>
            <a:ext cx="6675120" cy="548640"/>
          </a:xfrm>
          <a:prstGeom prst="roundRect">
            <a:avLst>
              <a:gd name="adj" fmla="val 10000"/>
            </a:avLst>
          </a:prstGeom>
          <a:solidFill>
            <a:srgbClr val="DCEEF5"/>
          </a:solidFill>
          <a:ln w="12700">
            <a:solidFill>
              <a:srgbClr val="BEDDE9"/>
            </a:solidFill>
            <a:prstDash val="solid"/>
          </a:ln>
        </p:spPr>
      </p:sp>
      <p:sp>
        <p:nvSpPr>
          <p:cNvPr id="19" name="Text 17"/>
          <p:cNvSpPr/>
          <p:nvPr/>
        </p:nvSpPr>
        <p:spPr>
          <a:xfrm>
            <a:off x="777240" y="2980944"/>
            <a:ext cx="3383280" cy="548640"/>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LOSO + calibración por sujeto</a:t>
            </a:r>
            <a:endParaRPr lang="en-US" sz="1250" dirty="0"/>
          </a:p>
        </p:txBody>
      </p:sp>
      <p:sp>
        <p:nvSpPr>
          <p:cNvPr id="20" name="Text 18"/>
          <p:cNvSpPr/>
          <p:nvPr/>
        </p:nvSpPr>
        <p:spPr>
          <a:xfrm>
            <a:off x="4206240" y="2980944"/>
            <a:ext cx="96012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0.82</a:t>
            </a:r>
            <a:endParaRPr lang="en-US" sz="1500" dirty="0"/>
          </a:p>
        </p:txBody>
      </p:sp>
      <p:sp>
        <p:nvSpPr>
          <p:cNvPr id="21" name="Text 19"/>
          <p:cNvSpPr/>
          <p:nvPr/>
        </p:nvSpPr>
        <p:spPr>
          <a:xfrm>
            <a:off x="5166360" y="2980944"/>
            <a:ext cx="96012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0.77</a:t>
            </a:r>
            <a:endParaRPr lang="en-US" sz="1500" dirty="0"/>
          </a:p>
        </p:txBody>
      </p:sp>
      <p:sp>
        <p:nvSpPr>
          <p:cNvPr id="22" name="Text 20"/>
          <p:cNvSpPr/>
          <p:nvPr/>
        </p:nvSpPr>
        <p:spPr>
          <a:xfrm>
            <a:off x="6195060" y="2980944"/>
            <a:ext cx="109728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0.56</a:t>
            </a:r>
            <a:endParaRPr lang="en-US" sz="1500" dirty="0"/>
          </a:p>
        </p:txBody>
      </p:sp>
      <p:sp>
        <p:nvSpPr>
          <p:cNvPr id="23" name="Shape 21"/>
          <p:cNvSpPr/>
          <p:nvPr/>
        </p:nvSpPr>
        <p:spPr>
          <a:xfrm>
            <a:off x="548640" y="3547872"/>
            <a:ext cx="6675120" cy="548640"/>
          </a:xfrm>
          <a:prstGeom prst="roundRect">
            <a:avLst>
              <a:gd name="adj" fmla="val 10000"/>
            </a:avLst>
          </a:prstGeom>
          <a:solidFill>
            <a:srgbClr val="DCEEF5"/>
          </a:solidFill>
          <a:ln w="12700">
            <a:solidFill>
              <a:srgbClr val="BEDDE9"/>
            </a:solidFill>
            <a:prstDash val="solid"/>
          </a:ln>
        </p:spPr>
      </p:sp>
      <p:sp>
        <p:nvSpPr>
          <p:cNvPr id="24" name="Text 22"/>
          <p:cNvSpPr/>
          <p:nvPr/>
        </p:nvSpPr>
        <p:spPr>
          <a:xfrm>
            <a:off x="777240" y="3547872"/>
            <a:ext cx="3383280" cy="548640"/>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 recalibración en línea</a:t>
            </a:r>
            <a:endParaRPr lang="en-US" sz="1250" dirty="0"/>
          </a:p>
        </p:txBody>
      </p:sp>
      <p:sp>
        <p:nvSpPr>
          <p:cNvPr id="25" name="Text 23"/>
          <p:cNvSpPr/>
          <p:nvPr/>
        </p:nvSpPr>
        <p:spPr>
          <a:xfrm>
            <a:off x="4206240" y="3547872"/>
            <a:ext cx="96012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0.85</a:t>
            </a:r>
            <a:endParaRPr lang="en-US" sz="1500" dirty="0"/>
          </a:p>
        </p:txBody>
      </p:sp>
      <p:sp>
        <p:nvSpPr>
          <p:cNvPr id="26" name="Text 24"/>
          <p:cNvSpPr/>
          <p:nvPr/>
        </p:nvSpPr>
        <p:spPr>
          <a:xfrm>
            <a:off x="5166360" y="3547872"/>
            <a:ext cx="96012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0.81</a:t>
            </a:r>
            <a:endParaRPr lang="en-US" sz="1500" dirty="0"/>
          </a:p>
        </p:txBody>
      </p:sp>
      <p:sp>
        <p:nvSpPr>
          <p:cNvPr id="27" name="Text 25"/>
          <p:cNvSpPr/>
          <p:nvPr/>
        </p:nvSpPr>
        <p:spPr>
          <a:xfrm>
            <a:off x="6195060" y="3547872"/>
            <a:ext cx="109728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a:t>
            </a:r>
            <a:endParaRPr lang="en-US" sz="1500" dirty="0"/>
          </a:p>
        </p:txBody>
      </p:sp>
      <p:pic>
        <p:nvPicPr>
          <p:cNvPr id="28" name="Image 0" descr="/private/tmp/claude-501/-Users-rafael-Documents-Proyectos-Personales-Doctorado/c74dcdf8-f3d0-4879-b253-764a4009216b/scratchpad/fig/fig1_persubject.png">    </p:cNvPr>
          <p:cNvPicPr>
            <a:picLocks noChangeAspect="1"/>
          </p:cNvPicPr>
          <p:nvPr/>
        </p:nvPicPr>
        <p:blipFill>
          <a:blip r:embed="rId1"/>
          <a:stretch>
            <a:fillRect/>
          </a:stretch>
        </p:blipFill>
        <p:spPr>
          <a:xfrm>
            <a:off x="7498080" y="1481328"/>
            <a:ext cx="4160520" cy="1874520"/>
          </a:xfrm>
          <a:prstGeom prst="rect">
            <a:avLst/>
          </a:prstGeom>
        </p:spPr>
      </p:pic>
      <p:sp>
        <p:nvSpPr>
          <p:cNvPr id="29" name="Text 26"/>
          <p:cNvSpPr/>
          <p:nvPr/>
        </p:nvSpPr>
        <p:spPr>
          <a:xfrm>
            <a:off x="7498080" y="3383280"/>
            <a:ext cx="4160520" cy="365760"/>
          </a:xfrm>
          <a:prstGeom prst="rect">
            <a:avLst/>
          </a:prstGeom>
          <a:noFill/>
          <a:ln/>
        </p:spPr>
        <p:txBody>
          <a:bodyPr wrap="square" lIns="0" tIns="0" rIns="0" bIns="0" rtlCol="0" anchor="ctr"/>
          <a:lstStyle/>
          <a:p>
            <a:pPr indent="0" marL="0">
              <a:buNone/>
            </a:pPr>
            <a:r>
              <a:rPr lang="en-US" sz="1050" i="1" dirty="0">
                <a:solidFill>
                  <a:srgbClr val="5D6E7E"/>
                </a:solidFill>
                <a:latin typeface="Calibri" pitchFamily="34" charset="0"/>
                <a:ea typeface="Calibri" pitchFamily="34" charset="-122"/>
                <a:cs typeface="Calibri" pitchFamily="34" charset="-120"/>
              </a:rPr>
              <a:t>Exactitud por sujeto bajo el protocolo honesto (AS n=15, eegmat n=36).</a:t>
            </a:r>
            <a:endParaRPr lang="en-US" sz="1050" dirty="0"/>
          </a:p>
        </p:txBody>
      </p:sp>
      <p:sp>
        <p:nvSpPr>
          <p:cNvPr id="30" name="Shape 27"/>
          <p:cNvSpPr/>
          <p:nvPr/>
        </p:nvSpPr>
        <p:spPr>
          <a:xfrm>
            <a:off x="548640" y="4343400"/>
            <a:ext cx="3566160" cy="1371600"/>
          </a:xfrm>
          <a:prstGeom prst="roundRect">
            <a:avLst>
              <a:gd name="adj" fmla="val 4000"/>
            </a:avLst>
          </a:prstGeom>
          <a:solidFill>
            <a:srgbClr val="F1F5F8"/>
          </a:solidFill>
          <a:ln w="12700">
            <a:solidFill>
              <a:srgbClr val="D8E2EA"/>
            </a:solidFill>
            <a:prstDash val="solid"/>
          </a:ln>
        </p:spPr>
      </p:sp>
      <p:sp>
        <p:nvSpPr>
          <p:cNvPr id="31" name="Text 28"/>
          <p:cNvSpPr/>
          <p:nvPr/>
        </p:nvSpPr>
        <p:spPr>
          <a:xfrm>
            <a:off x="804672" y="4480560"/>
            <a:ext cx="3108960" cy="566928"/>
          </a:xfrm>
          <a:prstGeom prst="rect">
            <a:avLst/>
          </a:prstGeom>
          <a:noFill/>
          <a:ln/>
        </p:spPr>
        <p:txBody>
          <a:bodyPr wrap="square" lIns="0" tIns="0" rIns="0" bIns="0" rtlCol="0" anchor="ctr"/>
          <a:lstStyle/>
          <a:p>
            <a:pPr algn="l" indent="0" marL="0">
              <a:buNone/>
            </a:pPr>
            <a:r>
              <a:rPr lang="en-US" sz="3000" b="1" dirty="0">
                <a:solidFill>
                  <a:srgbClr val="1391B5"/>
                </a:solidFill>
                <a:latin typeface="Cambria" pitchFamily="34" charset="0"/>
                <a:ea typeface="Cambria" pitchFamily="34" charset="-122"/>
                <a:cs typeface="Cambria" pitchFamily="34" charset="-120"/>
              </a:rPr>
              <a:t>+5 pts</a:t>
            </a:r>
            <a:endParaRPr lang="en-US" sz="3000" dirty="0"/>
          </a:p>
        </p:txBody>
      </p:sp>
      <p:sp>
        <p:nvSpPr>
          <p:cNvPr id="32" name="Text 29"/>
          <p:cNvSpPr/>
          <p:nvPr/>
        </p:nvSpPr>
        <p:spPr>
          <a:xfrm>
            <a:off x="804672" y="5029200"/>
            <a:ext cx="3108960" cy="457200"/>
          </a:xfrm>
          <a:prstGeom prst="rect">
            <a:avLst/>
          </a:prstGeom>
          <a:noFill/>
          <a:ln/>
        </p:spPr>
        <p:txBody>
          <a:bodyPr wrap="square" lIns="0" tIns="0" rIns="0" bIns="0" rtlCol="0" anchor="ctr"/>
          <a:lstStyle/>
          <a:p>
            <a:pPr algn="l" indent="0" marL="0">
              <a:buNone/>
            </a:pPr>
            <a:endParaRPr lang="en-US" sz="1150" dirty="0"/>
          </a:p>
        </p:txBody>
      </p:sp>
      <p:sp>
        <p:nvSpPr>
          <p:cNvPr id="33" name="Text 30"/>
          <p:cNvSpPr/>
          <p:nvPr/>
        </p:nvSpPr>
        <p:spPr>
          <a:xfrm>
            <a:off x="804672" y="5029200"/>
            <a:ext cx="3108960" cy="5943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de exactitud solo por calibrar</a:t>
            </a:r>
            <a:endParaRPr lang="en-US" sz="1150" dirty="0"/>
          </a:p>
          <a:p>
            <a:pPr indent="0" marL="0">
              <a:buNone/>
            </a:pPr>
            <a:r>
              <a:rPr lang="en-US" sz="1150" dirty="0">
                <a:solidFill>
                  <a:srgbClr val="5D6E7E"/>
                </a:solidFill>
                <a:latin typeface="Calibri" pitchFamily="34" charset="0"/>
                <a:ea typeface="Calibri" pitchFamily="34" charset="-122"/>
                <a:cs typeface="Calibri" pitchFamily="34" charset="-120"/>
              </a:rPr>
              <a:t>contra el reposo del sujeto</a:t>
            </a:r>
            <a:endParaRPr lang="en-US" sz="1150" dirty="0"/>
          </a:p>
        </p:txBody>
      </p:sp>
      <p:sp>
        <p:nvSpPr>
          <p:cNvPr id="34" name="Shape 31"/>
          <p:cNvSpPr/>
          <p:nvPr/>
        </p:nvSpPr>
        <p:spPr>
          <a:xfrm>
            <a:off x="4297680" y="4343400"/>
            <a:ext cx="3566160" cy="1371600"/>
          </a:xfrm>
          <a:prstGeom prst="roundRect">
            <a:avLst>
              <a:gd name="adj" fmla="val 4000"/>
            </a:avLst>
          </a:prstGeom>
          <a:solidFill>
            <a:srgbClr val="F1F5F8"/>
          </a:solidFill>
          <a:ln w="12700">
            <a:solidFill>
              <a:srgbClr val="D8E2EA"/>
            </a:solidFill>
            <a:prstDash val="solid"/>
          </a:ln>
        </p:spPr>
      </p:sp>
      <p:sp>
        <p:nvSpPr>
          <p:cNvPr id="35" name="Text 32"/>
          <p:cNvSpPr/>
          <p:nvPr/>
        </p:nvSpPr>
        <p:spPr>
          <a:xfrm>
            <a:off x="4553712" y="4480560"/>
            <a:ext cx="3108960" cy="566928"/>
          </a:xfrm>
          <a:prstGeom prst="rect">
            <a:avLst/>
          </a:prstGeom>
          <a:noFill/>
          <a:ln/>
        </p:spPr>
        <p:txBody>
          <a:bodyPr wrap="square" lIns="0" tIns="0" rIns="0" bIns="0" rtlCol="0" anchor="ctr"/>
          <a:lstStyle/>
          <a:p>
            <a:pPr algn="l" indent="0" marL="0">
              <a:buNone/>
            </a:pPr>
            <a:r>
              <a:rPr lang="en-US" sz="3000" b="1" dirty="0">
                <a:solidFill>
                  <a:srgbClr val="1B3A5C"/>
                </a:solidFill>
                <a:latin typeface="Cambria" pitchFamily="34" charset="0"/>
                <a:ea typeface="Cambria" pitchFamily="34" charset="-122"/>
                <a:cs typeface="Cambria" pitchFamily="34" charset="-120"/>
              </a:rPr>
              <a:t>+2.6 pts</a:t>
            </a:r>
            <a:endParaRPr lang="en-US" sz="3000" dirty="0"/>
          </a:p>
        </p:txBody>
      </p:sp>
      <p:sp>
        <p:nvSpPr>
          <p:cNvPr id="36" name="Text 33"/>
          <p:cNvSpPr/>
          <p:nvPr/>
        </p:nvSpPr>
        <p:spPr>
          <a:xfrm>
            <a:off x="4553712" y="5029200"/>
            <a:ext cx="3108960" cy="457200"/>
          </a:xfrm>
          <a:prstGeom prst="rect">
            <a:avLst/>
          </a:prstGeom>
          <a:noFill/>
          <a:ln/>
        </p:spPr>
        <p:txBody>
          <a:bodyPr wrap="square" lIns="0" tIns="0" rIns="0" bIns="0" rtlCol="0" anchor="ctr"/>
          <a:lstStyle/>
          <a:p>
            <a:pPr algn="l" indent="0" marL="0">
              <a:buNone/>
            </a:pPr>
            <a:endParaRPr lang="en-US" sz="1150" dirty="0"/>
          </a:p>
        </p:txBody>
      </p:sp>
      <p:sp>
        <p:nvSpPr>
          <p:cNvPr id="37" name="Text 34"/>
          <p:cNvSpPr/>
          <p:nvPr/>
        </p:nvSpPr>
        <p:spPr>
          <a:xfrm>
            <a:off x="4553712" y="5029200"/>
            <a:ext cx="3108960" cy="5943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más con recalibración en línea,</a:t>
            </a:r>
            <a:endParaRPr lang="en-US" sz="1150" dirty="0"/>
          </a:p>
          <a:p>
            <a:pPr indent="0" marL="0">
              <a:buNone/>
            </a:pPr>
            <a:r>
              <a:rPr lang="en-US" sz="1150" dirty="0">
                <a:solidFill>
                  <a:srgbClr val="5D6E7E"/>
                </a:solidFill>
                <a:latin typeface="Calibri" pitchFamily="34" charset="0"/>
                <a:ea typeface="Calibri" pitchFamily="34" charset="-122"/>
                <a:cs typeface="Calibri" pitchFamily="34" charset="-120"/>
              </a:rPr>
              <a:t>concentrados en 5 sujetos con deriva</a:t>
            </a:r>
            <a:endParaRPr lang="en-US" sz="1150" dirty="0"/>
          </a:p>
        </p:txBody>
      </p:sp>
      <p:sp>
        <p:nvSpPr>
          <p:cNvPr id="38" name="Shape 35"/>
          <p:cNvSpPr/>
          <p:nvPr/>
        </p:nvSpPr>
        <p:spPr>
          <a:xfrm>
            <a:off x="8046720" y="4343400"/>
            <a:ext cx="3566160" cy="1371600"/>
          </a:xfrm>
          <a:prstGeom prst="roundRect">
            <a:avLst>
              <a:gd name="adj" fmla="val 4000"/>
            </a:avLst>
          </a:prstGeom>
          <a:solidFill>
            <a:srgbClr val="F1F5F8"/>
          </a:solidFill>
          <a:ln w="12700">
            <a:solidFill>
              <a:srgbClr val="D8E2EA"/>
            </a:solidFill>
            <a:prstDash val="solid"/>
          </a:ln>
        </p:spPr>
      </p:sp>
      <p:sp>
        <p:nvSpPr>
          <p:cNvPr id="39" name="Text 36"/>
          <p:cNvSpPr/>
          <p:nvPr/>
        </p:nvSpPr>
        <p:spPr>
          <a:xfrm>
            <a:off x="8302752" y="4480560"/>
            <a:ext cx="3108960" cy="566928"/>
          </a:xfrm>
          <a:prstGeom prst="rect">
            <a:avLst/>
          </a:prstGeom>
          <a:noFill/>
          <a:ln/>
        </p:spPr>
        <p:txBody>
          <a:bodyPr wrap="square" lIns="0" tIns="0" rIns="0" bIns="0" rtlCol="0" anchor="ctr"/>
          <a:lstStyle/>
          <a:p>
            <a:pPr algn="l" indent="0" marL="0">
              <a:buNone/>
            </a:pPr>
            <a:r>
              <a:rPr lang="en-US" sz="3000" b="1" dirty="0">
                <a:solidFill>
                  <a:srgbClr val="2E9E6B"/>
                </a:solidFill>
                <a:latin typeface="Cambria" pitchFamily="34" charset="0"/>
                <a:ea typeface="Cambria" pitchFamily="34" charset="-122"/>
                <a:cs typeface="Cambria" pitchFamily="34" charset="-120"/>
              </a:rPr>
              <a:t>0.76</a:t>
            </a:r>
            <a:endParaRPr lang="en-US" sz="3000" dirty="0"/>
          </a:p>
        </p:txBody>
      </p:sp>
      <p:sp>
        <p:nvSpPr>
          <p:cNvPr id="40" name="Text 37"/>
          <p:cNvSpPr/>
          <p:nvPr/>
        </p:nvSpPr>
        <p:spPr>
          <a:xfrm>
            <a:off x="8302752" y="5029200"/>
            <a:ext cx="3108960" cy="457200"/>
          </a:xfrm>
          <a:prstGeom prst="rect">
            <a:avLst/>
          </a:prstGeom>
          <a:noFill/>
          <a:ln/>
        </p:spPr>
        <p:txBody>
          <a:bodyPr wrap="square" lIns="0" tIns="0" rIns="0" bIns="0" rtlCol="0" anchor="ctr"/>
          <a:lstStyle/>
          <a:p>
            <a:pPr algn="l" indent="0" marL="0">
              <a:buNone/>
            </a:pPr>
            <a:endParaRPr lang="en-US" sz="1150" dirty="0"/>
          </a:p>
        </p:txBody>
      </p:sp>
      <p:sp>
        <p:nvSpPr>
          <p:cNvPr id="41" name="Text 38"/>
          <p:cNvSpPr/>
          <p:nvPr/>
        </p:nvSpPr>
        <p:spPr>
          <a:xfrm>
            <a:off x="8302752" y="5029200"/>
            <a:ext cx="3108960" cy="5943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en eegmat: el método transfiere</a:t>
            </a:r>
            <a:endParaRPr lang="en-US" sz="1150" dirty="0"/>
          </a:p>
          <a:p>
            <a:pPr indent="0" marL="0">
              <a:buNone/>
            </a:pPr>
            <a:r>
              <a:rPr lang="en-US" sz="1150" dirty="0">
                <a:solidFill>
                  <a:srgbClr val="5D6E7E"/>
                </a:solidFill>
                <a:latin typeface="Calibri" pitchFamily="34" charset="0"/>
                <a:ea typeface="Calibri" pitchFamily="34" charset="-122"/>
                <a:cs typeface="Calibri" pitchFamily="34" charset="-120"/>
              </a:rPr>
              <a:t>a otro equipo y otro paradigma</a:t>
            </a:r>
            <a:endParaRPr lang="en-US" sz="1150" dirty="0"/>
          </a:p>
        </p:txBody>
      </p:sp>
      <p:sp>
        <p:nvSpPr>
          <p:cNvPr id="42" name="Text 39"/>
          <p:cNvSpPr/>
          <p:nvPr/>
        </p:nvSpPr>
        <p:spPr>
          <a:xfrm>
            <a:off x="548640" y="5852160"/>
            <a:ext cx="11091672" cy="365760"/>
          </a:xfrm>
          <a:prstGeom prst="rect">
            <a:avLst/>
          </a:prstGeom>
          <a:noFill/>
          <a:ln/>
        </p:spPr>
        <p:txBody>
          <a:bodyPr wrap="square" lIns="0" tIns="0" rIns="0" bIns="0" rtlCol="0" anchor="ctr"/>
          <a:lstStyle/>
          <a:p>
            <a:pPr indent="0" marL="0">
              <a:buNone/>
            </a:pPr>
            <a:r>
              <a:rPr lang="en-US" sz="1150" i="1" dirty="0">
                <a:solidFill>
                  <a:srgbClr val="C97B21"/>
                </a:solidFill>
                <a:latin typeface="Calibri" pitchFamily="34" charset="0"/>
                <a:ea typeface="Calibri" pitchFamily="34" charset="-122"/>
                <a:cs typeface="Calibri" pitchFamily="34" charset="-120"/>
              </a:rPr>
              <a:t>La recalibración en línea no es gratis: en eegmat degrada 0.16 porque el desbalance 3:1 deja que las ventanas de tarea contaminen la línea base.</a:t>
            </a:r>
            <a:endParaRPr lang="en-US" sz="1150" dirty="0"/>
          </a:p>
        </p:txBody>
      </p:sp>
      <p:sp>
        <p:nvSpPr>
          <p:cNvPr id="43" name="Text 40"/>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44" name="Text 41"/>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DIAGNÓSTICO</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Hallazgo negativo: el nivel intermedio no existe como clase</a:t>
            </a:r>
            <a:endParaRPr lang="en-US" sz="3000" dirty="0"/>
          </a:p>
        </p:txBody>
      </p:sp>
      <p:sp>
        <p:nvSpPr>
          <p:cNvPr id="4" name="Text 2"/>
          <p:cNvSpPr/>
          <p:nvPr/>
        </p:nvSpPr>
        <p:spPr>
          <a:xfrm>
            <a:off x="548640" y="1371600"/>
            <a:ext cx="11091672" cy="365760"/>
          </a:xfrm>
          <a:prstGeom prst="rect">
            <a:avLst/>
          </a:prstGeom>
          <a:noFill/>
          <a:ln/>
        </p:spPr>
        <p:txBody>
          <a:bodyPr wrap="square" lIns="0" tIns="0" rIns="0" bIns="0" rtlCol="0" anchor="ctr"/>
          <a:lstStyle/>
          <a:p>
            <a:pPr indent="0" marL="0">
              <a:buNone/>
            </a:pPr>
            <a:r>
              <a:rPr lang="en-US" sz="1300" dirty="0">
                <a:solidFill>
                  <a:srgbClr val="5D6E7E"/>
                </a:solidFill>
                <a:latin typeface="Calibri" pitchFamily="34" charset="0"/>
                <a:ea typeface="Calibri" pitchFamily="34" charset="-122"/>
                <a:cs typeface="Calibri" pitchFamily="34" charset="-120"/>
              </a:rPr>
              <a:t>Antes de añadir capacidad al modelo, probamos si la clase intermedia forma un clúster separable en el espacio de características calibrado.</a:t>
            </a:r>
            <a:endParaRPr lang="en-US" sz="1300" dirty="0"/>
          </a:p>
        </p:txBody>
      </p:sp>
      <p:sp>
        <p:nvSpPr>
          <p:cNvPr id="5" name="Shape 3"/>
          <p:cNvSpPr/>
          <p:nvPr/>
        </p:nvSpPr>
        <p:spPr>
          <a:xfrm>
            <a:off x="548640" y="1874520"/>
            <a:ext cx="2606040" cy="1691640"/>
          </a:xfrm>
          <a:prstGeom prst="roundRect">
            <a:avLst>
              <a:gd name="adj" fmla="val 3243"/>
            </a:avLst>
          </a:prstGeom>
          <a:solidFill>
            <a:srgbClr val="F1F5F8"/>
          </a:solidFill>
          <a:ln w="12700">
            <a:solidFill>
              <a:srgbClr val="D8E2EA"/>
            </a:solidFill>
            <a:prstDash val="solid"/>
          </a:ln>
        </p:spPr>
      </p:sp>
      <p:sp>
        <p:nvSpPr>
          <p:cNvPr id="6" name="Text 4"/>
          <p:cNvSpPr/>
          <p:nvPr/>
        </p:nvSpPr>
        <p:spPr>
          <a:xfrm>
            <a:off x="777240" y="2057400"/>
            <a:ext cx="2148840" cy="566928"/>
          </a:xfrm>
          <a:prstGeom prst="rect">
            <a:avLst/>
          </a:prstGeom>
          <a:noFill/>
          <a:ln/>
        </p:spPr>
        <p:txBody>
          <a:bodyPr wrap="square" lIns="0" tIns="0" rIns="0" bIns="0" rtlCol="0" anchor="ctr"/>
          <a:lstStyle/>
          <a:p>
            <a:pPr algn="l" indent="0" marL="0">
              <a:buNone/>
            </a:pPr>
            <a:r>
              <a:rPr lang="en-US" sz="3600" b="1" dirty="0">
                <a:solidFill>
                  <a:srgbClr val="2E9E6B"/>
                </a:solidFill>
                <a:latin typeface="Cambria" pitchFamily="34" charset="0"/>
                <a:ea typeface="Cambria" pitchFamily="34" charset="-122"/>
                <a:cs typeface="Cambria" pitchFamily="34" charset="-120"/>
              </a:rPr>
              <a:t>0.72</a:t>
            </a:r>
            <a:endParaRPr lang="en-US" sz="3600" dirty="0"/>
          </a:p>
        </p:txBody>
      </p:sp>
      <p:sp>
        <p:nvSpPr>
          <p:cNvPr id="7" name="Text 5"/>
          <p:cNvSpPr/>
          <p:nvPr/>
        </p:nvSpPr>
        <p:spPr>
          <a:xfrm>
            <a:off x="777240" y="2606040"/>
            <a:ext cx="2148840" cy="457200"/>
          </a:xfrm>
          <a:prstGeom prst="rect">
            <a:avLst/>
          </a:prstGeom>
          <a:noFill/>
          <a:ln/>
        </p:spPr>
        <p:txBody>
          <a:bodyPr wrap="square" lIns="0" tIns="0" rIns="0" bIns="0" rtlCol="0" anchor="ctr"/>
          <a:lstStyle/>
          <a:p>
            <a:pPr algn="l" indent="0" marL="0">
              <a:buNone/>
            </a:pPr>
            <a:endParaRPr lang="en-US" sz="1150" dirty="0"/>
          </a:p>
        </p:txBody>
      </p:sp>
      <p:sp>
        <p:nvSpPr>
          <p:cNvPr id="8" name="Text 6"/>
          <p:cNvSpPr/>
          <p:nvPr/>
        </p:nvSpPr>
        <p:spPr>
          <a:xfrm>
            <a:off x="777240" y="2651760"/>
            <a:ext cx="2148840" cy="54864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Pureza k-NN</a:t>
            </a:r>
            <a:endParaRPr lang="en-US" sz="1200" dirty="0"/>
          </a:p>
          <a:p>
            <a:pPr indent="0" marL="0">
              <a:buNone/>
            </a:pPr>
            <a:r>
              <a:rPr lang="en-US" sz="1200" dirty="0">
                <a:solidFill>
                  <a:srgbClr val="1B2733"/>
                </a:solidFill>
                <a:latin typeface="Calibri" pitchFamily="34" charset="0"/>
                <a:ea typeface="Calibri" pitchFamily="34" charset="-122"/>
                <a:cs typeface="Calibri" pitchFamily="34" charset="-120"/>
              </a:rPr>
              <a:t>clase reposo</a:t>
            </a:r>
            <a:endParaRPr lang="en-US" sz="1200" dirty="0"/>
          </a:p>
        </p:txBody>
      </p:sp>
      <p:sp>
        <p:nvSpPr>
          <p:cNvPr id="9" name="Text 7"/>
          <p:cNvSpPr/>
          <p:nvPr/>
        </p:nvSpPr>
        <p:spPr>
          <a:xfrm>
            <a:off x="777240" y="3200400"/>
            <a:ext cx="2148840" cy="274320"/>
          </a:xfrm>
          <a:prstGeom prst="rect">
            <a:avLst/>
          </a:prstGeom>
          <a:noFill/>
          <a:ln/>
        </p:spPr>
        <p:txBody>
          <a:bodyPr wrap="square" lIns="0" tIns="0" rIns="0" bIns="0" rtlCol="0" anchor="ctr"/>
          <a:lstStyle/>
          <a:p>
            <a:pPr indent="0" marL="0">
              <a:buNone/>
            </a:pPr>
            <a:r>
              <a:rPr lang="en-US" sz="1100" b="1" dirty="0">
                <a:solidFill>
                  <a:srgbClr val="2E9E6B"/>
                </a:solidFill>
                <a:latin typeface="Calibri" pitchFamily="34" charset="0"/>
                <a:ea typeface="Calibri" pitchFamily="34" charset="-122"/>
                <a:cs typeface="Calibri" pitchFamily="34" charset="-120"/>
              </a:rPr>
              <a:t>Clúster claro</a:t>
            </a:r>
            <a:endParaRPr lang="en-US" sz="1100" dirty="0"/>
          </a:p>
        </p:txBody>
      </p:sp>
      <p:sp>
        <p:nvSpPr>
          <p:cNvPr id="10" name="Shape 8"/>
          <p:cNvSpPr/>
          <p:nvPr/>
        </p:nvSpPr>
        <p:spPr>
          <a:xfrm>
            <a:off x="3337560" y="1874520"/>
            <a:ext cx="2606040" cy="1691640"/>
          </a:xfrm>
          <a:prstGeom prst="roundRect">
            <a:avLst>
              <a:gd name="adj" fmla="val 3243"/>
            </a:avLst>
          </a:prstGeom>
          <a:solidFill>
            <a:srgbClr val="F1F5F8"/>
          </a:solidFill>
          <a:ln w="12700">
            <a:solidFill>
              <a:srgbClr val="D8E2EA"/>
            </a:solidFill>
            <a:prstDash val="solid"/>
          </a:ln>
        </p:spPr>
      </p:sp>
      <p:sp>
        <p:nvSpPr>
          <p:cNvPr id="11" name="Text 9"/>
          <p:cNvSpPr/>
          <p:nvPr/>
        </p:nvSpPr>
        <p:spPr>
          <a:xfrm>
            <a:off x="3566160" y="2057400"/>
            <a:ext cx="2148840" cy="566928"/>
          </a:xfrm>
          <a:prstGeom prst="rect">
            <a:avLst/>
          </a:prstGeom>
          <a:noFill/>
          <a:ln/>
        </p:spPr>
        <p:txBody>
          <a:bodyPr wrap="square" lIns="0" tIns="0" rIns="0" bIns="0" rtlCol="0" anchor="ctr"/>
          <a:lstStyle/>
          <a:p>
            <a:pPr algn="l" indent="0" marL="0">
              <a:buNone/>
            </a:pPr>
            <a:r>
              <a:rPr lang="en-US" sz="3600" b="1" dirty="0">
                <a:solidFill>
                  <a:srgbClr val="1391B5"/>
                </a:solidFill>
                <a:latin typeface="Cambria" pitchFamily="34" charset="0"/>
                <a:ea typeface="Cambria" pitchFamily="34" charset="-122"/>
                <a:cs typeface="Cambria" pitchFamily="34" charset="-120"/>
              </a:rPr>
              <a:t>0.64</a:t>
            </a:r>
            <a:endParaRPr lang="en-US" sz="3600" dirty="0"/>
          </a:p>
        </p:txBody>
      </p:sp>
      <p:sp>
        <p:nvSpPr>
          <p:cNvPr id="12" name="Text 10"/>
          <p:cNvSpPr/>
          <p:nvPr/>
        </p:nvSpPr>
        <p:spPr>
          <a:xfrm>
            <a:off x="3566160" y="2606040"/>
            <a:ext cx="2148840" cy="457200"/>
          </a:xfrm>
          <a:prstGeom prst="rect">
            <a:avLst/>
          </a:prstGeom>
          <a:noFill/>
          <a:ln/>
        </p:spPr>
        <p:txBody>
          <a:bodyPr wrap="square" lIns="0" tIns="0" rIns="0" bIns="0" rtlCol="0" anchor="ctr"/>
          <a:lstStyle/>
          <a:p>
            <a:pPr algn="l" indent="0" marL="0">
              <a:buNone/>
            </a:pPr>
            <a:endParaRPr lang="en-US" sz="1150" dirty="0"/>
          </a:p>
        </p:txBody>
      </p:sp>
      <p:sp>
        <p:nvSpPr>
          <p:cNvPr id="13" name="Text 11"/>
          <p:cNvSpPr/>
          <p:nvPr/>
        </p:nvSpPr>
        <p:spPr>
          <a:xfrm>
            <a:off x="3566160" y="2651760"/>
            <a:ext cx="2148840" cy="54864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Pureza k-NN</a:t>
            </a:r>
            <a:endParaRPr lang="en-US" sz="1200" dirty="0"/>
          </a:p>
          <a:p>
            <a:pPr indent="0" marL="0">
              <a:buNone/>
            </a:pPr>
            <a:r>
              <a:rPr lang="en-US" sz="1200" dirty="0">
                <a:solidFill>
                  <a:srgbClr val="1B2733"/>
                </a:solidFill>
                <a:latin typeface="Calibri" pitchFamily="34" charset="0"/>
                <a:ea typeface="Calibri" pitchFamily="34" charset="-122"/>
                <a:cs typeface="Calibri" pitchFamily="34" charset="-120"/>
              </a:rPr>
              <a:t>clase alta</a:t>
            </a:r>
            <a:endParaRPr lang="en-US" sz="1200" dirty="0"/>
          </a:p>
        </p:txBody>
      </p:sp>
      <p:sp>
        <p:nvSpPr>
          <p:cNvPr id="14" name="Text 12"/>
          <p:cNvSpPr/>
          <p:nvPr/>
        </p:nvSpPr>
        <p:spPr>
          <a:xfrm>
            <a:off x="3566160" y="3200400"/>
            <a:ext cx="2148840" cy="274320"/>
          </a:xfrm>
          <a:prstGeom prst="rect">
            <a:avLst/>
          </a:prstGeom>
          <a:noFill/>
          <a:ln/>
        </p:spPr>
        <p:txBody>
          <a:bodyPr wrap="square" lIns="0" tIns="0" rIns="0" bIns="0" rtlCol="0" anchor="ctr"/>
          <a:lstStyle/>
          <a:p>
            <a:pPr indent="0" marL="0">
              <a:buNone/>
            </a:pPr>
            <a:r>
              <a:rPr lang="en-US" sz="1100" b="1" dirty="0">
                <a:solidFill>
                  <a:srgbClr val="1391B5"/>
                </a:solidFill>
                <a:latin typeface="Calibri" pitchFamily="34" charset="0"/>
                <a:ea typeface="Calibri" pitchFamily="34" charset="-122"/>
                <a:cs typeface="Calibri" pitchFamily="34" charset="-120"/>
              </a:rPr>
              <a:t>Clúster moderado</a:t>
            </a:r>
            <a:endParaRPr lang="en-US" sz="1100" dirty="0"/>
          </a:p>
        </p:txBody>
      </p:sp>
      <p:sp>
        <p:nvSpPr>
          <p:cNvPr id="15" name="Shape 13"/>
          <p:cNvSpPr/>
          <p:nvPr/>
        </p:nvSpPr>
        <p:spPr>
          <a:xfrm>
            <a:off x="6126480" y="1874520"/>
            <a:ext cx="2606040" cy="1691640"/>
          </a:xfrm>
          <a:prstGeom prst="roundRect">
            <a:avLst>
              <a:gd name="adj" fmla="val 3243"/>
            </a:avLst>
          </a:prstGeom>
          <a:solidFill>
            <a:srgbClr val="F1F5F8"/>
          </a:solidFill>
          <a:ln w="12700">
            <a:solidFill>
              <a:srgbClr val="D8E2EA"/>
            </a:solidFill>
            <a:prstDash val="solid"/>
          </a:ln>
        </p:spPr>
      </p:sp>
      <p:sp>
        <p:nvSpPr>
          <p:cNvPr id="16" name="Text 14"/>
          <p:cNvSpPr/>
          <p:nvPr/>
        </p:nvSpPr>
        <p:spPr>
          <a:xfrm>
            <a:off x="6355080" y="2057400"/>
            <a:ext cx="2148840" cy="566928"/>
          </a:xfrm>
          <a:prstGeom prst="rect">
            <a:avLst/>
          </a:prstGeom>
          <a:noFill/>
          <a:ln/>
        </p:spPr>
        <p:txBody>
          <a:bodyPr wrap="square" lIns="0" tIns="0" rIns="0" bIns="0" rtlCol="0" anchor="ctr"/>
          <a:lstStyle/>
          <a:p>
            <a:pPr algn="l" indent="0" marL="0">
              <a:buNone/>
            </a:pPr>
            <a:r>
              <a:rPr lang="en-US" sz="3600" b="1" dirty="0">
                <a:solidFill>
                  <a:srgbClr val="B8453B"/>
                </a:solidFill>
                <a:latin typeface="Cambria" pitchFamily="34" charset="0"/>
                <a:ea typeface="Cambria" pitchFamily="34" charset="-122"/>
                <a:cs typeface="Cambria" pitchFamily="34" charset="-120"/>
              </a:rPr>
              <a:t>0.28</a:t>
            </a:r>
            <a:endParaRPr lang="en-US" sz="3600" dirty="0"/>
          </a:p>
        </p:txBody>
      </p:sp>
      <p:sp>
        <p:nvSpPr>
          <p:cNvPr id="17" name="Text 15"/>
          <p:cNvSpPr/>
          <p:nvPr/>
        </p:nvSpPr>
        <p:spPr>
          <a:xfrm>
            <a:off x="6355080" y="2606040"/>
            <a:ext cx="2148840" cy="457200"/>
          </a:xfrm>
          <a:prstGeom prst="rect">
            <a:avLst/>
          </a:prstGeom>
          <a:noFill/>
          <a:ln/>
        </p:spPr>
        <p:txBody>
          <a:bodyPr wrap="square" lIns="0" tIns="0" rIns="0" bIns="0" rtlCol="0" anchor="ctr"/>
          <a:lstStyle/>
          <a:p>
            <a:pPr algn="l" indent="0" marL="0">
              <a:buNone/>
            </a:pPr>
            <a:endParaRPr lang="en-US" sz="1150" dirty="0"/>
          </a:p>
        </p:txBody>
      </p:sp>
      <p:sp>
        <p:nvSpPr>
          <p:cNvPr id="18" name="Text 16"/>
          <p:cNvSpPr/>
          <p:nvPr/>
        </p:nvSpPr>
        <p:spPr>
          <a:xfrm>
            <a:off x="6355080" y="2651760"/>
            <a:ext cx="2148840" cy="54864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Pureza k-NN</a:t>
            </a:r>
            <a:endParaRPr lang="en-US" sz="1200" dirty="0"/>
          </a:p>
          <a:p>
            <a:pPr indent="0" marL="0">
              <a:buNone/>
            </a:pPr>
            <a:r>
              <a:rPr lang="en-US" sz="1200" dirty="0">
                <a:solidFill>
                  <a:srgbClr val="1B2733"/>
                </a:solidFill>
                <a:latin typeface="Calibri" pitchFamily="34" charset="0"/>
                <a:ea typeface="Calibri" pitchFamily="34" charset="-122"/>
                <a:cs typeface="Calibri" pitchFamily="34" charset="-120"/>
              </a:rPr>
              <a:t>clase intermedia</a:t>
            </a:r>
            <a:endParaRPr lang="en-US" sz="1200" dirty="0"/>
          </a:p>
        </p:txBody>
      </p:sp>
      <p:sp>
        <p:nvSpPr>
          <p:cNvPr id="19" name="Text 17"/>
          <p:cNvSpPr/>
          <p:nvPr/>
        </p:nvSpPr>
        <p:spPr>
          <a:xfrm>
            <a:off x="6355080" y="3200400"/>
            <a:ext cx="2148840" cy="274320"/>
          </a:xfrm>
          <a:prstGeom prst="rect">
            <a:avLst/>
          </a:prstGeom>
          <a:noFill/>
          <a:ln/>
        </p:spPr>
        <p:txBody>
          <a:bodyPr wrap="square" lIns="0" tIns="0" rIns="0" bIns="0" rtlCol="0" anchor="ctr"/>
          <a:lstStyle/>
          <a:p>
            <a:pPr indent="0" marL="0">
              <a:buNone/>
            </a:pPr>
            <a:r>
              <a:rPr lang="en-US" sz="1100" b="1" dirty="0">
                <a:solidFill>
                  <a:srgbClr val="B8453B"/>
                </a:solidFill>
                <a:latin typeface="Calibri" pitchFamily="34" charset="0"/>
                <a:ea typeface="Calibri" pitchFamily="34" charset="-122"/>
                <a:cs typeface="Calibri" pitchFamily="34" charset="-120"/>
              </a:rPr>
              <a:t>Se disuelve</a:t>
            </a:r>
            <a:endParaRPr lang="en-US" sz="1100" dirty="0"/>
          </a:p>
        </p:txBody>
      </p:sp>
      <p:sp>
        <p:nvSpPr>
          <p:cNvPr id="20" name="Shape 18"/>
          <p:cNvSpPr/>
          <p:nvPr/>
        </p:nvSpPr>
        <p:spPr>
          <a:xfrm>
            <a:off x="8915400" y="1874520"/>
            <a:ext cx="2724912" cy="1691640"/>
          </a:xfrm>
          <a:prstGeom prst="roundRect">
            <a:avLst>
              <a:gd name="adj" fmla="val 3243"/>
            </a:avLst>
          </a:prstGeom>
          <a:solidFill>
            <a:srgbClr val="0E1D33"/>
          </a:solidFill>
          <a:ln w="12700">
            <a:solidFill>
              <a:srgbClr val="0E1D33"/>
            </a:solidFill>
            <a:prstDash val="solid"/>
          </a:ln>
        </p:spPr>
      </p:sp>
      <p:sp>
        <p:nvSpPr>
          <p:cNvPr id="21" name="Text 19"/>
          <p:cNvSpPr/>
          <p:nvPr/>
        </p:nvSpPr>
        <p:spPr>
          <a:xfrm>
            <a:off x="9144000" y="2029968"/>
            <a:ext cx="2286000" cy="274320"/>
          </a:xfrm>
          <a:prstGeom prst="rect">
            <a:avLst/>
          </a:prstGeom>
          <a:noFill/>
          <a:ln/>
        </p:spPr>
        <p:txBody>
          <a:bodyPr wrap="square" lIns="0" tIns="0" rIns="0" bIns="0" rtlCol="0" anchor="ctr"/>
          <a:lstStyle/>
          <a:p>
            <a:pPr indent="0" marL="0">
              <a:buNone/>
            </a:pPr>
            <a:r>
              <a:rPr lang="en-US" sz="1250" b="1" dirty="0">
                <a:solidFill>
                  <a:srgbClr val="1391B5"/>
                </a:solidFill>
                <a:latin typeface="Calibri" pitchFamily="34" charset="0"/>
                <a:ea typeface="Calibri" pitchFamily="34" charset="-122"/>
                <a:cs typeface="Calibri" pitchFamily="34" charset="-120"/>
              </a:rPr>
              <a:t>PERMANOVA</a:t>
            </a:r>
            <a:endParaRPr lang="en-US" sz="1250" dirty="0"/>
          </a:p>
        </p:txBody>
      </p:sp>
      <p:sp>
        <p:nvSpPr>
          <p:cNvPr id="22" name="Text 20"/>
          <p:cNvSpPr/>
          <p:nvPr/>
        </p:nvSpPr>
        <p:spPr>
          <a:xfrm>
            <a:off x="9144000" y="2377440"/>
            <a:ext cx="2286000" cy="1097280"/>
          </a:xfrm>
          <a:prstGeom prst="rect">
            <a:avLst/>
          </a:prstGeom>
          <a:noFill/>
          <a:ln/>
        </p:spPr>
        <p:txBody>
          <a:bodyPr wrap="square" lIns="0" tIns="0" rIns="0" bIns="0" rtlCol="0" anchor="ctr"/>
          <a:lstStyle/>
          <a:p>
            <a:pPr indent="0" marL="0">
              <a:lnSpc>
                <a:spcPts val="1600"/>
              </a:lnSpc>
              <a:buNone/>
            </a:pPr>
            <a:r>
              <a:rPr lang="en-US" sz="1100" dirty="0">
                <a:solidFill>
                  <a:srgbClr val="AFC6D6"/>
                </a:solidFill>
                <a:latin typeface="Calibri" pitchFamily="34" charset="0"/>
                <a:ea typeface="Calibri" pitchFamily="34" charset="-122"/>
                <a:cs typeface="Calibri" pitchFamily="34" charset="-120"/>
              </a:rPr>
              <a:t>3 clases (con reposo)
</a:t>
            </a:r>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F = 26.5,  p &lt; 0.001
</a:t>
            </a:r>
            <a:pPr indent="0" marL="0">
              <a:lnSpc>
                <a:spcPts val="1600"/>
              </a:lnSpc>
              <a:buNone/>
            </a:pPr>
            <a:r>
              <a:rPr lang="en-US" sz="1100" dirty="0">
                <a:solidFill>
                  <a:srgbClr val="AFC6D6"/>
                </a:solidFill>
                <a:latin typeface="Calibri" pitchFamily="34" charset="0"/>
                <a:ea typeface="Calibri" pitchFamily="34" charset="-122"/>
                <a:cs typeface="Calibri" pitchFamily="34" charset="-120"/>
              </a:rPr>
              <a:t>intermedia vs alta
</a:t>
            </a:r>
            <a:pPr indent="0" marL="0">
              <a:lnSpc>
                <a:spcPts val="1600"/>
              </a:lnSpc>
              <a:buNone/>
            </a:pPr>
            <a:r>
              <a:rPr lang="en-US" sz="1300" b="1" dirty="0">
                <a:solidFill>
                  <a:srgbClr val="F0B7B0"/>
                </a:solidFill>
                <a:latin typeface="Calibri" pitchFamily="34" charset="0"/>
                <a:ea typeface="Calibri" pitchFamily="34" charset="-122"/>
                <a:cs typeface="Calibri" pitchFamily="34" charset="-120"/>
              </a:rPr>
              <a:t>F = 1.18,  p = 0.30</a:t>
            </a:r>
            <a:endParaRPr lang="en-US" sz="1100" dirty="0"/>
          </a:p>
        </p:txBody>
      </p:sp>
      <p:sp>
        <p:nvSpPr>
          <p:cNvPr id="23" name="Shape 21"/>
          <p:cNvSpPr/>
          <p:nvPr/>
        </p:nvSpPr>
        <p:spPr>
          <a:xfrm>
            <a:off x="548640" y="3794760"/>
            <a:ext cx="5486400" cy="1965960"/>
          </a:xfrm>
          <a:prstGeom prst="roundRect">
            <a:avLst>
              <a:gd name="adj" fmla="val 2791"/>
            </a:avLst>
          </a:prstGeom>
          <a:solidFill>
            <a:srgbClr val="FDF3F2"/>
          </a:solidFill>
          <a:ln w="12700">
            <a:solidFill>
              <a:srgbClr val="F0CFCB"/>
            </a:solidFill>
            <a:prstDash val="solid"/>
          </a:ln>
        </p:spPr>
      </p:sp>
      <p:sp>
        <p:nvSpPr>
          <p:cNvPr id="24" name="Text 22"/>
          <p:cNvSpPr/>
          <p:nvPr/>
        </p:nvSpPr>
        <p:spPr>
          <a:xfrm>
            <a:off x="777240" y="3950208"/>
            <a:ext cx="5029200" cy="274320"/>
          </a:xfrm>
          <a:prstGeom prst="rect">
            <a:avLst/>
          </a:prstGeom>
          <a:noFill/>
          <a:ln/>
        </p:spPr>
        <p:txBody>
          <a:bodyPr wrap="square" lIns="0" tIns="0" rIns="0" bIns="0" rtlCol="0" anchor="ctr"/>
          <a:lstStyle/>
          <a:p>
            <a:pPr indent="0" marL="0">
              <a:buNone/>
            </a:pPr>
            <a:r>
              <a:rPr lang="en-US" sz="1400" b="1" dirty="0">
                <a:solidFill>
                  <a:srgbClr val="B8453B"/>
                </a:solidFill>
                <a:latin typeface="Calibri" pitchFamily="34" charset="0"/>
                <a:ea typeface="Calibri" pitchFamily="34" charset="-122"/>
                <a:cs typeface="Calibri" pitchFamily="34" charset="-120"/>
              </a:rPr>
              <a:t>Lo que esto significa</a:t>
            </a:r>
            <a:endParaRPr lang="en-US" sz="1400" dirty="0"/>
          </a:p>
        </p:txBody>
      </p:sp>
      <p:sp>
        <p:nvSpPr>
          <p:cNvPr id="25" name="Text 23"/>
          <p:cNvSpPr/>
          <p:nvPr/>
        </p:nvSpPr>
        <p:spPr>
          <a:xfrm>
            <a:off x="777240" y="4315968"/>
            <a:ext cx="5029200" cy="12801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No es un fallo del clasificador: es la estructura de clases.</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Con features espectrales estándar, la carga media es indistinguible de la alta.</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Añadir capacidad (CNN+LSTM) solo colapsa a la clase mayoritaria.</a:t>
            </a:r>
            <a:endParaRPr lang="en-US" sz="1250" dirty="0"/>
          </a:p>
        </p:txBody>
      </p:sp>
      <p:sp>
        <p:nvSpPr>
          <p:cNvPr id="26" name="Shape 24"/>
          <p:cNvSpPr/>
          <p:nvPr/>
        </p:nvSpPr>
        <p:spPr>
          <a:xfrm>
            <a:off x="6309360" y="3794760"/>
            <a:ext cx="5330952" cy="1965960"/>
          </a:xfrm>
          <a:prstGeom prst="roundRect">
            <a:avLst>
              <a:gd name="adj" fmla="val 2791"/>
            </a:avLst>
          </a:prstGeom>
          <a:solidFill>
            <a:srgbClr val="EEF7F1"/>
          </a:solidFill>
          <a:ln w="12700">
            <a:solidFill>
              <a:srgbClr val="C9E4D5"/>
            </a:solidFill>
            <a:prstDash val="solid"/>
          </a:ln>
        </p:spPr>
      </p:sp>
      <p:sp>
        <p:nvSpPr>
          <p:cNvPr id="27" name="Text 25"/>
          <p:cNvSpPr/>
          <p:nvPr/>
        </p:nvSpPr>
        <p:spPr>
          <a:xfrm>
            <a:off x="6537960" y="3950208"/>
            <a:ext cx="4846320" cy="274320"/>
          </a:xfrm>
          <a:prstGeom prst="rect">
            <a:avLst/>
          </a:prstGeom>
          <a:noFill/>
          <a:ln/>
        </p:spPr>
        <p:txBody>
          <a:bodyPr wrap="square" lIns="0" tIns="0" rIns="0" bIns="0" rtlCol="0" anchor="ctr"/>
          <a:lstStyle/>
          <a:p>
            <a:pPr indent="0" marL="0">
              <a:buNone/>
            </a:pPr>
            <a:r>
              <a:rPr lang="en-US" sz="1400" b="1" dirty="0">
                <a:solidFill>
                  <a:srgbClr val="2E9E6B"/>
                </a:solidFill>
                <a:latin typeface="Calibri" pitchFamily="34" charset="0"/>
                <a:ea typeface="Calibri" pitchFamily="34" charset="-122"/>
                <a:cs typeface="Calibri" pitchFamily="34" charset="-120"/>
              </a:rPr>
              <a:t>Cómo lo resolvemos</a:t>
            </a:r>
            <a:endParaRPr lang="en-US" sz="1400" dirty="0"/>
          </a:p>
        </p:txBody>
      </p:sp>
      <p:sp>
        <p:nvSpPr>
          <p:cNvPr id="28" name="Text 26"/>
          <p:cNvSpPr/>
          <p:nvPr/>
        </p:nvSpPr>
        <p:spPr>
          <a:xfrm>
            <a:off x="6537960" y="4315968"/>
            <a:ext cx="4846320" cy="12801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Reformular a una puntuación ordinal continua (no clases duras).</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Reagrupar en tres zonas operativas Yerkes–Dodson: baja / óptima / alta.</a:t>
            </a:r>
            <a:endParaRPr lang="en-US" sz="1250" dirty="0"/>
          </a:p>
          <a:p>
            <a:pPr marL="342900" indent="-342900">
              <a:spcAft>
                <a:spcPts val="700"/>
              </a:spcAft>
              <a:buSzPct val="100000"/>
              <a:buChar char="•"/>
            </a:pPr>
            <a:r>
              <a:rPr lang="en-US" sz="1250" dirty="0">
                <a:solidFill>
                  <a:srgbClr val="1B2733"/>
                </a:solidFill>
                <a:latin typeface="Calibri" pitchFamily="34" charset="0"/>
                <a:ea typeface="Calibri" pitchFamily="34" charset="-122"/>
                <a:cs typeface="Calibri" pitchFamily="34" charset="-120"/>
              </a:rPr>
              <a:t>Reportarlo como resultado negativo publicable, no esconderlo.</a:t>
            </a:r>
            <a:endParaRPr lang="en-US" sz="1250" dirty="0"/>
          </a:p>
        </p:txBody>
      </p:sp>
      <p:sp>
        <p:nvSpPr>
          <p:cNvPr id="29" name="Text 27"/>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30" name="Text 28"/>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REFORMULACIÓN · YERKES–DODSON</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Escala ordinal y tres zonas operativas</a:t>
            </a:r>
            <a:endParaRPr lang="en-US" sz="3000" dirty="0"/>
          </a:p>
        </p:txBody>
      </p:sp>
      <p:sp>
        <p:nvSpPr>
          <p:cNvPr id="4" name="Shape 2"/>
          <p:cNvSpPr/>
          <p:nvPr/>
        </p:nvSpPr>
        <p:spPr>
          <a:xfrm>
            <a:off x="548640" y="1417320"/>
            <a:ext cx="5074920" cy="1828800"/>
          </a:xfrm>
          <a:prstGeom prst="roundRect">
            <a:avLst>
              <a:gd name="adj" fmla="val 3000"/>
            </a:avLst>
          </a:prstGeom>
          <a:solidFill>
            <a:srgbClr val="F1F5F8"/>
          </a:solidFill>
          <a:ln w="12700">
            <a:solidFill>
              <a:srgbClr val="D8E2EA"/>
            </a:solidFill>
            <a:prstDash val="solid"/>
          </a:ln>
        </p:spPr>
      </p:sp>
      <p:sp>
        <p:nvSpPr>
          <p:cNvPr id="5" name="Text 3"/>
          <p:cNvSpPr/>
          <p:nvPr/>
        </p:nvSpPr>
        <p:spPr>
          <a:xfrm>
            <a:off x="777240" y="1554480"/>
            <a:ext cx="4572000" cy="274320"/>
          </a:xfrm>
          <a:prstGeom prst="rect">
            <a:avLst/>
          </a:prstGeom>
          <a:noFill/>
          <a:ln/>
        </p:spPr>
        <p:txBody>
          <a:bodyPr wrap="square" lIns="0" tIns="0" rIns="0" bIns="0" rtlCol="0" anchor="ctr"/>
          <a:lstStyle/>
          <a:p>
            <a:pPr indent="0" marL="0">
              <a:buNone/>
            </a:pPr>
            <a:r>
              <a:rPr lang="en-US" sz="1400" b="1" dirty="0">
                <a:solidFill>
                  <a:srgbClr val="0E1D33"/>
                </a:solidFill>
                <a:latin typeface="Calibri" pitchFamily="34" charset="0"/>
                <a:ea typeface="Calibri" pitchFamily="34" charset="-122"/>
                <a:cs typeface="Calibri" pitchFamily="34" charset="-120"/>
              </a:rPr>
              <a:t>Regresión ordinal (0–3)</a:t>
            </a:r>
            <a:endParaRPr lang="en-US" sz="1400" dirty="0"/>
          </a:p>
        </p:txBody>
      </p:sp>
      <p:sp>
        <p:nvSpPr>
          <p:cNvPr id="6" name="Text 4"/>
          <p:cNvSpPr/>
          <p:nvPr/>
        </p:nvSpPr>
        <p:spPr>
          <a:xfrm>
            <a:off x="777240" y="1920240"/>
            <a:ext cx="1463040" cy="32004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MAE</a:t>
            </a:r>
            <a:endParaRPr lang="en-US" sz="1250" dirty="0"/>
          </a:p>
        </p:txBody>
      </p:sp>
      <p:sp>
        <p:nvSpPr>
          <p:cNvPr id="7" name="Text 5"/>
          <p:cNvSpPr/>
          <p:nvPr/>
        </p:nvSpPr>
        <p:spPr>
          <a:xfrm>
            <a:off x="2240280" y="1920240"/>
            <a:ext cx="822960" cy="320040"/>
          </a:xfrm>
          <a:prstGeom prst="rect">
            <a:avLst/>
          </a:prstGeom>
          <a:noFill/>
          <a:ln/>
        </p:spPr>
        <p:txBody>
          <a:bodyPr wrap="square" lIns="0" tIns="0" rIns="0" bIns="0" rtlCol="0" anchor="ctr"/>
          <a:lstStyle/>
          <a:p>
            <a:pPr indent="0" marL="0">
              <a:buNone/>
            </a:pPr>
            <a:r>
              <a:rPr lang="en-US" sz="1500" b="1" dirty="0">
                <a:solidFill>
                  <a:srgbClr val="1391B5"/>
                </a:solidFill>
                <a:latin typeface="Cambria" pitchFamily="34" charset="0"/>
                <a:ea typeface="Cambria" pitchFamily="34" charset="-122"/>
                <a:cs typeface="Cambria" pitchFamily="34" charset="-120"/>
              </a:rPr>
              <a:t>0.90</a:t>
            </a:r>
            <a:endParaRPr lang="en-US" sz="1500" dirty="0"/>
          </a:p>
        </p:txBody>
      </p:sp>
      <p:sp>
        <p:nvSpPr>
          <p:cNvPr id="8" name="Text 6"/>
          <p:cNvSpPr/>
          <p:nvPr/>
        </p:nvSpPr>
        <p:spPr>
          <a:xfrm>
            <a:off x="3108960" y="1920240"/>
            <a:ext cx="2377440" cy="32004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vs 1.11 del baseline</a:t>
            </a:r>
            <a:endParaRPr lang="en-US" sz="1150" dirty="0"/>
          </a:p>
        </p:txBody>
      </p:sp>
      <p:sp>
        <p:nvSpPr>
          <p:cNvPr id="9" name="Text 7"/>
          <p:cNvSpPr/>
          <p:nvPr/>
        </p:nvSpPr>
        <p:spPr>
          <a:xfrm>
            <a:off x="777240" y="2331720"/>
            <a:ext cx="1463040" cy="32004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Spearman ρ</a:t>
            </a:r>
            <a:endParaRPr lang="en-US" sz="1250" dirty="0"/>
          </a:p>
        </p:txBody>
      </p:sp>
      <p:sp>
        <p:nvSpPr>
          <p:cNvPr id="10" name="Text 8"/>
          <p:cNvSpPr/>
          <p:nvPr/>
        </p:nvSpPr>
        <p:spPr>
          <a:xfrm>
            <a:off x="2240280" y="2331720"/>
            <a:ext cx="822960" cy="320040"/>
          </a:xfrm>
          <a:prstGeom prst="rect">
            <a:avLst/>
          </a:prstGeom>
          <a:noFill/>
          <a:ln/>
        </p:spPr>
        <p:txBody>
          <a:bodyPr wrap="square" lIns="0" tIns="0" rIns="0" bIns="0" rtlCol="0" anchor="ctr"/>
          <a:lstStyle/>
          <a:p>
            <a:pPr indent="0" marL="0">
              <a:buNone/>
            </a:pPr>
            <a:r>
              <a:rPr lang="en-US" sz="1500" b="1" dirty="0">
                <a:solidFill>
                  <a:srgbClr val="1391B5"/>
                </a:solidFill>
                <a:latin typeface="Cambria" pitchFamily="34" charset="0"/>
                <a:ea typeface="Cambria" pitchFamily="34" charset="-122"/>
                <a:cs typeface="Cambria" pitchFamily="34" charset="-120"/>
              </a:rPr>
              <a:t>+0.40</a:t>
            </a:r>
            <a:endParaRPr lang="en-US" sz="1500" dirty="0"/>
          </a:p>
        </p:txBody>
      </p:sp>
      <p:sp>
        <p:nvSpPr>
          <p:cNvPr id="11" name="Text 9"/>
          <p:cNvSpPr/>
          <p:nvPr/>
        </p:nvSpPr>
        <p:spPr>
          <a:xfrm>
            <a:off x="3108960" y="2331720"/>
            <a:ext cx="2377440" cy="32004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estable entre sujetos (±0.13)</a:t>
            </a:r>
            <a:endParaRPr lang="en-US" sz="1150" dirty="0"/>
          </a:p>
        </p:txBody>
      </p:sp>
      <p:sp>
        <p:nvSpPr>
          <p:cNvPr id="12" name="Text 10"/>
          <p:cNvSpPr/>
          <p:nvPr/>
        </p:nvSpPr>
        <p:spPr>
          <a:xfrm>
            <a:off x="777240" y="2743200"/>
            <a:ext cx="1463040" cy="32004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±1 nivel</a:t>
            </a:r>
            <a:endParaRPr lang="en-US" sz="1250" dirty="0"/>
          </a:p>
        </p:txBody>
      </p:sp>
      <p:sp>
        <p:nvSpPr>
          <p:cNvPr id="13" name="Text 11"/>
          <p:cNvSpPr/>
          <p:nvPr/>
        </p:nvSpPr>
        <p:spPr>
          <a:xfrm>
            <a:off x="2240280" y="2743200"/>
            <a:ext cx="822960" cy="320040"/>
          </a:xfrm>
          <a:prstGeom prst="rect">
            <a:avLst/>
          </a:prstGeom>
          <a:noFill/>
          <a:ln/>
        </p:spPr>
        <p:txBody>
          <a:bodyPr wrap="square" lIns="0" tIns="0" rIns="0" bIns="0" rtlCol="0" anchor="ctr"/>
          <a:lstStyle/>
          <a:p>
            <a:pPr indent="0" marL="0">
              <a:buNone/>
            </a:pPr>
            <a:r>
              <a:rPr lang="en-US" sz="1500" b="1" dirty="0">
                <a:solidFill>
                  <a:srgbClr val="1391B5"/>
                </a:solidFill>
                <a:latin typeface="Cambria" pitchFamily="34" charset="0"/>
                <a:ea typeface="Cambria" pitchFamily="34" charset="-122"/>
                <a:cs typeface="Cambria" pitchFamily="34" charset="-120"/>
              </a:rPr>
              <a:t>0.58</a:t>
            </a:r>
            <a:endParaRPr lang="en-US" sz="1500" dirty="0"/>
          </a:p>
        </p:txBody>
      </p:sp>
      <p:sp>
        <p:nvSpPr>
          <p:cNvPr id="14" name="Text 12"/>
          <p:cNvSpPr/>
          <p:nvPr/>
        </p:nvSpPr>
        <p:spPr>
          <a:xfrm>
            <a:off x="3108960" y="2743200"/>
            <a:ext cx="2377440" cy="32004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recupera el orden de la escala</a:t>
            </a:r>
            <a:endParaRPr lang="en-US" sz="1150" dirty="0"/>
          </a:p>
        </p:txBody>
      </p:sp>
      <p:pic>
        <p:nvPicPr>
          <p:cNvPr id="15" name="Image 0" descr="/private/tmp/claude-501/-Users-rafael-Documents-Proyectos-Personales-Doctorado/c74dcdf8-f3d0-4879-b253-764a4009216b/scratchpad/fig/fig6_ordinal_scatter.png">    </p:cNvPr>
          <p:cNvPicPr>
            <a:picLocks noChangeAspect="1"/>
          </p:cNvPicPr>
          <p:nvPr/>
        </p:nvPicPr>
        <p:blipFill>
          <a:blip r:embed="rId1"/>
          <a:stretch>
            <a:fillRect/>
          </a:stretch>
        </p:blipFill>
        <p:spPr>
          <a:xfrm>
            <a:off x="5943600" y="1417320"/>
            <a:ext cx="2651760" cy="1783080"/>
          </a:xfrm>
          <a:prstGeom prst="rect">
            <a:avLst/>
          </a:prstGeom>
        </p:spPr>
      </p:pic>
      <p:sp>
        <p:nvSpPr>
          <p:cNvPr id="16" name="Text 13"/>
          <p:cNvSpPr/>
          <p:nvPr/>
        </p:nvSpPr>
        <p:spPr>
          <a:xfrm>
            <a:off x="8869680" y="1600200"/>
            <a:ext cx="2770632" cy="1463040"/>
          </a:xfrm>
          <a:prstGeom prst="rect">
            <a:avLst/>
          </a:prstGeom>
          <a:noFill/>
          <a:ln/>
        </p:spPr>
        <p:txBody>
          <a:bodyPr wrap="square" lIns="0" tIns="0" rIns="0" bIns="0" rtlCol="0" anchor="ctr"/>
          <a:lstStyle/>
          <a:p>
            <a:pPr indent="0" marL="0">
              <a:buNone/>
            </a:pPr>
            <a:r>
              <a:rPr lang="en-US" sz="1200" i="1" dirty="0">
                <a:solidFill>
                  <a:srgbClr val="1B2733"/>
                </a:solidFill>
                <a:latin typeface="Calibri" pitchFamily="34" charset="0"/>
                <a:ea typeface="Calibri" pitchFamily="34" charset="-122"/>
                <a:cs typeface="Calibri" pitchFamily="34" charset="-120"/>
              </a:rPr>
              <a:t>El 0 % de recall de la clase intermedia bajo clasificación dura se convierte, con puntuación ordinal, en un índice continuo utilizable por el controlador.</a:t>
            </a:r>
            <a:endParaRPr lang="en-US" sz="1200" dirty="0"/>
          </a:p>
        </p:txBody>
      </p:sp>
      <p:sp>
        <p:nvSpPr>
          <p:cNvPr id="17" name="Text 14"/>
          <p:cNvSpPr/>
          <p:nvPr/>
        </p:nvSpPr>
        <p:spPr>
          <a:xfrm>
            <a:off x="548640" y="3319272"/>
            <a:ext cx="11091672" cy="274320"/>
          </a:xfrm>
          <a:prstGeom prst="rect">
            <a:avLst/>
          </a:prstGeom>
          <a:noFill/>
          <a:ln/>
        </p:spPr>
        <p:txBody>
          <a:bodyPr wrap="square" lIns="0" tIns="0" rIns="0" bIns="0" rtlCol="0" anchor="ctr"/>
          <a:lstStyle/>
          <a:p>
            <a:pPr indent="0" marL="0">
              <a:buNone/>
            </a:pPr>
            <a:r>
              <a:rPr lang="en-US" sz="1200" b="1" dirty="0">
                <a:solidFill>
                  <a:srgbClr val="0E1D33"/>
                </a:solidFill>
                <a:latin typeface="Calibri" pitchFamily="34" charset="0"/>
                <a:ea typeface="Calibri" pitchFamily="34" charset="-122"/>
                <a:cs typeface="Calibri" pitchFamily="34" charset="-120"/>
              </a:rPr>
              <a:t>Tres zonas operativas: baja / óptima / alta  ·  LOSO + calibración  ·  baseline por mayoría = 0.388</a:t>
            </a:r>
            <a:endParaRPr lang="en-US" sz="1200" dirty="0"/>
          </a:p>
        </p:txBody>
      </p:sp>
      <p:sp>
        <p:nvSpPr>
          <p:cNvPr id="18" name="Text 15"/>
          <p:cNvSpPr/>
          <p:nvPr/>
        </p:nvSpPr>
        <p:spPr>
          <a:xfrm>
            <a:off x="777240" y="3611880"/>
            <a:ext cx="3566160" cy="274320"/>
          </a:xfrm>
          <a:prstGeom prst="rect">
            <a:avLst/>
          </a:prstGeom>
          <a:noFill/>
          <a:ln/>
        </p:spPr>
        <p:txBody>
          <a:bodyPr wrap="square" lIns="0" tIns="0" rIns="0" bIns="0" rtlCol="0" anchor="ctr"/>
          <a:lstStyle/>
          <a:p>
            <a:pPr algn="l" indent="0" marL="0">
              <a:buNone/>
            </a:pPr>
            <a:r>
              <a:rPr lang="en-US" sz="1050" b="1" dirty="0">
                <a:solidFill>
                  <a:srgbClr val="5D6E7E"/>
                </a:solidFill>
                <a:latin typeface="Calibri" pitchFamily="34" charset="0"/>
                <a:ea typeface="Calibri" pitchFamily="34" charset="-122"/>
                <a:cs typeface="Calibri" pitchFamily="34" charset="-120"/>
              </a:rPr>
              <a:t>Método</a:t>
            </a:r>
            <a:endParaRPr lang="en-US" sz="1050" dirty="0"/>
          </a:p>
        </p:txBody>
      </p:sp>
      <p:sp>
        <p:nvSpPr>
          <p:cNvPr id="19" name="Text 16"/>
          <p:cNvSpPr/>
          <p:nvPr/>
        </p:nvSpPr>
        <p:spPr>
          <a:xfrm>
            <a:off x="4343400" y="3611880"/>
            <a:ext cx="1143000" cy="274320"/>
          </a:xfrm>
          <a:prstGeom prst="rect">
            <a:avLst/>
          </a:prstGeom>
          <a:noFill/>
          <a:ln/>
        </p:spPr>
        <p:txBody>
          <a:bodyPr wrap="square" lIns="0" tIns="0" rIns="0" bIns="0" rtlCol="0" anchor="ctr"/>
          <a:lstStyle/>
          <a:p>
            <a:pPr algn="ctr" indent="0" marL="0">
              <a:buNone/>
            </a:pPr>
            <a:r>
              <a:rPr lang="en-US" sz="1050" b="1" dirty="0">
                <a:solidFill>
                  <a:srgbClr val="5D6E7E"/>
                </a:solidFill>
                <a:latin typeface="Calibri" pitchFamily="34" charset="0"/>
                <a:ea typeface="Calibri" pitchFamily="34" charset="-122"/>
                <a:cs typeface="Calibri" pitchFamily="34" charset="-120"/>
              </a:rPr>
              <a:t>Exactitud</a:t>
            </a:r>
            <a:endParaRPr lang="en-US" sz="1050" dirty="0"/>
          </a:p>
        </p:txBody>
      </p:sp>
      <p:sp>
        <p:nvSpPr>
          <p:cNvPr id="20" name="Text 17"/>
          <p:cNvSpPr/>
          <p:nvPr/>
        </p:nvSpPr>
        <p:spPr>
          <a:xfrm>
            <a:off x="5486400" y="3611880"/>
            <a:ext cx="1143000" cy="274320"/>
          </a:xfrm>
          <a:prstGeom prst="rect">
            <a:avLst/>
          </a:prstGeom>
          <a:noFill/>
          <a:ln/>
        </p:spPr>
        <p:txBody>
          <a:bodyPr wrap="square" lIns="0" tIns="0" rIns="0" bIns="0" rtlCol="0" anchor="ctr"/>
          <a:lstStyle/>
          <a:p>
            <a:pPr algn="ctr" indent="0" marL="0">
              <a:buNone/>
            </a:pPr>
            <a:r>
              <a:rPr lang="en-US" sz="1050" b="1" dirty="0">
                <a:solidFill>
                  <a:srgbClr val="5D6E7E"/>
                </a:solidFill>
                <a:latin typeface="Calibri" pitchFamily="34" charset="0"/>
                <a:ea typeface="Calibri" pitchFamily="34" charset="-122"/>
                <a:cs typeface="Calibri" pitchFamily="34" charset="-120"/>
              </a:rPr>
              <a:t>F1 macro</a:t>
            </a:r>
            <a:endParaRPr lang="en-US" sz="1050" dirty="0"/>
          </a:p>
        </p:txBody>
      </p:sp>
      <p:sp>
        <p:nvSpPr>
          <p:cNvPr id="21" name="Text 18"/>
          <p:cNvSpPr/>
          <p:nvPr/>
        </p:nvSpPr>
        <p:spPr>
          <a:xfrm>
            <a:off x="6629400" y="3611880"/>
            <a:ext cx="1005840" cy="274320"/>
          </a:xfrm>
          <a:prstGeom prst="rect">
            <a:avLst/>
          </a:prstGeom>
          <a:noFill/>
          <a:ln/>
        </p:spPr>
        <p:txBody>
          <a:bodyPr wrap="square" lIns="0" tIns="0" rIns="0" bIns="0" rtlCol="0" anchor="ctr"/>
          <a:lstStyle/>
          <a:p>
            <a:pPr algn="ctr" indent="0" marL="0">
              <a:buNone/>
            </a:pPr>
            <a:r>
              <a:rPr lang="en-US" sz="1050" b="1" dirty="0">
                <a:solidFill>
                  <a:srgbClr val="5D6E7E"/>
                </a:solidFill>
                <a:latin typeface="Calibri" pitchFamily="34" charset="0"/>
                <a:ea typeface="Calibri" pitchFamily="34" charset="-122"/>
                <a:cs typeface="Calibri" pitchFamily="34" charset="-120"/>
              </a:rPr>
              <a:t>R(baja)</a:t>
            </a:r>
            <a:endParaRPr lang="en-US" sz="1050" dirty="0"/>
          </a:p>
        </p:txBody>
      </p:sp>
      <p:sp>
        <p:nvSpPr>
          <p:cNvPr id="22" name="Text 19"/>
          <p:cNvSpPr/>
          <p:nvPr/>
        </p:nvSpPr>
        <p:spPr>
          <a:xfrm>
            <a:off x="7635240" y="3611880"/>
            <a:ext cx="1097280" cy="274320"/>
          </a:xfrm>
          <a:prstGeom prst="rect">
            <a:avLst/>
          </a:prstGeom>
          <a:noFill/>
          <a:ln/>
        </p:spPr>
        <p:txBody>
          <a:bodyPr wrap="square" lIns="0" tIns="0" rIns="0" bIns="0" rtlCol="0" anchor="ctr"/>
          <a:lstStyle/>
          <a:p>
            <a:pPr algn="ctr" indent="0" marL="0">
              <a:buNone/>
            </a:pPr>
            <a:r>
              <a:rPr lang="en-US" sz="1050" b="1" dirty="0">
                <a:solidFill>
                  <a:srgbClr val="5D6E7E"/>
                </a:solidFill>
                <a:latin typeface="Calibri" pitchFamily="34" charset="0"/>
                <a:ea typeface="Calibri" pitchFamily="34" charset="-122"/>
                <a:cs typeface="Calibri" pitchFamily="34" charset="-120"/>
              </a:rPr>
              <a:t>R(óptima)</a:t>
            </a:r>
            <a:endParaRPr lang="en-US" sz="1050" dirty="0"/>
          </a:p>
        </p:txBody>
      </p:sp>
      <p:sp>
        <p:nvSpPr>
          <p:cNvPr id="23" name="Text 20"/>
          <p:cNvSpPr/>
          <p:nvPr/>
        </p:nvSpPr>
        <p:spPr>
          <a:xfrm>
            <a:off x="8732520" y="3611880"/>
            <a:ext cx="1005840" cy="274320"/>
          </a:xfrm>
          <a:prstGeom prst="rect">
            <a:avLst/>
          </a:prstGeom>
          <a:noFill/>
          <a:ln/>
        </p:spPr>
        <p:txBody>
          <a:bodyPr wrap="square" lIns="0" tIns="0" rIns="0" bIns="0" rtlCol="0" anchor="ctr"/>
          <a:lstStyle/>
          <a:p>
            <a:pPr algn="ctr" indent="0" marL="0">
              <a:buNone/>
            </a:pPr>
            <a:r>
              <a:rPr lang="en-US" sz="1050" b="1" dirty="0">
                <a:solidFill>
                  <a:srgbClr val="5D6E7E"/>
                </a:solidFill>
                <a:latin typeface="Calibri" pitchFamily="34" charset="0"/>
                <a:ea typeface="Calibri" pitchFamily="34" charset="-122"/>
                <a:cs typeface="Calibri" pitchFamily="34" charset="-120"/>
              </a:rPr>
              <a:t>R(alta)</a:t>
            </a:r>
            <a:endParaRPr lang="en-US" sz="1050" dirty="0"/>
          </a:p>
        </p:txBody>
      </p:sp>
      <p:sp>
        <p:nvSpPr>
          <p:cNvPr id="24" name="Text 21"/>
          <p:cNvSpPr/>
          <p:nvPr/>
        </p:nvSpPr>
        <p:spPr>
          <a:xfrm>
            <a:off x="9738360" y="3611880"/>
            <a:ext cx="1737360" cy="274320"/>
          </a:xfrm>
          <a:prstGeom prst="rect">
            <a:avLst/>
          </a:prstGeom>
          <a:noFill/>
          <a:ln/>
        </p:spPr>
        <p:txBody>
          <a:bodyPr wrap="square" lIns="0" tIns="0" rIns="0" bIns="0" rtlCol="0" anchor="ctr"/>
          <a:lstStyle/>
          <a:p>
            <a:pPr algn="ctr" indent="0" marL="0">
              <a:buNone/>
            </a:pPr>
            <a:r>
              <a:rPr lang="en-US" sz="1050" b="1" dirty="0">
                <a:solidFill>
                  <a:srgbClr val="5D6E7E"/>
                </a:solidFill>
                <a:latin typeface="Calibri" pitchFamily="34" charset="0"/>
                <a:ea typeface="Calibri" pitchFamily="34" charset="-122"/>
                <a:cs typeface="Calibri" pitchFamily="34" charset="-120"/>
              </a:rPr>
              <a:t>Exact. por sujeto</a:t>
            </a:r>
            <a:endParaRPr lang="en-US" sz="1050" dirty="0"/>
          </a:p>
        </p:txBody>
      </p:sp>
      <p:sp>
        <p:nvSpPr>
          <p:cNvPr id="25" name="Shape 22"/>
          <p:cNvSpPr/>
          <p:nvPr/>
        </p:nvSpPr>
        <p:spPr>
          <a:xfrm>
            <a:off x="548640" y="3922776"/>
            <a:ext cx="11091672" cy="420624"/>
          </a:xfrm>
          <a:prstGeom prst="roundRect">
            <a:avLst>
              <a:gd name="adj" fmla="val 13043"/>
            </a:avLst>
          </a:prstGeom>
          <a:solidFill>
            <a:srgbClr val="F1F5F8"/>
          </a:solidFill>
          <a:ln w="12700">
            <a:solidFill>
              <a:srgbClr val="E2EAF0"/>
            </a:solidFill>
            <a:prstDash val="solid"/>
          </a:ln>
        </p:spPr>
      </p:sp>
      <p:sp>
        <p:nvSpPr>
          <p:cNvPr id="26" name="Text 23"/>
          <p:cNvSpPr/>
          <p:nvPr/>
        </p:nvSpPr>
        <p:spPr>
          <a:xfrm>
            <a:off x="777240" y="3922776"/>
            <a:ext cx="3566160" cy="420624"/>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Ordinal HGB → bins</a:t>
            </a:r>
            <a:endParaRPr lang="en-US" sz="1200" dirty="0"/>
          </a:p>
        </p:txBody>
      </p:sp>
      <p:sp>
        <p:nvSpPr>
          <p:cNvPr id="27" name="Text 24"/>
          <p:cNvSpPr/>
          <p:nvPr/>
        </p:nvSpPr>
        <p:spPr>
          <a:xfrm>
            <a:off x="4343400" y="3922776"/>
            <a:ext cx="114300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0.510</a:t>
            </a:r>
            <a:endParaRPr lang="en-US" sz="1200" dirty="0"/>
          </a:p>
        </p:txBody>
      </p:sp>
      <p:sp>
        <p:nvSpPr>
          <p:cNvPr id="28" name="Text 25"/>
          <p:cNvSpPr/>
          <p:nvPr/>
        </p:nvSpPr>
        <p:spPr>
          <a:xfrm>
            <a:off x="5486400" y="3922776"/>
            <a:ext cx="114300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0.424</a:t>
            </a:r>
            <a:endParaRPr lang="en-US" sz="1200" dirty="0"/>
          </a:p>
        </p:txBody>
      </p:sp>
      <p:sp>
        <p:nvSpPr>
          <p:cNvPr id="29" name="Text 26"/>
          <p:cNvSpPr/>
          <p:nvPr/>
        </p:nvSpPr>
        <p:spPr>
          <a:xfrm>
            <a:off x="6629400" y="3922776"/>
            <a:ext cx="100584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0.59</a:t>
            </a:r>
            <a:endParaRPr lang="en-US" sz="1200" dirty="0"/>
          </a:p>
        </p:txBody>
      </p:sp>
      <p:sp>
        <p:nvSpPr>
          <p:cNvPr id="30" name="Text 27"/>
          <p:cNvSpPr/>
          <p:nvPr/>
        </p:nvSpPr>
        <p:spPr>
          <a:xfrm>
            <a:off x="7635240" y="3922776"/>
            <a:ext cx="109728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0.81</a:t>
            </a:r>
            <a:endParaRPr lang="en-US" sz="1200" dirty="0"/>
          </a:p>
        </p:txBody>
      </p:sp>
      <p:sp>
        <p:nvSpPr>
          <p:cNvPr id="31" name="Text 28"/>
          <p:cNvSpPr/>
          <p:nvPr/>
        </p:nvSpPr>
        <p:spPr>
          <a:xfrm>
            <a:off x="8732520" y="3922776"/>
            <a:ext cx="100584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0.04</a:t>
            </a:r>
            <a:endParaRPr lang="en-US" sz="1200" dirty="0"/>
          </a:p>
        </p:txBody>
      </p:sp>
      <p:sp>
        <p:nvSpPr>
          <p:cNvPr id="32" name="Text 29"/>
          <p:cNvSpPr/>
          <p:nvPr/>
        </p:nvSpPr>
        <p:spPr>
          <a:xfrm>
            <a:off x="9738360" y="3922776"/>
            <a:ext cx="173736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0.512</a:t>
            </a:r>
            <a:endParaRPr lang="en-US" sz="1200" dirty="0"/>
          </a:p>
        </p:txBody>
      </p:sp>
      <p:sp>
        <p:nvSpPr>
          <p:cNvPr id="33" name="Shape 30"/>
          <p:cNvSpPr/>
          <p:nvPr/>
        </p:nvSpPr>
        <p:spPr>
          <a:xfrm>
            <a:off x="548640" y="4379976"/>
            <a:ext cx="11091672" cy="420624"/>
          </a:xfrm>
          <a:prstGeom prst="roundRect">
            <a:avLst>
              <a:gd name="adj" fmla="val 13043"/>
            </a:avLst>
          </a:prstGeom>
          <a:solidFill>
            <a:srgbClr val="F7FAFC"/>
          </a:solidFill>
          <a:ln w="12700">
            <a:solidFill>
              <a:srgbClr val="E2EAF0"/>
            </a:solidFill>
            <a:prstDash val="solid"/>
          </a:ln>
        </p:spPr>
      </p:sp>
      <p:sp>
        <p:nvSpPr>
          <p:cNvPr id="34" name="Text 31"/>
          <p:cNvSpPr/>
          <p:nvPr/>
        </p:nvSpPr>
        <p:spPr>
          <a:xfrm>
            <a:off x="777240" y="4379976"/>
            <a:ext cx="3566160" cy="420624"/>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Random Forest balanceado</a:t>
            </a:r>
            <a:endParaRPr lang="en-US" sz="1200" dirty="0"/>
          </a:p>
        </p:txBody>
      </p:sp>
      <p:sp>
        <p:nvSpPr>
          <p:cNvPr id="35" name="Text 32"/>
          <p:cNvSpPr/>
          <p:nvPr/>
        </p:nvSpPr>
        <p:spPr>
          <a:xfrm>
            <a:off x="4343400" y="4379976"/>
            <a:ext cx="114300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0.508</a:t>
            </a:r>
            <a:endParaRPr lang="en-US" sz="1200" dirty="0"/>
          </a:p>
        </p:txBody>
      </p:sp>
      <p:sp>
        <p:nvSpPr>
          <p:cNvPr id="36" name="Text 33"/>
          <p:cNvSpPr/>
          <p:nvPr/>
        </p:nvSpPr>
        <p:spPr>
          <a:xfrm>
            <a:off x="5486400" y="4379976"/>
            <a:ext cx="114300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0.464</a:t>
            </a:r>
            <a:endParaRPr lang="en-US" sz="1200" dirty="0"/>
          </a:p>
        </p:txBody>
      </p:sp>
      <p:sp>
        <p:nvSpPr>
          <p:cNvPr id="37" name="Text 34"/>
          <p:cNvSpPr/>
          <p:nvPr/>
        </p:nvSpPr>
        <p:spPr>
          <a:xfrm>
            <a:off x="6629400" y="4379976"/>
            <a:ext cx="100584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0.67</a:t>
            </a:r>
            <a:endParaRPr lang="en-US" sz="1200" dirty="0"/>
          </a:p>
        </p:txBody>
      </p:sp>
      <p:sp>
        <p:nvSpPr>
          <p:cNvPr id="38" name="Text 35"/>
          <p:cNvSpPr/>
          <p:nvPr/>
        </p:nvSpPr>
        <p:spPr>
          <a:xfrm>
            <a:off x="7635240" y="4379976"/>
            <a:ext cx="109728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0.67</a:t>
            </a:r>
            <a:endParaRPr lang="en-US" sz="1200" dirty="0"/>
          </a:p>
        </p:txBody>
      </p:sp>
      <p:sp>
        <p:nvSpPr>
          <p:cNvPr id="39" name="Text 36"/>
          <p:cNvSpPr/>
          <p:nvPr/>
        </p:nvSpPr>
        <p:spPr>
          <a:xfrm>
            <a:off x="8732520" y="4379976"/>
            <a:ext cx="100584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0.13</a:t>
            </a:r>
            <a:endParaRPr lang="en-US" sz="1200" dirty="0"/>
          </a:p>
        </p:txBody>
      </p:sp>
      <p:sp>
        <p:nvSpPr>
          <p:cNvPr id="40" name="Text 37"/>
          <p:cNvSpPr/>
          <p:nvPr/>
        </p:nvSpPr>
        <p:spPr>
          <a:xfrm>
            <a:off x="9738360" y="4379976"/>
            <a:ext cx="173736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0.509</a:t>
            </a:r>
            <a:endParaRPr lang="en-US" sz="1200" dirty="0"/>
          </a:p>
        </p:txBody>
      </p:sp>
      <p:sp>
        <p:nvSpPr>
          <p:cNvPr id="41" name="Shape 38"/>
          <p:cNvSpPr/>
          <p:nvPr/>
        </p:nvSpPr>
        <p:spPr>
          <a:xfrm>
            <a:off x="548640" y="4837176"/>
            <a:ext cx="11091672" cy="420624"/>
          </a:xfrm>
          <a:prstGeom prst="roundRect">
            <a:avLst>
              <a:gd name="adj" fmla="val 13043"/>
            </a:avLst>
          </a:prstGeom>
          <a:solidFill>
            <a:srgbClr val="F1F5F8"/>
          </a:solidFill>
          <a:ln w="12700">
            <a:solidFill>
              <a:srgbClr val="E2EAF0"/>
            </a:solidFill>
            <a:prstDash val="solid"/>
          </a:ln>
        </p:spPr>
      </p:sp>
      <p:sp>
        <p:nvSpPr>
          <p:cNvPr id="42" name="Text 39"/>
          <p:cNvSpPr/>
          <p:nvPr/>
        </p:nvSpPr>
        <p:spPr>
          <a:xfrm>
            <a:off x="777240" y="4837176"/>
            <a:ext cx="3566160" cy="420624"/>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Gradient boosting balanceado</a:t>
            </a:r>
            <a:endParaRPr lang="en-US" sz="1200" dirty="0"/>
          </a:p>
        </p:txBody>
      </p:sp>
      <p:sp>
        <p:nvSpPr>
          <p:cNvPr id="43" name="Text 40"/>
          <p:cNvSpPr/>
          <p:nvPr/>
        </p:nvSpPr>
        <p:spPr>
          <a:xfrm>
            <a:off x="4343400" y="4837176"/>
            <a:ext cx="114300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0.479</a:t>
            </a:r>
            <a:endParaRPr lang="en-US" sz="1200" dirty="0"/>
          </a:p>
        </p:txBody>
      </p:sp>
      <p:sp>
        <p:nvSpPr>
          <p:cNvPr id="44" name="Text 41"/>
          <p:cNvSpPr/>
          <p:nvPr/>
        </p:nvSpPr>
        <p:spPr>
          <a:xfrm>
            <a:off x="5486400" y="4837176"/>
            <a:ext cx="114300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0.466</a:t>
            </a:r>
            <a:endParaRPr lang="en-US" sz="1200" dirty="0"/>
          </a:p>
        </p:txBody>
      </p:sp>
      <p:sp>
        <p:nvSpPr>
          <p:cNvPr id="45" name="Text 42"/>
          <p:cNvSpPr/>
          <p:nvPr/>
        </p:nvSpPr>
        <p:spPr>
          <a:xfrm>
            <a:off x="6629400" y="4837176"/>
            <a:ext cx="100584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0.72</a:t>
            </a:r>
            <a:endParaRPr lang="en-US" sz="1200" dirty="0"/>
          </a:p>
        </p:txBody>
      </p:sp>
      <p:sp>
        <p:nvSpPr>
          <p:cNvPr id="46" name="Text 43"/>
          <p:cNvSpPr/>
          <p:nvPr/>
        </p:nvSpPr>
        <p:spPr>
          <a:xfrm>
            <a:off x="7635240" y="4837176"/>
            <a:ext cx="109728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0.42</a:t>
            </a:r>
            <a:endParaRPr lang="en-US" sz="1200" dirty="0"/>
          </a:p>
        </p:txBody>
      </p:sp>
      <p:sp>
        <p:nvSpPr>
          <p:cNvPr id="47" name="Text 44"/>
          <p:cNvSpPr/>
          <p:nvPr/>
        </p:nvSpPr>
        <p:spPr>
          <a:xfrm>
            <a:off x="8732520" y="4837176"/>
            <a:ext cx="100584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0.30</a:t>
            </a:r>
            <a:endParaRPr lang="en-US" sz="1200" dirty="0"/>
          </a:p>
        </p:txBody>
      </p:sp>
      <p:sp>
        <p:nvSpPr>
          <p:cNvPr id="48" name="Text 45"/>
          <p:cNvSpPr/>
          <p:nvPr/>
        </p:nvSpPr>
        <p:spPr>
          <a:xfrm>
            <a:off x="9738360" y="4837176"/>
            <a:ext cx="1737360" cy="420624"/>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0.485</a:t>
            </a:r>
            <a:endParaRPr lang="en-US" sz="1200" dirty="0"/>
          </a:p>
        </p:txBody>
      </p:sp>
      <p:sp>
        <p:nvSpPr>
          <p:cNvPr id="49" name="Shape 46"/>
          <p:cNvSpPr/>
          <p:nvPr/>
        </p:nvSpPr>
        <p:spPr>
          <a:xfrm>
            <a:off x="548640" y="5294376"/>
            <a:ext cx="11091672" cy="420624"/>
          </a:xfrm>
          <a:prstGeom prst="roundRect">
            <a:avLst>
              <a:gd name="adj" fmla="val 13043"/>
            </a:avLst>
          </a:prstGeom>
          <a:solidFill>
            <a:srgbClr val="DCEEF5"/>
          </a:solidFill>
          <a:ln w="12700">
            <a:solidFill>
              <a:srgbClr val="BEDDE9"/>
            </a:solidFill>
            <a:prstDash val="solid"/>
          </a:ln>
        </p:spPr>
      </p:sp>
      <p:sp>
        <p:nvSpPr>
          <p:cNvPr id="50" name="Text 47"/>
          <p:cNvSpPr/>
          <p:nvPr/>
        </p:nvSpPr>
        <p:spPr>
          <a:xfrm>
            <a:off x="777240" y="5294376"/>
            <a:ext cx="3566160" cy="420624"/>
          </a:xfrm>
          <a:prstGeom prst="rect">
            <a:avLst/>
          </a:prstGeom>
          <a:noFill/>
          <a:ln/>
        </p:spPr>
        <p:txBody>
          <a:bodyPr wrap="square" lIns="0" tIns="0" rIns="0" bIns="0" rtlCol="0" anchor="ctr"/>
          <a:lstStyle/>
          <a:p>
            <a:pPr indent="0" marL="0">
              <a:buNone/>
            </a:pPr>
            <a:r>
              <a:rPr lang="en-US" sz="1200" b="1" dirty="0">
                <a:solidFill>
                  <a:srgbClr val="0E1D33"/>
                </a:solidFill>
                <a:latin typeface="Calibri" pitchFamily="34" charset="0"/>
                <a:ea typeface="Calibri" pitchFamily="34" charset="-122"/>
                <a:cs typeface="Calibri" pitchFamily="34" charset="-120"/>
              </a:rPr>
              <a:t>Jerárquico en dos etapas</a:t>
            </a:r>
            <a:endParaRPr lang="en-US" sz="1200" dirty="0"/>
          </a:p>
        </p:txBody>
      </p:sp>
      <p:sp>
        <p:nvSpPr>
          <p:cNvPr id="51" name="Text 48"/>
          <p:cNvSpPr/>
          <p:nvPr/>
        </p:nvSpPr>
        <p:spPr>
          <a:xfrm>
            <a:off x="4343400" y="5294376"/>
            <a:ext cx="1143000" cy="420624"/>
          </a:xfrm>
          <a:prstGeom prst="rect">
            <a:avLst/>
          </a:prstGeom>
          <a:noFill/>
          <a:ln/>
        </p:spPr>
        <p:txBody>
          <a:bodyPr wrap="square" lIns="0" tIns="0" rIns="0" bIns="0" rtlCol="0" anchor="ctr"/>
          <a:lstStyle/>
          <a:p>
            <a:pPr algn="ctr" indent="0" marL="0">
              <a:buNone/>
            </a:pPr>
            <a:r>
              <a:rPr lang="en-US" sz="1200" b="1" dirty="0">
                <a:solidFill>
                  <a:srgbClr val="1391B5"/>
                </a:solidFill>
                <a:latin typeface="Calibri" pitchFamily="34" charset="0"/>
                <a:ea typeface="Calibri" pitchFamily="34" charset="-122"/>
                <a:cs typeface="Calibri" pitchFamily="34" charset="-120"/>
              </a:rPr>
              <a:t>0.521</a:t>
            </a:r>
            <a:endParaRPr lang="en-US" sz="1200" dirty="0"/>
          </a:p>
        </p:txBody>
      </p:sp>
      <p:sp>
        <p:nvSpPr>
          <p:cNvPr id="52" name="Text 49"/>
          <p:cNvSpPr/>
          <p:nvPr/>
        </p:nvSpPr>
        <p:spPr>
          <a:xfrm>
            <a:off x="5486400" y="5294376"/>
            <a:ext cx="1143000" cy="420624"/>
          </a:xfrm>
          <a:prstGeom prst="rect">
            <a:avLst/>
          </a:prstGeom>
          <a:noFill/>
          <a:ln/>
        </p:spPr>
        <p:txBody>
          <a:bodyPr wrap="square" lIns="0" tIns="0" rIns="0" bIns="0" rtlCol="0" anchor="ctr"/>
          <a:lstStyle/>
          <a:p>
            <a:pPr algn="ctr" indent="0" marL="0">
              <a:buNone/>
            </a:pPr>
            <a:r>
              <a:rPr lang="en-US" sz="1200" b="1" dirty="0">
                <a:solidFill>
                  <a:srgbClr val="1391B5"/>
                </a:solidFill>
                <a:latin typeface="Calibri" pitchFamily="34" charset="0"/>
                <a:ea typeface="Calibri" pitchFamily="34" charset="-122"/>
                <a:cs typeface="Calibri" pitchFamily="34" charset="-120"/>
              </a:rPr>
              <a:t>0.484</a:t>
            </a:r>
            <a:endParaRPr lang="en-US" sz="1200" dirty="0"/>
          </a:p>
        </p:txBody>
      </p:sp>
      <p:sp>
        <p:nvSpPr>
          <p:cNvPr id="53" name="Text 50"/>
          <p:cNvSpPr/>
          <p:nvPr/>
        </p:nvSpPr>
        <p:spPr>
          <a:xfrm>
            <a:off x="6629400" y="5294376"/>
            <a:ext cx="1005840" cy="420624"/>
          </a:xfrm>
          <a:prstGeom prst="rect">
            <a:avLst/>
          </a:prstGeom>
          <a:noFill/>
          <a:ln/>
        </p:spPr>
        <p:txBody>
          <a:bodyPr wrap="square" lIns="0" tIns="0" rIns="0" bIns="0" rtlCol="0" anchor="ctr"/>
          <a:lstStyle/>
          <a:p>
            <a:pPr algn="ctr" indent="0" marL="0">
              <a:buNone/>
            </a:pPr>
            <a:r>
              <a:rPr lang="en-US" sz="1200" b="1" dirty="0">
                <a:solidFill>
                  <a:srgbClr val="1391B5"/>
                </a:solidFill>
                <a:latin typeface="Calibri" pitchFamily="34" charset="0"/>
                <a:ea typeface="Calibri" pitchFamily="34" charset="-122"/>
                <a:cs typeface="Calibri" pitchFamily="34" charset="-120"/>
              </a:rPr>
              <a:t>0.56</a:t>
            </a:r>
            <a:endParaRPr lang="en-US" sz="1200" dirty="0"/>
          </a:p>
        </p:txBody>
      </p:sp>
      <p:sp>
        <p:nvSpPr>
          <p:cNvPr id="54" name="Text 51"/>
          <p:cNvSpPr/>
          <p:nvPr/>
        </p:nvSpPr>
        <p:spPr>
          <a:xfrm>
            <a:off x="7635240" y="5294376"/>
            <a:ext cx="1097280" cy="420624"/>
          </a:xfrm>
          <a:prstGeom prst="rect">
            <a:avLst/>
          </a:prstGeom>
          <a:noFill/>
          <a:ln/>
        </p:spPr>
        <p:txBody>
          <a:bodyPr wrap="square" lIns="0" tIns="0" rIns="0" bIns="0" rtlCol="0" anchor="ctr"/>
          <a:lstStyle/>
          <a:p>
            <a:pPr algn="ctr" indent="0" marL="0">
              <a:buNone/>
            </a:pPr>
            <a:r>
              <a:rPr lang="en-US" sz="1200" b="1" dirty="0">
                <a:solidFill>
                  <a:srgbClr val="1391B5"/>
                </a:solidFill>
                <a:latin typeface="Calibri" pitchFamily="34" charset="0"/>
                <a:ea typeface="Calibri" pitchFamily="34" charset="-122"/>
                <a:cs typeface="Calibri" pitchFamily="34" charset="-120"/>
              </a:rPr>
              <a:t>0.77</a:t>
            </a:r>
            <a:endParaRPr lang="en-US" sz="1200" dirty="0"/>
          </a:p>
        </p:txBody>
      </p:sp>
      <p:sp>
        <p:nvSpPr>
          <p:cNvPr id="55" name="Text 52"/>
          <p:cNvSpPr/>
          <p:nvPr/>
        </p:nvSpPr>
        <p:spPr>
          <a:xfrm>
            <a:off x="8732520" y="5294376"/>
            <a:ext cx="1005840" cy="420624"/>
          </a:xfrm>
          <a:prstGeom prst="rect">
            <a:avLst/>
          </a:prstGeom>
          <a:noFill/>
          <a:ln/>
        </p:spPr>
        <p:txBody>
          <a:bodyPr wrap="square" lIns="0" tIns="0" rIns="0" bIns="0" rtlCol="0" anchor="ctr"/>
          <a:lstStyle/>
          <a:p>
            <a:pPr algn="ctr" indent="0" marL="0">
              <a:buNone/>
            </a:pPr>
            <a:r>
              <a:rPr lang="en-US" sz="1200" b="1" dirty="0">
                <a:solidFill>
                  <a:srgbClr val="1391B5"/>
                </a:solidFill>
                <a:latin typeface="Calibri" pitchFamily="34" charset="0"/>
                <a:ea typeface="Calibri" pitchFamily="34" charset="-122"/>
                <a:cs typeface="Calibri" pitchFamily="34" charset="-120"/>
              </a:rPr>
              <a:t>0.16</a:t>
            </a:r>
            <a:endParaRPr lang="en-US" sz="1200" dirty="0"/>
          </a:p>
        </p:txBody>
      </p:sp>
      <p:sp>
        <p:nvSpPr>
          <p:cNvPr id="56" name="Text 53"/>
          <p:cNvSpPr/>
          <p:nvPr/>
        </p:nvSpPr>
        <p:spPr>
          <a:xfrm>
            <a:off x="9738360" y="5294376"/>
            <a:ext cx="1737360" cy="420624"/>
          </a:xfrm>
          <a:prstGeom prst="rect">
            <a:avLst/>
          </a:prstGeom>
          <a:noFill/>
          <a:ln/>
        </p:spPr>
        <p:txBody>
          <a:bodyPr wrap="square" lIns="0" tIns="0" rIns="0" bIns="0" rtlCol="0" anchor="ctr"/>
          <a:lstStyle/>
          <a:p>
            <a:pPr algn="ctr" indent="0" marL="0">
              <a:buNone/>
            </a:pPr>
            <a:r>
              <a:rPr lang="en-US" sz="1200" b="1" dirty="0">
                <a:solidFill>
                  <a:srgbClr val="1391B5"/>
                </a:solidFill>
                <a:latin typeface="Calibri" pitchFamily="34" charset="0"/>
                <a:ea typeface="Calibri" pitchFamily="34" charset="-122"/>
                <a:cs typeface="Calibri" pitchFamily="34" charset="-120"/>
              </a:rPr>
              <a:t>0.525 ± 0.04</a:t>
            </a:r>
            <a:endParaRPr lang="en-US" sz="1200" dirty="0"/>
          </a:p>
        </p:txBody>
      </p:sp>
      <p:sp>
        <p:nvSpPr>
          <p:cNvPr id="57" name="Text 54"/>
          <p:cNvSpPr/>
          <p:nvPr/>
        </p:nvSpPr>
        <p:spPr>
          <a:xfrm>
            <a:off x="548640" y="5852160"/>
            <a:ext cx="11091672" cy="457200"/>
          </a:xfrm>
          <a:prstGeom prst="rect">
            <a:avLst/>
          </a:prstGeom>
          <a:noFill/>
          <a:ln/>
        </p:spPr>
        <p:txBody>
          <a:bodyPr wrap="square" lIns="0" tIns="0" rIns="0" bIns="0" rtlCol="0" anchor="ctr"/>
          <a:lstStyle/>
          <a:p>
            <a:pPr indent="0" marL="0">
              <a:buNone/>
            </a:pPr>
            <a:r>
              <a:rPr lang="en-US" sz="1150" i="1" dirty="0">
                <a:solidFill>
                  <a:srgbClr val="1B3A5C"/>
                </a:solidFill>
                <a:latin typeface="Calibri" pitchFamily="34" charset="0"/>
                <a:ea typeface="Calibri" pitchFamily="34" charset="-122"/>
                <a:cs typeface="Calibri" pitchFamily="34" charset="-120"/>
              </a:rPr>
              <a:t>Todos los métodos superan al baseline: la reformulación hace el problema aprendible. El jerárquico es el mejor punto de operación (mayor exactitud, mayor F1, menor varianza entre sujetos), pero concede la clase de sobrecarga — y eso condiciona el diseño del controlador.</a:t>
            </a:r>
            <a:endParaRPr lang="en-US" sz="1150" dirty="0"/>
          </a:p>
        </p:txBody>
      </p:sp>
      <p:sp>
        <p:nvSpPr>
          <p:cNvPr id="58" name="Text 55"/>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59" name="Text 56"/>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ABLACIÓN DE MONTAJE · EEGMAT, 36 SUJETOS</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¿Cuántos electrodos hacen falta realmente?</a:t>
            </a:r>
            <a:endParaRPr lang="en-US" sz="3000" dirty="0"/>
          </a:p>
        </p:txBody>
      </p:sp>
      <p:graphicFrame>
        <p:nvGraphicFramePr>
          <p:cNvPr id="4" name="Chart 0" descr=""/>
          <p:cNvGraphicFramePr/>
          <p:nvPr/>
        </p:nvGraphicFramePr>
        <p:xfrm>
          <a:off x="548640" y="1463040"/>
          <a:ext cx="64008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23760" y="1463040"/>
            <a:ext cx="4416552" cy="987552"/>
          </a:xfrm>
          <a:prstGeom prst="roundRect">
            <a:avLst>
              <a:gd name="adj" fmla="val 5556"/>
            </a:avLst>
          </a:prstGeom>
          <a:solidFill>
            <a:srgbClr val="F1F5F8"/>
          </a:solidFill>
          <a:ln w="12700">
            <a:solidFill>
              <a:srgbClr val="D8E2EA"/>
            </a:solidFill>
            <a:prstDash val="solid"/>
          </a:ln>
        </p:spPr>
      </p:sp>
      <p:sp>
        <p:nvSpPr>
          <p:cNvPr id="6" name="Text 3"/>
          <p:cNvSpPr/>
          <p:nvPr/>
        </p:nvSpPr>
        <p:spPr>
          <a:xfrm>
            <a:off x="7452360" y="1572768"/>
            <a:ext cx="3977640" cy="274320"/>
          </a:xfrm>
          <a:prstGeom prst="rect">
            <a:avLst/>
          </a:prstGeom>
          <a:noFill/>
          <a:ln/>
        </p:spPr>
        <p:txBody>
          <a:bodyPr wrap="square" lIns="0" tIns="0" rIns="0" bIns="0" rtlCol="0" anchor="ctr"/>
          <a:lstStyle/>
          <a:p>
            <a:pPr indent="0" marL="0">
              <a:buNone/>
            </a:pPr>
            <a:r>
              <a:rPr lang="en-US" sz="1350" b="1" dirty="0">
                <a:solidFill>
                  <a:srgbClr val="1391B5"/>
                </a:solidFill>
                <a:latin typeface="Calibri" pitchFamily="34" charset="0"/>
                <a:ea typeface="Calibri" pitchFamily="34" charset="-122"/>
                <a:cs typeface="Calibri" pitchFamily="34" charset="-120"/>
              </a:rPr>
              <a:t>8 ch = 19 ch</a:t>
            </a:r>
            <a:endParaRPr lang="en-US" sz="1350" dirty="0"/>
          </a:p>
        </p:txBody>
      </p:sp>
      <p:sp>
        <p:nvSpPr>
          <p:cNvPr id="7" name="Text 4"/>
          <p:cNvSpPr/>
          <p:nvPr/>
        </p:nvSpPr>
        <p:spPr>
          <a:xfrm>
            <a:off x="7452360" y="1865376"/>
            <a:ext cx="3977640" cy="50292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0.851 frente a 0.844: recortar de 19 a 8 electrodos no cuesta nada, con 58 % menos características.</a:t>
            </a:r>
            <a:endParaRPr lang="en-US" sz="1150" dirty="0"/>
          </a:p>
        </p:txBody>
      </p:sp>
      <p:sp>
        <p:nvSpPr>
          <p:cNvPr id="8" name="Shape 5"/>
          <p:cNvSpPr/>
          <p:nvPr/>
        </p:nvSpPr>
        <p:spPr>
          <a:xfrm>
            <a:off x="7223760" y="2578608"/>
            <a:ext cx="4416552" cy="987552"/>
          </a:xfrm>
          <a:prstGeom prst="roundRect">
            <a:avLst>
              <a:gd name="adj" fmla="val 5556"/>
            </a:avLst>
          </a:prstGeom>
          <a:solidFill>
            <a:srgbClr val="F1F5F8"/>
          </a:solidFill>
          <a:ln w="12700">
            <a:solidFill>
              <a:srgbClr val="D8E2EA"/>
            </a:solidFill>
            <a:prstDash val="solid"/>
          </a:ln>
        </p:spPr>
      </p:sp>
      <p:sp>
        <p:nvSpPr>
          <p:cNvPr id="9" name="Text 6"/>
          <p:cNvSpPr/>
          <p:nvPr/>
        </p:nvSpPr>
        <p:spPr>
          <a:xfrm>
            <a:off x="7452360" y="2688336"/>
            <a:ext cx="3977640" cy="274320"/>
          </a:xfrm>
          <a:prstGeom prst="rect">
            <a:avLst/>
          </a:prstGeom>
          <a:noFill/>
          <a:ln/>
        </p:spPr>
        <p:txBody>
          <a:bodyPr wrap="square" lIns="0" tIns="0" rIns="0" bIns="0" rtlCol="0" anchor="ctr"/>
          <a:lstStyle/>
          <a:p>
            <a:pPr indent="0" marL="0">
              <a:buNone/>
            </a:pPr>
            <a:r>
              <a:rPr lang="en-US" sz="1350" b="1" dirty="0">
                <a:solidFill>
                  <a:srgbClr val="1B3A5C"/>
                </a:solidFill>
                <a:latin typeface="Calibri" pitchFamily="34" charset="0"/>
                <a:ea typeface="Calibri" pitchFamily="34" charset="-122"/>
                <a:cs typeface="Calibri" pitchFamily="34" charset="-120"/>
              </a:rPr>
              <a:t>2 ch cuesta 4 pts</a:t>
            </a:r>
            <a:endParaRPr lang="en-US" sz="1350" dirty="0"/>
          </a:p>
        </p:txBody>
      </p:sp>
      <p:sp>
        <p:nvSpPr>
          <p:cNvPr id="10" name="Text 7"/>
          <p:cNvSpPr/>
          <p:nvPr/>
        </p:nvSpPr>
        <p:spPr>
          <a:xfrm>
            <a:off x="7452360" y="2980944"/>
            <a:ext cx="3977640" cy="50292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Fz+Pz mantiene 0.806 con 89 % menos características.</a:t>
            </a:r>
            <a:endParaRPr lang="en-US" sz="1150" dirty="0"/>
          </a:p>
        </p:txBody>
      </p:sp>
      <p:sp>
        <p:nvSpPr>
          <p:cNvPr id="11" name="Shape 8"/>
          <p:cNvSpPr/>
          <p:nvPr/>
        </p:nvSpPr>
        <p:spPr>
          <a:xfrm>
            <a:off x="7223760" y="3694176"/>
            <a:ext cx="4416552" cy="987552"/>
          </a:xfrm>
          <a:prstGeom prst="roundRect">
            <a:avLst>
              <a:gd name="adj" fmla="val 5556"/>
            </a:avLst>
          </a:prstGeom>
          <a:solidFill>
            <a:srgbClr val="F1F5F8"/>
          </a:solidFill>
          <a:ln w="12700">
            <a:solidFill>
              <a:srgbClr val="D8E2EA"/>
            </a:solidFill>
            <a:prstDash val="solid"/>
          </a:ln>
        </p:spPr>
      </p:sp>
      <p:sp>
        <p:nvSpPr>
          <p:cNvPr id="12" name="Text 9"/>
          <p:cNvSpPr/>
          <p:nvPr/>
        </p:nvSpPr>
        <p:spPr>
          <a:xfrm>
            <a:off x="7452360" y="3803904"/>
            <a:ext cx="3977640" cy="274320"/>
          </a:xfrm>
          <a:prstGeom prst="rect">
            <a:avLst/>
          </a:prstGeom>
          <a:noFill/>
          <a:ln/>
        </p:spPr>
        <p:txBody>
          <a:bodyPr wrap="square" lIns="0" tIns="0" rIns="0" bIns="0" rtlCol="0" anchor="ctr"/>
          <a:lstStyle/>
          <a:p>
            <a:pPr indent="0" marL="0">
              <a:buNone/>
            </a:pPr>
            <a:r>
              <a:rPr lang="en-US" sz="1350" b="1" dirty="0">
                <a:solidFill>
                  <a:srgbClr val="2E9E6B"/>
                </a:solidFill>
                <a:latin typeface="Calibri" pitchFamily="34" charset="0"/>
                <a:ea typeface="Calibri" pitchFamily="34" charset="-122"/>
                <a:cs typeface="Calibri" pitchFamily="34" charset="-120"/>
              </a:rPr>
              <a:t>Problema de baja densidad</a:t>
            </a:r>
            <a:endParaRPr lang="en-US" sz="1350" dirty="0"/>
          </a:p>
        </p:txBody>
      </p:sp>
      <p:sp>
        <p:nvSpPr>
          <p:cNvPr id="13" name="Text 10"/>
          <p:cNvSpPr/>
          <p:nvPr/>
        </p:nvSpPr>
        <p:spPr>
          <a:xfrm>
            <a:off x="7452360" y="4096512"/>
            <a:ext cx="3977640" cy="50292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La estimación de carga no necesita alta densidad: es el resultado que habilita un dispositivo portátil y barato.</a:t>
            </a:r>
            <a:endParaRPr lang="en-US" sz="1150" dirty="0"/>
          </a:p>
        </p:txBody>
      </p:sp>
      <p:sp>
        <p:nvSpPr>
          <p:cNvPr id="14" name="Shape 11"/>
          <p:cNvSpPr/>
          <p:nvPr/>
        </p:nvSpPr>
        <p:spPr>
          <a:xfrm>
            <a:off x="548640" y="4892040"/>
            <a:ext cx="11091672" cy="1188720"/>
          </a:xfrm>
          <a:prstGeom prst="roundRect">
            <a:avLst>
              <a:gd name="adj" fmla="val 4615"/>
            </a:avLst>
          </a:prstGeom>
          <a:solidFill>
            <a:srgbClr val="0E1D33"/>
          </a:solidFill>
          <a:ln w="12700">
            <a:solidFill>
              <a:srgbClr val="0E1D33"/>
            </a:solidFill>
            <a:prstDash val="solid"/>
          </a:ln>
        </p:spPr>
      </p:sp>
      <p:sp>
        <p:nvSpPr>
          <p:cNvPr id="15" name="Text 12"/>
          <p:cNvSpPr/>
          <p:nvPr/>
        </p:nvSpPr>
        <p:spPr>
          <a:xfrm>
            <a:off x="868680" y="5029200"/>
            <a:ext cx="10424160" cy="914400"/>
          </a:xfrm>
          <a:prstGeom prst="rect">
            <a:avLst/>
          </a:prstGeom>
          <a:noFill/>
          <a:ln/>
        </p:spPr>
        <p:txBody>
          <a:bodyPr wrap="square" lIns="0" tIns="0" rIns="0" bIns="0" rtlCol="0" anchor="ctr"/>
          <a:lstStyle/>
          <a:p>
            <a:pPr indent="0" marL="0">
              <a:lnSpc>
                <a:spcPts val="2100"/>
              </a:lnSpc>
              <a:buNone/>
            </a:pPr>
            <a:r>
              <a:rPr lang="en-US" sz="1350" b="1" dirty="0">
                <a:solidFill>
                  <a:srgbClr val="1391B5"/>
                </a:solidFill>
                <a:latin typeface="Calibri" pitchFamily="34" charset="0"/>
                <a:ea typeface="Calibri" pitchFamily="34" charset="-122"/>
                <a:cs typeface="Calibri" pitchFamily="34" charset="-120"/>
              </a:rPr>
              <a:t>Decisión de arquitectura validada:  </a:t>
            </a:r>
            <a:pPr indent="0" marL="0">
              <a:lnSpc>
                <a:spcPts val="2100"/>
              </a:lnSpc>
              <a:buNone/>
            </a:pPr>
            <a:r>
              <a:rPr lang="en-US" sz="1350" dirty="0">
                <a:solidFill>
                  <a:srgbClr val="FFFFFF"/>
                </a:solidFill>
                <a:latin typeface="Calibri" pitchFamily="34" charset="0"/>
                <a:ea typeface="Calibri" pitchFamily="34" charset="-122"/>
                <a:cs typeface="Calibri" pitchFamily="34" charset="-120"/>
              </a:rPr>
              <a:t>el montaje de 8 canales del dispositivo AURA (Fp1, Fp2, F3, Fz, F4, P3, Pz, P4) no es un compromiso por costo — iguala al 10–20 completo en esta tarea. La diadema comercial es suficiente para la consola adaptativa.</a:t>
            </a:r>
            <a:endParaRPr lang="en-US" sz="1350" dirty="0"/>
          </a:p>
        </p:txBody>
      </p:sp>
      <p:sp>
        <p:nvSpPr>
          <p:cNvPr id="16" name="Text 13"/>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17" name="Text 14"/>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HONESTIDAD CIENTÍFICA · DESCOMPOSICIÓN</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Qué mide realmente el índice CLI</a:t>
            </a:r>
            <a:endParaRPr lang="en-US" sz="3000" dirty="0"/>
          </a:p>
        </p:txBody>
      </p:sp>
      <p:sp>
        <p:nvSpPr>
          <p:cNvPr id="4" name="Shape 2"/>
          <p:cNvSpPr/>
          <p:nvPr/>
        </p:nvSpPr>
        <p:spPr>
          <a:xfrm>
            <a:off x="548640" y="1417320"/>
            <a:ext cx="5394960" cy="1371600"/>
          </a:xfrm>
          <a:prstGeom prst="roundRect">
            <a:avLst>
              <a:gd name="adj" fmla="val 4000"/>
            </a:avLst>
          </a:prstGeom>
          <a:solidFill>
            <a:srgbClr val="DCEEF5"/>
          </a:solidFill>
          <a:ln w="12700">
            <a:solidFill>
              <a:srgbClr val="BEDDE9"/>
            </a:solidFill>
            <a:prstDash val="solid"/>
          </a:ln>
        </p:spPr>
      </p:sp>
      <p:sp>
        <p:nvSpPr>
          <p:cNvPr id="5" name="Text 3"/>
          <p:cNvSpPr/>
          <p:nvPr/>
        </p:nvSpPr>
        <p:spPr>
          <a:xfrm>
            <a:off x="777240" y="1554480"/>
            <a:ext cx="4937760" cy="411480"/>
          </a:xfrm>
          <a:prstGeom prst="rect">
            <a:avLst/>
          </a:prstGeom>
          <a:noFill/>
          <a:ln/>
        </p:spPr>
        <p:txBody>
          <a:bodyPr wrap="square" lIns="0" tIns="0" rIns="0" bIns="0" rtlCol="0" anchor="ctr"/>
          <a:lstStyle/>
          <a:p>
            <a:pPr indent="0" marL="0">
              <a:buNone/>
            </a:pPr>
            <a:r>
              <a:rPr lang="en-US" sz="2200" b="1" dirty="0">
                <a:solidFill>
                  <a:srgbClr val="0E1D33"/>
                </a:solidFill>
                <a:latin typeface="Cambria" pitchFamily="34" charset="0"/>
                <a:ea typeface="Cambria" pitchFamily="34" charset="-122"/>
                <a:cs typeface="Cambria" pitchFamily="34" charset="-120"/>
              </a:rPr>
              <a:t>CLI = θ(Fz) / α(Pz)</a:t>
            </a:r>
            <a:endParaRPr lang="en-US" sz="2200" dirty="0"/>
          </a:p>
        </p:txBody>
      </p:sp>
      <p:sp>
        <p:nvSpPr>
          <p:cNvPr id="6" name="Text 4"/>
          <p:cNvSpPr/>
          <p:nvPr/>
        </p:nvSpPr>
        <p:spPr>
          <a:xfrm>
            <a:off x="777240" y="2011680"/>
            <a:ext cx="4937760" cy="640080"/>
          </a:xfrm>
          <a:prstGeom prst="rect">
            <a:avLst/>
          </a:prstGeom>
          <a:noFill/>
          <a:ln/>
        </p:spPr>
        <p:txBody>
          <a:bodyPr wrap="square" lIns="0" tIns="0" rIns="0" bIns="0" rtlCol="0" anchor="ctr"/>
          <a:lstStyle/>
          <a:p>
            <a:pPr indent="0" marL="0">
              <a:buNone/>
            </a:pPr>
            <a:r>
              <a:rPr lang="en-US" sz="1250" dirty="0">
                <a:solidFill>
                  <a:srgbClr val="3F5567"/>
                </a:solidFill>
                <a:latin typeface="Calibri" pitchFamily="34" charset="0"/>
                <a:ea typeface="Calibri" pitchFamily="34" charset="-122"/>
                <a:cs typeface="Calibri" pitchFamily="34" charset="-120"/>
              </a:rPr>
              <a:t>Sube ×1.93 (mediana) de reposo a tarea, en 31 de 36 sujetos.  Wilcoxon W = 34, p = 1.1 × 10⁻⁷.</a:t>
            </a:r>
            <a:endParaRPr lang="en-US" sz="1250" dirty="0"/>
          </a:p>
        </p:txBody>
      </p:sp>
      <p:sp>
        <p:nvSpPr>
          <p:cNvPr id="7" name="Shape 5"/>
          <p:cNvSpPr/>
          <p:nvPr/>
        </p:nvSpPr>
        <p:spPr>
          <a:xfrm>
            <a:off x="6245352" y="1417320"/>
            <a:ext cx="5394960" cy="1371600"/>
          </a:xfrm>
          <a:prstGeom prst="roundRect">
            <a:avLst>
              <a:gd name="adj" fmla="val 4000"/>
            </a:avLst>
          </a:prstGeom>
          <a:solidFill>
            <a:srgbClr val="FDF3F2"/>
          </a:solidFill>
          <a:ln w="12700">
            <a:solidFill>
              <a:srgbClr val="F0CFCB"/>
            </a:solidFill>
            <a:prstDash val="solid"/>
          </a:ln>
        </p:spPr>
      </p:sp>
      <p:sp>
        <p:nvSpPr>
          <p:cNvPr id="8" name="Text 6"/>
          <p:cNvSpPr/>
          <p:nvPr/>
        </p:nvSpPr>
        <p:spPr>
          <a:xfrm>
            <a:off x="6473952" y="1554480"/>
            <a:ext cx="4937760" cy="320040"/>
          </a:xfrm>
          <a:prstGeom prst="rect">
            <a:avLst/>
          </a:prstGeom>
          <a:noFill/>
          <a:ln/>
        </p:spPr>
        <p:txBody>
          <a:bodyPr wrap="square" lIns="0" tIns="0" rIns="0" bIns="0" rtlCol="0" anchor="ctr"/>
          <a:lstStyle/>
          <a:p>
            <a:pPr indent="0" marL="0">
              <a:buNone/>
            </a:pPr>
            <a:r>
              <a:rPr lang="en-US" sz="1400" b="1" dirty="0">
                <a:solidFill>
                  <a:srgbClr val="B8453B"/>
                </a:solidFill>
                <a:latin typeface="Calibri" pitchFamily="34" charset="0"/>
                <a:ea typeface="Calibri" pitchFamily="34" charset="-122"/>
                <a:cs typeface="Calibri" pitchFamily="34" charset="-120"/>
              </a:rPr>
              <a:t>Pero el numerador no aporta nada</a:t>
            </a:r>
            <a:endParaRPr lang="en-US" sz="1400" dirty="0"/>
          </a:p>
        </p:txBody>
      </p:sp>
      <p:sp>
        <p:nvSpPr>
          <p:cNvPr id="9" name="Text 7"/>
          <p:cNvSpPr/>
          <p:nvPr/>
        </p:nvSpPr>
        <p:spPr>
          <a:xfrm>
            <a:off x="6473952" y="1901952"/>
            <a:ext cx="4937760" cy="777240"/>
          </a:xfrm>
          <a:prstGeom prst="rect">
            <a:avLst/>
          </a:prstGeom>
          <a:noFill/>
          <a:ln/>
        </p:spPr>
        <p:txBody>
          <a:bodyPr wrap="square" lIns="0" tIns="0" rIns="0" bIns="0" rtlCol="0" anchor="ctr"/>
          <a:lstStyle/>
          <a:p>
            <a:pPr indent="0" marL="0">
              <a:buNone/>
            </a:pPr>
            <a:r>
              <a:rPr lang="en-US" sz="1200" dirty="0">
                <a:solidFill>
                  <a:srgbClr val="5A3F3C"/>
                </a:solidFill>
                <a:latin typeface="Calibri" pitchFamily="34" charset="0"/>
                <a:ea typeface="Calibri" pitchFamily="34" charset="-122"/>
                <a:cs typeface="Calibri" pitchFamily="34" charset="-120"/>
              </a:rPr>
              <a:t>La theta frontal se queda plana (0.95 del reposo, p = 0.26). La alpha parietal cae a la mitad (0.51, p = 2.3 × 10⁻⁵, en 32 de 36).  La desincronización alfa por sí sola produce ×1.95 — es decir, todo el efecto.</a:t>
            </a:r>
            <a:endParaRPr lang="en-US" sz="1200" dirty="0"/>
          </a:p>
        </p:txBody>
      </p:sp>
      <p:pic>
        <p:nvPicPr>
          <p:cNvPr id="10" name="Image 0" descr="/private/tmp/claude-501/-Users-rafael-Documents-Proyectos-Personales-Doctorado/c74dcdf8-f3d0-4879-b253-764a4009216b/scratchpad/fig/fig9_bandpower_load.png">    </p:cNvPr>
          <p:cNvPicPr>
            <a:picLocks noChangeAspect="1"/>
          </p:cNvPicPr>
          <p:nvPr/>
        </p:nvPicPr>
        <p:blipFill>
          <a:blip r:embed="rId1"/>
          <a:stretch>
            <a:fillRect/>
          </a:stretch>
        </p:blipFill>
        <p:spPr>
          <a:xfrm>
            <a:off x="548640" y="2971800"/>
            <a:ext cx="5760720" cy="2606040"/>
          </a:xfrm>
          <a:prstGeom prst="rect">
            <a:avLst/>
          </a:prstGeom>
        </p:spPr>
      </p:pic>
      <p:sp>
        <p:nvSpPr>
          <p:cNvPr id="11" name="Text 8"/>
          <p:cNvSpPr/>
          <p:nvPr/>
        </p:nvSpPr>
        <p:spPr>
          <a:xfrm>
            <a:off x="548640" y="5577840"/>
            <a:ext cx="5760720" cy="274320"/>
          </a:xfrm>
          <a:prstGeom prst="rect">
            <a:avLst/>
          </a:prstGeom>
          <a:noFill/>
          <a:ln/>
        </p:spPr>
        <p:txBody>
          <a:bodyPr wrap="square" lIns="0" tIns="0" rIns="0" bIns="0" rtlCol="0" anchor="ctr"/>
          <a:lstStyle/>
          <a:p>
            <a:pPr indent="0" marL="0">
              <a:buNone/>
            </a:pPr>
            <a:r>
              <a:rPr lang="en-US" sz="1050" i="1" dirty="0">
                <a:solidFill>
                  <a:srgbClr val="5D6E7E"/>
                </a:solidFill>
                <a:latin typeface="Calibri" pitchFamily="34" charset="0"/>
                <a:ea typeface="Calibri" pitchFamily="34" charset="-122"/>
                <a:cs typeface="Calibri" pitchFamily="34" charset="-120"/>
              </a:rPr>
              <a:t>Potencias de banda normalizadas al reposo del sujeto y el índice resultante.</a:t>
            </a:r>
            <a:endParaRPr lang="en-US" sz="1050" dirty="0"/>
          </a:p>
        </p:txBody>
      </p:sp>
      <p:sp>
        <p:nvSpPr>
          <p:cNvPr id="12" name="Shape 9"/>
          <p:cNvSpPr/>
          <p:nvPr/>
        </p:nvSpPr>
        <p:spPr>
          <a:xfrm>
            <a:off x="6583680" y="2971800"/>
            <a:ext cx="5056632" cy="2606040"/>
          </a:xfrm>
          <a:prstGeom prst="roundRect">
            <a:avLst>
              <a:gd name="adj" fmla="val 2105"/>
            </a:avLst>
          </a:prstGeom>
          <a:solidFill>
            <a:srgbClr val="F1F5F8"/>
          </a:solidFill>
          <a:ln w="12700">
            <a:solidFill>
              <a:srgbClr val="D8E2EA"/>
            </a:solidFill>
            <a:prstDash val="solid"/>
          </a:ln>
        </p:spPr>
      </p:sp>
      <p:sp>
        <p:nvSpPr>
          <p:cNvPr id="13" name="Text 10"/>
          <p:cNvSpPr/>
          <p:nvPr/>
        </p:nvSpPr>
        <p:spPr>
          <a:xfrm>
            <a:off x="6812280" y="3154680"/>
            <a:ext cx="4572000" cy="292608"/>
          </a:xfrm>
          <a:prstGeom prst="rect">
            <a:avLst/>
          </a:prstGeom>
          <a:noFill/>
          <a:ln/>
        </p:spPr>
        <p:txBody>
          <a:bodyPr wrap="square" lIns="0" tIns="0" rIns="0" bIns="0" rtlCol="0" anchor="ctr"/>
          <a:lstStyle/>
          <a:p>
            <a:pPr indent="0" marL="0">
              <a:buNone/>
            </a:pPr>
            <a:r>
              <a:rPr lang="en-US" sz="1400" b="1" dirty="0">
                <a:solidFill>
                  <a:srgbClr val="0E1D33"/>
                </a:solidFill>
                <a:latin typeface="Calibri" pitchFamily="34" charset="0"/>
                <a:ea typeface="Calibri" pitchFamily="34" charset="-122"/>
                <a:cs typeface="Calibri" pitchFamily="34" charset="-120"/>
              </a:rPr>
              <a:t>Por qué lo reportamos así</a:t>
            </a:r>
            <a:endParaRPr lang="en-US" sz="1400" dirty="0"/>
          </a:p>
        </p:txBody>
      </p:sp>
      <p:sp>
        <p:nvSpPr>
          <p:cNvPr id="14" name="Text 11"/>
          <p:cNvSpPr/>
          <p:nvPr/>
        </p:nvSpPr>
        <p:spPr>
          <a:xfrm>
            <a:off x="6812280" y="3547872"/>
            <a:ext cx="4572000" cy="18288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B2733"/>
                </a:solidFill>
                <a:latin typeface="Calibri" pitchFamily="34" charset="0"/>
                <a:ea typeface="Calibri" pitchFamily="34" charset="-122"/>
                <a:cs typeface="Calibri" pitchFamily="34" charset="-120"/>
              </a:rPr>
              <a:t>Sigue siendo un marcador válido y muy significativo de esfuerzo: 51 sujetos, dos sistemas de registro.</a:t>
            </a:r>
            <a:endParaRPr lang="en-US" sz="1200" dirty="0"/>
          </a:p>
          <a:p>
            <a:pPr marL="342900" indent="-342900">
              <a:spcAft>
                <a:spcPts val="700"/>
              </a:spcAft>
              <a:buSzPct val="100000"/>
              <a:buChar char="•"/>
            </a:pPr>
            <a:r>
              <a:rPr lang="en-US" sz="1200" dirty="0">
                <a:solidFill>
                  <a:srgbClr val="1B2733"/>
                </a:solidFill>
                <a:latin typeface="Calibri" pitchFamily="34" charset="0"/>
                <a:ea typeface="Calibri" pitchFamily="34" charset="-122"/>
                <a:cs typeface="Calibri" pitchFamily="34" charset="-120"/>
              </a:rPr>
              <a:t>Pero en estos datos es una medida de supresión alfa con nombre de θ/α.</a:t>
            </a:r>
            <a:endParaRPr lang="en-US" sz="1200" dirty="0"/>
          </a:p>
          <a:p>
            <a:pPr marL="342900" indent="-342900">
              <a:spcAft>
                <a:spcPts val="700"/>
              </a:spcAft>
              <a:buSzPct val="100000"/>
              <a:buChar char="•"/>
            </a:pPr>
            <a:r>
              <a:rPr lang="en-US" sz="1200" dirty="0">
                <a:solidFill>
                  <a:srgbClr val="1B2733"/>
                </a:solidFill>
                <a:latin typeface="Calibri" pitchFamily="34" charset="0"/>
                <a:ea typeface="Calibri" pitchFamily="34" charset="-122"/>
                <a:cs typeface="Calibri" pitchFamily="34" charset="-120"/>
              </a:rPr>
              <a:t>Se replica en AS: alfa cae a 0.31 del reposo en Fz (15 de 15); theta en Fz no se mueve (0.98, p = 0.85).</a:t>
            </a:r>
            <a:endParaRPr lang="en-US" sz="1200" dirty="0"/>
          </a:p>
          <a:p>
            <a:pPr marL="342900" indent="-342900">
              <a:spcAft>
                <a:spcPts val="700"/>
              </a:spcAft>
              <a:buSzPct val="100000"/>
              <a:buChar char="•"/>
            </a:pPr>
            <a:r>
              <a:rPr lang="en-US" sz="1200" dirty="0">
                <a:solidFill>
                  <a:srgbClr val="1B2733"/>
                </a:solidFill>
                <a:latin typeface="Calibri" pitchFamily="34" charset="0"/>
                <a:ea typeface="Calibri" pitchFamily="34" charset="-122"/>
                <a:cs typeface="Calibri" pitchFamily="34" charset="-120"/>
              </a:rPr>
              <a:t>Consecuencia práctica: un montaje elegido para captar alfa posterior conviene más que uno pensado para theta frontal.</a:t>
            </a:r>
            <a:endParaRPr lang="en-US" sz="1200" dirty="0"/>
          </a:p>
        </p:txBody>
      </p:sp>
      <p:sp>
        <p:nvSpPr>
          <p:cNvPr id="15" name="Text 12"/>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16" name="Text 13"/>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AVANCE 2 · ENTORNO VR (B4–B6)</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Entrenador de sutura robótica: de diseño a plataforma</a:t>
            </a:r>
            <a:endParaRPr lang="en-US" sz="3000" dirty="0"/>
          </a:p>
        </p:txBody>
      </p:sp>
      <p:pic>
        <p:nvPicPr>
          <p:cNvPr id="4" name="Image 0" descr="/private/tmp/claude-501/-Users-rafael-Documents-Proyectos-Personales-Doctorado/c74dcdf8-f3d0-4879-b253-764a4009216b/scratchpad/fig/fig_bench.jpg">    </p:cNvPr>
          <p:cNvPicPr>
            <a:picLocks noChangeAspect="1"/>
          </p:cNvPicPr>
          <p:nvPr/>
        </p:nvPicPr>
        <p:blipFill>
          <a:blip r:embed="rId1"/>
          <a:stretch>
            <a:fillRect/>
          </a:stretch>
        </p:blipFill>
        <p:spPr>
          <a:xfrm>
            <a:off x="548640" y="1463040"/>
            <a:ext cx="3429000" cy="2194560"/>
          </a:xfrm>
          <a:prstGeom prst="rect">
            <a:avLst/>
          </a:prstGeom>
        </p:spPr>
      </p:pic>
      <p:pic>
        <p:nvPicPr>
          <p:cNvPr id="5" name="Image 1" descr="/private/tmp/claude-501/-Users-rafael-Documents-Proyectos-Personales-Doctorado/c74dcdf8-f3d0-4879-b253-764a4009216b/scratchpad/fig/fig_field.jpg">    </p:cNvPr>
          <p:cNvPicPr>
            <a:picLocks noChangeAspect="1"/>
          </p:cNvPicPr>
          <p:nvPr/>
        </p:nvPicPr>
        <p:blipFill>
          <a:blip r:embed="rId2"/>
          <a:stretch>
            <a:fillRect/>
          </a:stretch>
        </p:blipFill>
        <p:spPr>
          <a:xfrm>
            <a:off x="548640" y="3794760"/>
            <a:ext cx="3429000" cy="1874520"/>
          </a:xfrm>
          <a:prstGeom prst="rect">
            <a:avLst/>
          </a:prstGeom>
        </p:spPr>
      </p:pic>
      <p:sp>
        <p:nvSpPr>
          <p:cNvPr id="6" name="Text 2"/>
          <p:cNvSpPr/>
          <p:nvPr/>
        </p:nvSpPr>
        <p:spPr>
          <a:xfrm>
            <a:off x="548640" y="5715000"/>
            <a:ext cx="3429000" cy="274320"/>
          </a:xfrm>
          <a:prstGeom prst="rect">
            <a:avLst/>
          </a:prstGeom>
          <a:noFill/>
          <a:ln/>
        </p:spPr>
        <p:txBody>
          <a:bodyPr wrap="square" lIns="0" tIns="0" rIns="0" bIns="0" rtlCol="0" anchor="ctr"/>
          <a:lstStyle/>
          <a:p>
            <a:pPr indent="0" marL="0">
              <a:buNone/>
            </a:pPr>
            <a:r>
              <a:rPr lang="en-US" sz="1000" i="1" dirty="0">
                <a:solidFill>
                  <a:srgbClr val="5D6E7E"/>
                </a:solidFill>
                <a:latin typeface="Calibri" pitchFamily="34" charset="0"/>
                <a:ea typeface="Calibri" pitchFamily="34" charset="-122"/>
                <a:cs typeface="Calibri" pitchFamily="34" charset="-120"/>
              </a:rPr>
              <a:t>Banco de trabajo y vista del campo quirúrgico durante el punto simple.</a:t>
            </a:r>
            <a:endParaRPr lang="en-US" sz="1000" dirty="0"/>
          </a:p>
        </p:txBody>
      </p:sp>
      <p:sp>
        <p:nvSpPr>
          <p:cNvPr id="7" name="Shape 3"/>
          <p:cNvSpPr/>
          <p:nvPr/>
        </p:nvSpPr>
        <p:spPr>
          <a:xfrm>
            <a:off x="4251960" y="1463040"/>
            <a:ext cx="7388352" cy="969264"/>
          </a:xfrm>
          <a:prstGeom prst="roundRect">
            <a:avLst>
              <a:gd name="adj" fmla="val 5660"/>
            </a:avLst>
          </a:prstGeom>
          <a:solidFill>
            <a:srgbClr val="F1F5F8"/>
          </a:solidFill>
          <a:ln w="12700">
            <a:solidFill>
              <a:srgbClr val="D8E2EA"/>
            </a:solidFill>
            <a:prstDash val="solid"/>
          </a:ln>
        </p:spPr>
      </p:sp>
      <p:sp>
        <p:nvSpPr>
          <p:cNvPr id="8" name="Shape 4"/>
          <p:cNvSpPr/>
          <p:nvPr/>
        </p:nvSpPr>
        <p:spPr>
          <a:xfrm>
            <a:off x="4480560" y="1755648"/>
            <a:ext cx="146304" cy="146304"/>
          </a:xfrm>
          <a:prstGeom prst="ellipse">
            <a:avLst/>
          </a:prstGeom>
          <a:solidFill>
            <a:srgbClr val="1391B5"/>
          </a:solidFill>
          <a:ln w="12700">
            <a:solidFill>
              <a:srgbClr val="333333"/>
            </a:solidFill>
            <a:prstDash val="solid"/>
          </a:ln>
        </p:spPr>
      </p:sp>
      <p:sp>
        <p:nvSpPr>
          <p:cNvPr id="9" name="Text 5"/>
          <p:cNvSpPr/>
          <p:nvPr/>
        </p:nvSpPr>
        <p:spPr>
          <a:xfrm>
            <a:off x="4754880" y="1581912"/>
            <a:ext cx="201168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Teleoperación</a:t>
            </a:r>
            <a:endParaRPr lang="en-US" sz="1350" dirty="0"/>
          </a:p>
        </p:txBody>
      </p:sp>
      <p:sp>
        <p:nvSpPr>
          <p:cNvPr id="10" name="Text 6"/>
          <p:cNvSpPr/>
          <p:nvPr/>
        </p:nvSpPr>
        <p:spPr>
          <a:xfrm>
            <a:off x="4754880" y="1847088"/>
            <a:ext cx="6675120" cy="530352"/>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Instrumentos con pivote fijo en trócar y escalado de movimiento maestro–esclavo, clutch y muñeca tipo EndoWrist. El escalado es la principal perilla de dificultad.</a:t>
            </a:r>
            <a:endParaRPr lang="en-US" sz="1150" dirty="0"/>
          </a:p>
        </p:txBody>
      </p:sp>
      <p:sp>
        <p:nvSpPr>
          <p:cNvPr id="11" name="Shape 7"/>
          <p:cNvSpPr/>
          <p:nvPr/>
        </p:nvSpPr>
        <p:spPr>
          <a:xfrm>
            <a:off x="4251960" y="2560320"/>
            <a:ext cx="7388352" cy="969264"/>
          </a:xfrm>
          <a:prstGeom prst="roundRect">
            <a:avLst>
              <a:gd name="adj" fmla="val 5660"/>
            </a:avLst>
          </a:prstGeom>
          <a:solidFill>
            <a:srgbClr val="F1F5F8"/>
          </a:solidFill>
          <a:ln w="12700">
            <a:solidFill>
              <a:srgbClr val="D8E2EA"/>
            </a:solidFill>
            <a:prstDash val="solid"/>
          </a:ln>
        </p:spPr>
      </p:sp>
      <p:sp>
        <p:nvSpPr>
          <p:cNvPr id="12" name="Shape 8"/>
          <p:cNvSpPr/>
          <p:nvPr/>
        </p:nvSpPr>
        <p:spPr>
          <a:xfrm>
            <a:off x="4480560" y="2852928"/>
            <a:ext cx="146304" cy="146304"/>
          </a:xfrm>
          <a:prstGeom prst="ellipse">
            <a:avLst/>
          </a:prstGeom>
          <a:solidFill>
            <a:srgbClr val="1B3A5C"/>
          </a:solidFill>
          <a:ln w="12700">
            <a:solidFill>
              <a:srgbClr val="333333"/>
            </a:solidFill>
            <a:prstDash val="solid"/>
          </a:ln>
        </p:spPr>
      </p:sp>
      <p:sp>
        <p:nvSpPr>
          <p:cNvPr id="13" name="Text 9"/>
          <p:cNvSpPr/>
          <p:nvPr/>
        </p:nvSpPr>
        <p:spPr>
          <a:xfrm>
            <a:off x="4754880" y="2679192"/>
            <a:ext cx="201168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Háptica real</a:t>
            </a:r>
            <a:endParaRPr lang="en-US" sz="1350" dirty="0"/>
          </a:p>
        </p:txBody>
      </p:sp>
      <p:sp>
        <p:nvSpPr>
          <p:cNvPr id="14" name="Text 10"/>
          <p:cNvSpPr/>
          <p:nvPr/>
        </p:nvSpPr>
        <p:spPr>
          <a:xfrm>
            <a:off x="4754880" y="2944368"/>
            <a:ext cx="6675120" cy="530352"/>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El instrumento derecho se entrega en caliente al stylus 3D Systems Touch (OpenHaptics): contacto tisular como resorte-amortiguador (320 N/m) y restricción de trócar, hasta 3.3 N a 50 Hz.</a:t>
            </a:r>
            <a:endParaRPr lang="en-US" sz="1150" dirty="0"/>
          </a:p>
        </p:txBody>
      </p:sp>
      <p:sp>
        <p:nvSpPr>
          <p:cNvPr id="15" name="Shape 11"/>
          <p:cNvSpPr/>
          <p:nvPr/>
        </p:nvSpPr>
        <p:spPr>
          <a:xfrm>
            <a:off x="4251960" y="3657600"/>
            <a:ext cx="7388352" cy="969264"/>
          </a:xfrm>
          <a:prstGeom prst="roundRect">
            <a:avLst>
              <a:gd name="adj" fmla="val 5660"/>
            </a:avLst>
          </a:prstGeom>
          <a:solidFill>
            <a:srgbClr val="F1F5F8"/>
          </a:solidFill>
          <a:ln w="12700">
            <a:solidFill>
              <a:srgbClr val="D8E2EA"/>
            </a:solidFill>
            <a:prstDash val="solid"/>
          </a:ln>
        </p:spPr>
      </p:sp>
      <p:sp>
        <p:nvSpPr>
          <p:cNvPr id="16" name="Shape 12"/>
          <p:cNvSpPr/>
          <p:nvPr/>
        </p:nvSpPr>
        <p:spPr>
          <a:xfrm>
            <a:off x="4480560" y="3950208"/>
            <a:ext cx="146304" cy="146304"/>
          </a:xfrm>
          <a:prstGeom prst="ellipse">
            <a:avLst/>
          </a:prstGeom>
          <a:solidFill>
            <a:srgbClr val="2E9E6B"/>
          </a:solidFill>
          <a:ln w="12700">
            <a:solidFill>
              <a:srgbClr val="333333"/>
            </a:solidFill>
            <a:prstDash val="solid"/>
          </a:ln>
        </p:spPr>
      </p:sp>
      <p:sp>
        <p:nvSpPr>
          <p:cNvPr id="17" name="Text 13"/>
          <p:cNvSpPr/>
          <p:nvPr/>
        </p:nvSpPr>
        <p:spPr>
          <a:xfrm>
            <a:off x="4754880" y="3776472"/>
            <a:ext cx="201168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Cinco ejercicios</a:t>
            </a:r>
            <a:endParaRPr lang="en-US" sz="1350" dirty="0"/>
          </a:p>
        </p:txBody>
      </p:sp>
      <p:sp>
        <p:nvSpPr>
          <p:cNvPr id="18" name="Text 14"/>
          <p:cNvSpPr/>
          <p:nvPr/>
        </p:nvSpPr>
        <p:spPr>
          <a:xfrm>
            <a:off x="4754880" y="4041648"/>
            <a:ext cx="6675120" cy="530352"/>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Manejo de aguja · precisión en anillos · punto simple · sutura continua · nudo intracorpóreo. Tejido deformable e hilo con física Verlet y umbral de tensión.</a:t>
            </a:r>
            <a:endParaRPr lang="en-US" sz="1150" dirty="0"/>
          </a:p>
        </p:txBody>
      </p:sp>
      <p:sp>
        <p:nvSpPr>
          <p:cNvPr id="19" name="Shape 15"/>
          <p:cNvSpPr/>
          <p:nvPr/>
        </p:nvSpPr>
        <p:spPr>
          <a:xfrm>
            <a:off x="4251960" y="4754880"/>
            <a:ext cx="7388352" cy="969264"/>
          </a:xfrm>
          <a:prstGeom prst="roundRect">
            <a:avLst>
              <a:gd name="adj" fmla="val 5660"/>
            </a:avLst>
          </a:prstGeom>
          <a:solidFill>
            <a:srgbClr val="F1F5F8"/>
          </a:solidFill>
          <a:ln w="12700">
            <a:solidFill>
              <a:srgbClr val="D8E2EA"/>
            </a:solidFill>
            <a:prstDash val="solid"/>
          </a:ln>
        </p:spPr>
      </p:sp>
      <p:sp>
        <p:nvSpPr>
          <p:cNvPr id="20" name="Shape 16"/>
          <p:cNvSpPr/>
          <p:nvPr/>
        </p:nvSpPr>
        <p:spPr>
          <a:xfrm>
            <a:off x="4480560" y="5047488"/>
            <a:ext cx="146304" cy="146304"/>
          </a:xfrm>
          <a:prstGeom prst="ellipse">
            <a:avLst/>
          </a:prstGeom>
          <a:solidFill>
            <a:srgbClr val="C97B21"/>
          </a:solidFill>
          <a:ln w="12700">
            <a:solidFill>
              <a:srgbClr val="333333"/>
            </a:solidFill>
            <a:prstDash val="solid"/>
          </a:ln>
        </p:spPr>
      </p:sp>
      <p:sp>
        <p:nvSpPr>
          <p:cNvPr id="21" name="Text 17"/>
          <p:cNvSpPr/>
          <p:nvPr/>
        </p:nvSpPr>
        <p:spPr>
          <a:xfrm>
            <a:off x="4754880" y="4873752"/>
            <a:ext cx="201168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Telemetría</a:t>
            </a:r>
            <a:endParaRPr lang="en-US" sz="1350" dirty="0"/>
          </a:p>
        </p:txBody>
      </p:sp>
      <p:sp>
        <p:nvSpPr>
          <p:cNvPr id="22" name="Text 18"/>
          <p:cNvSpPr/>
          <p:nvPr/>
        </p:nvSpPr>
        <p:spPr>
          <a:xfrm>
            <a:off x="4754880" y="5138928"/>
            <a:ext cx="6675120" cy="530352"/>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20 Hz: posición de ambas puntas y cierre de mandíbulas. Por intento: tiempo, longitud de trayectoria, errores tipificados y precisión en mm.</a:t>
            </a:r>
            <a:endParaRPr lang="en-US" sz="1150" dirty="0"/>
          </a:p>
        </p:txBody>
      </p:sp>
      <p:sp>
        <p:nvSpPr>
          <p:cNvPr id="23" name="Shape 19"/>
          <p:cNvSpPr/>
          <p:nvPr/>
        </p:nvSpPr>
        <p:spPr>
          <a:xfrm>
            <a:off x="4251960" y="5852160"/>
            <a:ext cx="7388352" cy="457200"/>
          </a:xfrm>
          <a:prstGeom prst="roundRect">
            <a:avLst>
              <a:gd name="adj" fmla="val 12000"/>
            </a:avLst>
          </a:prstGeom>
          <a:solidFill>
            <a:srgbClr val="F1F5F8"/>
          </a:solidFill>
          <a:ln w="12700">
            <a:solidFill>
              <a:srgbClr val="D8E2EA"/>
            </a:solidFill>
            <a:prstDash val="solid"/>
          </a:ln>
        </p:spPr>
      </p:sp>
      <p:sp>
        <p:nvSpPr>
          <p:cNvPr id="24" name="Text 20"/>
          <p:cNvSpPr/>
          <p:nvPr/>
        </p:nvSpPr>
        <p:spPr>
          <a:xfrm>
            <a:off x="4480560" y="5852160"/>
            <a:ext cx="6949440" cy="457200"/>
          </a:xfrm>
          <a:prstGeom prst="rect">
            <a:avLst/>
          </a:prstGeom>
          <a:noFill/>
          <a:ln/>
        </p:spPr>
        <p:txBody>
          <a:bodyPr wrap="square" lIns="0" tIns="0" rIns="0" bIns="0"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Unity 6 · OpenXR · Meta Quest 3 (autónomo)  ·  repositorio propio, clonar y correr</a:t>
            </a:r>
            <a:endParaRPr lang="en-US" sz="1150" dirty="0"/>
          </a:p>
        </p:txBody>
      </p:sp>
      <p:sp>
        <p:nvSpPr>
          <p:cNvPr id="25" name="Text 21"/>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26" name="Text 22"/>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AVANCE 3 · BUCLE CERRADO</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Controlador de dificultad: del score a la plataforma</a:t>
            </a:r>
            <a:endParaRPr lang="en-US" sz="3000" dirty="0"/>
          </a:p>
        </p:txBody>
      </p:sp>
      <p:sp>
        <p:nvSpPr>
          <p:cNvPr id="4" name="Text 2"/>
          <p:cNvSpPr/>
          <p:nvPr/>
        </p:nvSpPr>
        <p:spPr>
          <a:xfrm>
            <a:off x="548640" y="1371600"/>
            <a:ext cx="11091672" cy="384048"/>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El controlador consume un score de carga por ventana (4 s, stride 2 s) y mantiene un escalar de dificultad d ∈ [0,1], donde d = 0.5 reproduce exactamente la configuración de serie del entrenador.</a:t>
            </a:r>
            <a:endParaRPr lang="en-US" sz="1250" dirty="0"/>
          </a:p>
        </p:txBody>
      </p:sp>
      <p:sp>
        <p:nvSpPr>
          <p:cNvPr id="5" name="Shape 3"/>
          <p:cNvSpPr/>
          <p:nvPr/>
        </p:nvSpPr>
        <p:spPr>
          <a:xfrm>
            <a:off x="548640" y="1847088"/>
            <a:ext cx="2615184" cy="1536192"/>
          </a:xfrm>
          <a:prstGeom prst="roundRect">
            <a:avLst>
              <a:gd name="adj" fmla="val 3571"/>
            </a:avLst>
          </a:prstGeom>
          <a:solidFill>
            <a:srgbClr val="0E1D33"/>
          </a:solidFill>
          <a:ln w="12700">
            <a:solidFill>
              <a:srgbClr val="0E1D33"/>
            </a:solidFill>
            <a:prstDash val="solid"/>
          </a:ln>
        </p:spPr>
      </p:sp>
      <p:sp>
        <p:nvSpPr>
          <p:cNvPr id="6" name="Shape 4"/>
          <p:cNvSpPr/>
          <p:nvPr/>
        </p:nvSpPr>
        <p:spPr>
          <a:xfrm>
            <a:off x="777240" y="1993392"/>
            <a:ext cx="384048" cy="384048"/>
          </a:xfrm>
          <a:prstGeom prst="ellipse">
            <a:avLst/>
          </a:prstGeom>
          <a:solidFill>
            <a:srgbClr val="1391B5"/>
          </a:solidFill>
          <a:ln w="12700">
            <a:solidFill>
              <a:srgbClr val="333333"/>
            </a:solidFill>
            <a:prstDash val="solid"/>
          </a:ln>
        </p:spPr>
      </p:sp>
      <p:sp>
        <p:nvSpPr>
          <p:cNvPr id="7" name="Text 5"/>
          <p:cNvSpPr/>
          <p:nvPr/>
        </p:nvSpPr>
        <p:spPr>
          <a:xfrm>
            <a:off x="777240"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61872" y="1993392"/>
            <a:ext cx="173736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Suavizado</a:t>
            </a:r>
            <a:endParaRPr lang="en-US" sz="1250" dirty="0"/>
          </a:p>
        </p:txBody>
      </p:sp>
      <p:sp>
        <p:nvSpPr>
          <p:cNvPr id="9" name="Text 7"/>
          <p:cNvSpPr/>
          <p:nvPr/>
        </p:nvSpPr>
        <p:spPr>
          <a:xfrm>
            <a:off x="777240" y="2523744"/>
            <a:ext cx="2194560" cy="777240"/>
          </a:xfrm>
          <a:prstGeom prst="rect">
            <a:avLst/>
          </a:prstGeom>
          <a:noFill/>
          <a:ln/>
        </p:spPr>
        <p:txBody>
          <a:bodyPr wrap="square" lIns="0" tIns="0" rIns="0" bIns="0" rtlCol="0" anchor="ctr"/>
          <a:lstStyle/>
          <a:p>
            <a:pPr indent="0" marL="0">
              <a:buNone/>
            </a:pPr>
            <a:r>
              <a:rPr lang="en-US" sz="1100" dirty="0">
                <a:solidFill>
                  <a:srgbClr val="AFC6D6"/>
                </a:solidFill>
                <a:latin typeface="Calibri" pitchFamily="34" charset="0"/>
                <a:ea typeface="Calibri" pitchFamily="34" charset="-122"/>
                <a:cs typeface="Calibri" pitchFamily="34" charset="-120"/>
              </a:rPr>
              <a:t>EMA con λ = 0.6</a:t>
            </a:r>
            <a:endParaRPr lang="en-US" sz="1100" dirty="0"/>
          </a:p>
        </p:txBody>
      </p:sp>
      <p:sp>
        <p:nvSpPr>
          <p:cNvPr id="10" name="Shape 8"/>
          <p:cNvSpPr/>
          <p:nvPr/>
        </p:nvSpPr>
        <p:spPr>
          <a:xfrm>
            <a:off x="3346704" y="1847088"/>
            <a:ext cx="2615184" cy="1536192"/>
          </a:xfrm>
          <a:prstGeom prst="roundRect">
            <a:avLst>
              <a:gd name="adj" fmla="val 3571"/>
            </a:avLst>
          </a:prstGeom>
          <a:solidFill>
            <a:srgbClr val="0E1D33"/>
          </a:solidFill>
          <a:ln w="12700">
            <a:solidFill>
              <a:srgbClr val="0E1D33"/>
            </a:solidFill>
            <a:prstDash val="solid"/>
          </a:ln>
        </p:spPr>
      </p:sp>
      <p:sp>
        <p:nvSpPr>
          <p:cNvPr id="11" name="Shape 9"/>
          <p:cNvSpPr/>
          <p:nvPr/>
        </p:nvSpPr>
        <p:spPr>
          <a:xfrm>
            <a:off x="3575304" y="1993392"/>
            <a:ext cx="384048" cy="384048"/>
          </a:xfrm>
          <a:prstGeom prst="ellipse">
            <a:avLst/>
          </a:prstGeom>
          <a:solidFill>
            <a:srgbClr val="1391B5"/>
          </a:solidFill>
          <a:ln w="12700">
            <a:solidFill>
              <a:srgbClr val="333333"/>
            </a:solidFill>
            <a:prstDash val="solid"/>
          </a:ln>
        </p:spPr>
      </p:sp>
      <p:sp>
        <p:nvSpPr>
          <p:cNvPr id="12" name="Text 10"/>
          <p:cNvSpPr/>
          <p:nvPr/>
        </p:nvSpPr>
        <p:spPr>
          <a:xfrm>
            <a:off x="3575304"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059936" y="1993392"/>
            <a:ext cx="173736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Banda muerta</a:t>
            </a:r>
            <a:endParaRPr lang="en-US" sz="1250" dirty="0"/>
          </a:p>
          <a:p>
            <a:pPr indent="0" marL="0">
              <a:buNone/>
            </a:pPr>
            <a:r>
              <a:rPr lang="en-US" sz="1250" b="1" dirty="0">
                <a:solidFill>
                  <a:srgbClr val="FFFFFF"/>
                </a:solidFill>
                <a:latin typeface="Calibri" pitchFamily="34" charset="0"/>
                <a:ea typeface="Calibri" pitchFamily="34" charset="-122"/>
                <a:cs typeface="Calibri" pitchFamily="34" charset="-120"/>
              </a:rPr>
              <a:t>+ histéresis</a:t>
            </a:r>
            <a:endParaRPr lang="en-US" sz="1250" dirty="0"/>
          </a:p>
        </p:txBody>
      </p:sp>
      <p:sp>
        <p:nvSpPr>
          <p:cNvPr id="14" name="Text 12"/>
          <p:cNvSpPr/>
          <p:nvPr/>
        </p:nvSpPr>
        <p:spPr>
          <a:xfrm>
            <a:off x="3575304" y="2523744"/>
            <a:ext cx="2194560" cy="777240"/>
          </a:xfrm>
          <a:prstGeom prst="rect">
            <a:avLst/>
          </a:prstGeom>
          <a:noFill/>
          <a:ln/>
        </p:spPr>
        <p:txBody>
          <a:bodyPr wrap="square" lIns="0" tIns="0" rIns="0" bIns="0" rtlCol="0" anchor="ctr"/>
          <a:lstStyle/>
          <a:p>
            <a:pPr indent="0" marL="0">
              <a:buNone/>
            </a:pPr>
            <a:r>
              <a:rPr lang="en-US" sz="1100" dirty="0">
                <a:solidFill>
                  <a:srgbClr val="AFC6D6"/>
                </a:solidFill>
                <a:latin typeface="Calibri" pitchFamily="34" charset="0"/>
                <a:ea typeface="Calibri" pitchFamily="34" charset="-122"/>
                <a:cs typeface="Calibri" pitchFamily="34" charset="-120"/>
              </a:rPr>
              <a:t>Zona óptima entre 1.0 y 1.6; los umbrales se desplazan 0.12 contra el sentido de marcha</a:t>
            </a:r>
            <a:endParaRPr lang="en-US" sz="1100" dirty="0"/>
          </a:p>
        </p:txBody>
      </p:sp>
      <p:sp>
        <p:nvSpPr>
          <p:cNvPr id="15" name="Shape 13"/>
          <p:cNvSpPr/>
          <p:nvPr/>
        </p:nvSpPr>
        <p:spPr>
          <a:xfrm>
            <a:off x="6144768" y="1847088"/>
            <a:ext cx="2615184" cy="1536192"/>
          </a:xfrm>
          <a:prstGeom prst="roundRect">
            <a:avLst>
              <a:gd name="adj" fmla="val 3571"/>
            </a:avLst>
          </a:prstGeom>
          <a:solidFill>
            <a:srgbClr val="0E1D33"/>
          </a:solidFill>
          <a:ln w="12700">
            <a:solidFill>
              <a:srgbClr val="0E1D33"/>
            </a:solidFill>
            <a:prstDash val="solid"/>
          </a:ln>
        </p:spPr>
      </p:sp>
      <p:sp>
        <p:nvSpPr>
          <p:cNvPr id="16" name="Shape 14"/>
          <p:cNvSpPr/>
          <p:nvPr/>
        </p:nvSpPr>
        <p:spPr>
          <a:xfrm>
            <a:off x="6373368" y="1993392"/>
            <a:ext cx="384048" cy="384048"/>
          </a:xfrm>
          <a:prstGeom prst="ellipse">
            <a:avLst/>
          </a:prstGeom>
          <a:solidFill>
            <a:srgbClr val="1391B5"/>
          </a:solidFill>
          <a:ln w="12700">
            <a:solidFill>
              <a:srgbClr val="333333"/>
            </a:solidFill>
            <a:prstDash val="solid"/>
          </a:ln>
        </p:spPr>
      </p:sp>
      <p:sp>
        <p:nvSpPr>
          <p:cNvPr id="17" name="Text 15"/>
          <p:cNvSpPr/>
          <p:nvPr/>
        </p:nvSpPr>
        <p:spPr>
          <a:xfrm>
            <a:off x="6373368"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858000" y="1993392"/>
            <a:ext cx="173736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Persistencia</a:t>
            </a:r>
            <a:endParaRPr lang="en-US" sz="1250" dirty="0"/>
          </a:p>
        </p:txBody>
      </p:sp>
      <p:sp>
        <p:nvSpPr>
          <p:cNvPr id="19" name="Text 17"/>
          <p:cNvSpPr/>
          <p:nvPr/>
        </p:nvSpPr>
        <p:spPr>
          <a:xfrm>
            <a:off x="6373368" y="2523744"/>
            <a:ext cx="2194560" cy="777240"/>
          </a:xfrm>
          <a:prstGeom prst="rect">
            <a:avLst/>
          </a:prstGeom>
          <a:noFill/>
          <a:ln/>
        </p:spPr>
        <p:txBody>
          <a:bodyPr wrap="square" lIns="0" tIns="0" rIns="0" bIns="0" rtlCol="0" anchor="ctr"/>
          <a:lstStyle/>
          <a:p>
            <a:pPr indent="0" marL="0">
              <a:buNone/>
            </a:pPr>
            <a:r>
              <a:rPr lang="en-US" sz="1100" dirty="0">
                <a:solidFill>
                  <a:srgbClr val="AFC6D6"/>
                </a:solidFill>
                <a:latin typeface="Calibri" pitchFamily="34" charset="0"/>
                <a:ea typeface="Calibri" pitchFamily="34" charset="-122"/>
                <a:cs typeface="Calibri" pitchFamily="34" charset="-120"/>
              </a:rPr>
              <a:t>La nueva zona debe sostenerse 3 ventanas (6 s) antes de adoptarse</a:t>
            </a:r>
            <a:endParaRPr lang="en-US" sz="1100" dirty="0"/>
          </a:p>
        </p:txBody>
      </p:sp>
      <p:sp>
        <p:nvSpPr>
          <p:cNvPr id="20" name="Shape 18"/>
          <p:cNvSpPr/>
          <p:nvPr/>
        </p:nvSpPr>
        <p:spPr>
          <a:xfrm>
            <a:off x="8942832" y="1847088"/>
            <a:ext cx="2615184" cy="1536192"/>
          </a:xfrm>
          <a:prstGeom prst="roundRect">
            <a:avLst>
              <a:gd name="adj" fmla="val 3571"/>
            </a:avLst>
          </a:prstGeom>
          <a:solidFill>
            <a:srgbClr val="0E1D33"/>
          </a:solidFill>
          <a:ln w="12700">
            <a:solidFill>
              <a:srgbClr val="0E1D33"/>
            </a:solidFill>
            <a:prstDash val="solid"/>
          </a:ln>
        </p:spPr>
      </p:sp>
      <p:sp>
        <p:nvSpPr>
          <p:cNvPr id="21" name="Shape 19"/>
          <p:cNvSpPr/>
          <p:nvPr/>
        </p:nvSpPr>
        <p:spPr>
          <a:xfrm>
            <a:off x="9171432" y="1993392"/>
            <a:ext cx="384048" cy="384048"/>
          </a:xfrm>
          <a:prstGeom prst="ellipse">
            <a:avLst/>
          </a:prstGeom>
          <a:solidFill>
            <a:srgbClr val="1391B5"/>
          </a:solidFill>
          <a:ln w="12700">
            <a:solidFill>
              <a:srgbClr val="333333"/>
            </a:solidFill>
            <a:prstDash val="solid"/>
          </a:ln>
        </p:spPr>
      </p:sp>
      <p:sp>
        <p:nvSpPr>
          <p:cNvPr id="22" name="Text 20"/>
          <p:cNvSpPr/>
          <p:nvPr/>
        </p:nvSpPr>
        <p:spPr>
          <a:xfrm>
            <a:off x="9171432"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656064" y="1993392"/>
            <a:ext cx="173736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Refractario</a:t>
            </a:r>
            <a:endParaRPr lang="en-US" sz="1250" dirty="0"/>
          </a:p>
        </p:txBody>
      </p:sp>
      <p:sp>
        <p:nvSpPr>
          <p:cNvPr id="24" name="Text 22"/>
          <p:cNvSpPr/>
          <p:nvPr/>
        </p:nvSpPr>
        <p:spPr>
          <a:xfrm>
            <a:off x="9171432" y="2523744"/>
            <a:ext cx="2194560" cy="777240"/>
          </a:xfrm>
          <a:prstGeom prst="rect">
            <a:avLst/>
          </a:prstGeom>
          <a:noFill/>
          <a:ln/>
        </p:spPr>
        <p:txBody>
          <a:bodyPr wrap="square" lIns="0" tIns="0" rIns="0" bIns="0" rtlCol="0" anchor="ctr"/>
          <a:lstStyle/>
          <a:p>
            <a:pPr indent="0" marL="0">
              <a:buNone/>
            </a:pPr>
            <a:r>
              <a:rPr lang="en-US" sz="1100" dirty="0">
                <a:solidFill>
                  <a:srgbClr val="AFC6D6"/>
                </a:solidFill>
                <a:latin typeface="Calibri" pitchFamily="34" charset="0"/>
                <a:ea typeface="Calibri" pitchFamily="34" charset="-122"/>
                <a:cs typeface="Calibri" pitchFamily="34" charset="-120"/>
              </a:rPr>
              <a:t>10 s sin nuevas acciones, para dar tiempo a que el aprendiz responda</a:t>
            </a:r>
            <a:endParaRPr lang="en-US" sz="1100" dirty="0"/>
          </a:p>
        </p:txBody>
      </p:sp>
      <p:sp>
        <p:nvSpPr>
          <p:cNvPr id="25" name="Shape 23"/>
          <p:cNvSpPr/>
          <p:nvPr/>
        </p:nvSpPr>
        <p:spPr>
          <a:xfrm>
            <a:off x="548640" y="3547872"/>
            <a:ext cx="5440680" cy="1207008"/>
          </a:xfrm>
          <a:prstGeom prst="roundRect">
            <a:avLst>
              <a:gd name="adj" fmla="val 4545"/>
            </a:avLst>
          </a:prstGeom>
          <a:solidFill>
            <a:srgbClr val="F1F5F8"/>
          </a:solidFill>
          <a:ln w="12700">
            <a:solidFill>
              <a:srgbClr val="D8E2EA"/>
            </a:solidFill>
            <a:prstDash val="solid"/>
          </a:ln>
        </p:spPr>
      </p:sp>
      <p:sp>
        <p:nvSpPr>
          <p:cNvPr id="26" name="Text 24"/>
          <p:cNvSpPr/>
          <p:nvPr/>
        </p:nvSpPr>
        <p:spPr>
          <a:xfrm>
            <a:off x="777240" y="3657600"/>
            <a:ext cx="493776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Pasos asimétricos, a propósito</a:t>
            </a:r>
            <a:endParaRPr lang="en-US" sz="1350" dirty="0"/>
          </a:p>
        </p:txBody>
      </p:sp>
      <p:sp>
        <p:nvSpPr>
          <p:cNvPr id="27" name="Text 25"/>
          <p:cNvSpPr/>
          <p:nvPr/>
        </p:nvSpPr>
        <p:spPr>
          <a:xfrm>
            <a:off x="777240" y="3959352"/>
            <a:ext cx="4937760" cy="731520"/>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Aliviar tras una lectura de sobrecarga es la dirección segura y debe ser pronta (Δ↓ = 0.15). Exigir más tras una lectura de infracarga debe ser gradual (Δ↑ = 0.08): un score bajo también aparece entre sub-tareas.</a:t>
            </a:r>
            <a:endParaRPr lang="en-US" sz="1100" dirty="0"/>
          </a:p>
        </p:txBody>
      </p:sp>
      <p:sp>
        <p:nvSpPr>
          <p:cNvPr id="28" name="Shape 26"/>
          <p:cNvSpPr/>
          <p:nvPr/>
        </p:nvSpPr>
        <p:spPr>
          <a:xfrm>
            <a:off x="6199632" y="3547872"/>
            <a:ext cx="5440680" cy="1207008"/>
          </a:xfrm>
          <a:prstGeom prst="roundRect">
            <a:avLst>
              <a:gd name="adj" fmla="val 4545"/>
            </a:avLst>
          </a:prstGeom>
          <a:solidFill>
            <a:srgbClr val="F1F5F8"/>
          </a:solidFill>
          <a:ln w="12700">
            <a:solidFill>
              <a:srgbClr val="D8E2EA"/>
            </a:solidFill>
            <a:prstDash val="solid"/>
          </a:ln>
        </p:spPr>
      </p:sp>
      <p:sp>
        <p:nvSpPr>
          <p:cNvPr id="29" name="Text 27"/>
          <p:cNvSpPr/>
          <p:nvPr/>
        </p:nvSpPr>
        <p:spPr>
          <a:xfrm>
            <a:off x="6428232" y="3657600"/>
            <a:ext cx="493776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Qué puede moverse y cuándo</a:t>
            </a:r>
            <a:endParaRPr lang="en-US" sz="1350" dirty="0"/>
          </a:p>
        </p:txBody>
      </p:sp>
      <p:sp>
        <p:nvSpPr>
          <p:cNvPr id="30" name="Text 28"/>
          <p:cNvSpPr/>
          <p:nvPr/>
        </p:nvSpPr>
        <p:spPr>
          <a:xfrm>
            <a:off x="6428232" y="3959352"/>
            <a:ext cx="4937760" cy="731520"/>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Continuos (escalado de movimiento, ganancia háptica, umbral de tensión): al instante y rampados, para que no se sientan como un tirón. De frontera (dianas y umbrales de puntuación): solo entre ejercicios — cambiar el criterio de calificación a media sutura invalida la comparación.</a:t>
            </a:r>
            <a:endParaRPr lang="en-US" sz="1100" dirty="0"/>
          </a:p>
        </p:txBody>
      </p:sp>
      <p:sp>
        <p:nvSpPr>
          <p:cNvPr id="31" name="Shape 29"/>
          <p:cNvSpPr/>
          <p:nvPr/>
        </p:nvSpPr>
        <p:spPr>
          <a:xfrm>
            <a:off x="548640" y="4919472"/>
            <a:ext cx="11091672" cy="1143000"/>
          </a:xfrm>
          <a:prstGeom prst="roundRect">
            <a:avLst>
              <a:gd name="adj" fmla="val 4800"/>
            </a:avLst>
          </a:prstGeom>
          <a:solidFill>
            <a:srgbClr val="EEF7F1"/>
          </a:solidFill>
          <a:ln w="12700">
            <a:solidFill>
              <a:srgbClr val="C9E4D5"/>
            </a:solidFill>
            <a:prstDash val="solid"/>
          </a:ln>
        </p:spPr>
      </p:sp>
      <p:sp>
        <p:nvSpPr>
          <p:cNvPr id="32" name="Text 30"/>
          <p:cNvSpPr/>
          <p:nvPr/>
        </p:nvSpPr>
        <p:spPr>
          <a:xfrm>
            <a:off x="868680" y="5029200"/>
            <a:ext cx="10424160" cy="274320"/>
          </a:xfrm>
          <a:prstGeom prst="rect">
            <a:avLst/>
          </a:prstGeom>
          <a:noFill/>
          <a:ln/>
        </p:spPr>
        <p:txBody>
          <a:bodyPr wrap="square" lIns="0" tIns="0" rIns="0" bIns="0" rtlCol="0" anchor="ctr"/>
          <a:lstStyle/>
          <a:p>
            <a:pPr indent="0" marL="0">
              <a:buNone/>
            </a:pPr>
            <a:r>
              <a:rPr lang="en-US" sz="1350" b="1" dirty="0">
                <a:solidFill>
                  <a:srgbClr val="2E9E6B"/>
                </a:solidFill>
                <a:latin typeface="Calibri" pitchFamily="34" charset="0"/>
                <a:ea typeface="Calibri" pitchFamily="34" charset="-122"/>
                <a:cs typeface="Calibri" pitchFamily="34" charset="-120"/>
              </a:rPr>
              <a:t>Puerta de desempeño: el segundo camino, sin pasar por el EEG</a:t>
            </a:r>
            <a:endParaRPr lang="en-US" sz="1350" dirty="0"/>
          </a:p>
        </p:txBody>
      </p:sp>
      <p:sp>
        <p:nvSpPr>
          <p:cNvPr id="33" name="Text 31"/>
          <p:cNvSpPr/>
          <p:nvPr/>
        </p:nvSpPr>
        <p:spPr>
          <a:xfrm>
            <a:off x="868680" y="5330952"/>
            <a:ext cx="10424160" cy="594360"/>
          </a:xfrm>
          <a:prstGeom prst="rect">
            <a:avLst/>
          </a:prstGeom>
          <a:noFill/>
          <a:ln/>
        </p:spPr>
        <p:txBody>
          <a:bodyPr wrap="square" lIns="0" tIns="0" rIns="0" bIns="0" rtlCol="0" anchor="ctr"/>
          <a:lstStyle/>
          <a:p>
            <a:pPr indent="0" marL="0">
              <a:buNone/>
            </a:pPr>
            <a:r>
              <a:rPr lang="en-US" sz="1200" dirty="0">
                <a:solidFill>
                  <a:srgbClr val="2E4A3C"/>
                </a:solidFill>
                <a:latin typeface="Calibri" pitchFamily="34" charset="0"/>
                <a:ea typeface="Calibri" pitchFamily="34" charset="-122"/>
                <a:cs typeface="Calibri" pitchFamily="34" charset="-120"/>
              </a:rPr>
              <a:t>El entrenador ya sabe en línea si el aprendiz está fallando (punción fuera de diana, tensión excesiva, aguja caída). Si la lectura EEG dice sobrecarga pero no hay errores recientes, el controlador sostiene en vez de aliviar: es esfuerzo productivo, no saturación.</a:t>
            </a:r>
            <a:endParaRPr lang="en-US" sz="1200" dirty="0"/>
          </a:p>
        </p:txBody>
      </p:sp>
      <p:sp>
        <p:nvSpPr>
          <p:cNvPr id="34" name="Text 32"/>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35" name="Text 33"/>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EVALUACIÓN SOFTWARE-IN-THE-LOOP</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El bucle, medido: guardas anti-oscilación</a:t>
            </a:r>
            <a:endParaRPr lang="en-US" sz="3000" dirty="0"/>
          </a:p>
        </p:txBody>
      </p:sp>
      <p:sp>
        <p:nvSpPr>
          <p:cNvPr id="4" name="Text 2"/>
          <p:cNvSpPr/>
          <p:nvPr/>
        </p:nvSpPr>
        <p:spPr>
          <a:xfrm>
            <a:off x="548640" y="1371600"/>
            <a:ext cx="11091672" cy="411480"/>
          </a:xfrm>
          <a:prstGeom prst="rect">
            <a:avLst/>
          </a:prstGeom>
          <a:noFill/>
          <a:ln/>
        </p:spPr>
        <p:txBody>
          <a:bodyPr wrap="square" lIns="0" tIns="0" rIns="0" bIns="0" rtlCol="0" anchor="ctr"/>
          <a:lstStyle/>
          <a:p>
            <a:pPr indent="0" marL="0">
              <a:buNone/>
            </a:pPr>
            <a:r>
              <a:rPr lang="en-US" sz="1250" dirty="0">
                <a:solidFill>
                  <a:srgbClr val="5D6E7E"/>
                </a:solidFill>
                <a:latin typeface="Calibri" pitchFamily="34" charset="0"/>
                <a:ea typeface="Calibri" pitchFamily="34" charset="-122"/>
                <a:cs typeface="Calibri" pitchFamily="34" charset="-120"/>
              </a:rPr>
              <a:t>Protocolo: se reproducen 5,369 estimaciones de carga por ventana de 15 sujetos, cada una producida por un modelo que nunca vio a esa persona, sobre una rampa impuesta reposo → baja → media → alta → reposo (12 min por sujeto en promedio).</a:t>
            </a:r>
            <a:endParaRPr lang="en-US" sz="1250" dirty="0"/>
          </a:p>
        </p:txBody>
      </p:sp>
      <p:pic>
        <p:nvPicPr>
          <p:cNvPr id="5" name="Image 0" descr="/private/tmp/claude-501/-Users-rafael-Documents-Proyectos-Personales-Doctorado/c74dcdf8-f3d0-4879-b253-764a4009216b/scratchpad/fig/fig_adaptive_loop.png">    </p:cNvPr>
          <p:cNvPicPr>
            <a:picLocks noChangeAspect="1"/>
          </p:cNvPicPr>
          <p:nvPr/>
        </p:nvPicPr>
        <p:blipFill>
          <a:blip r:embed="rId1"/>
          <a:stretch>
            <a:fillRect/>
          </a:stretch>
        </p:blipFill>
        <p:spPr>
          <a:xfrm>
            <a:off x="548640" y="1874520"/>
            <a:ext cx="6492240" cy="2331720"/>
          </a:xfrm>
          <a:prstGeom prst="rect">
            <a:avLst/>
          </a:prstGeom>
        </p:spPr>
      </p:pic>
      <p:sp>
        <p:nvSpPr>
          <p:cNvPr id="6" name="Text 3"/>
          <p:cNvSpPr/>
          <p:nvPr/>
        </p:nvSpPr>
        <p:spPr>
          <a:xfrm>
            <a:off x="548640" y="4224528"/>
            <a:ext cx="6492240" cy="320040"/>
          </a:xfrm>
          <a:prstGeom prst="rect">
            <a:avLst/>
          </a:prstGeom>
          <a:noFill/>
          <a:ln/>
        </p:spPr>
        <p:txBody>
          <a:bodyPr wrap="square" lIns="0" tIns="0" rIns="0" bIns="0" rtlCol="0" anchor="ctr"/>
          <a:lstStyle/>
          <a:p>
            <a:pPr indent="0" marL="0">
              <a:buNone/>
            </a:pPr>
            <a:r>
              <a:rPr lang="en-US" sz="1050" i="1" dirty="0">
                <a:solidFill>
                  <a:srgbClr val="5D6E7E"/>
                </a:solidFill>
                <a:latin typeface="Calibri" pitchFamily="34" charset="0"/>
                <a:ea typeface="Calibri" pitchFamily="34" charset="-122"/>
                <a:cs typeface="Calibri" pitchFamily="34" charset="-120"/>
              </a:rPr>
              <a:t>(a) Sesión del sujeto en la mediana de concordancia.  (b) Conmutaciones de zona por minuto al añadir las guardas.</a:t>
            </a:r>
            <a:endParaRPr lang="en-US" sz="1050" dirty="0"/>
          </a:p>
        </p:txBody>
      </p:sp>
      <p:sp>
        <p:nvSpPr>
          <p:cNvPr id="7" name="Shape 4"/>
          <p:cNvSpPr/>
          <p:nvPr/>
        </p:nvSpPr>
        <p:spPr>
          <a:xfrm>
            <a:off x="7269480" y="1874520"/>
            <a:ext cx="4370832" cy="713232"/>
          </a:xfrm>
          <a:prstGeom prst="roundRect">
            <a:avLst>
              <a:gd name="adj" fmla="val 7692"/>
            </a:avLst>
          </a:prstGeom>
          <a:solidFill>
            <a:srgbClr val="F1F5F8"/>
          </a:solidFill>
          <a:ln w="12700">
            <a:solidFill>
              <a:srgbClr val="D8E2EA"/>
            </a:solidFill>
            <a:prstDash val="solid"/>
          </a:ln>
        </p:spPr>
      </p:sp>
      <p:sp>
        <p:nvSpPr>
          <p:cNvPr id="8" name="Text 5"/>
          <p:cNvSpPr/>
          <p:nvPr/>
        </p:nvSpPr>
        <p:spPr>
          <a:xfrm>
            <a:off x="7498080" y="1947672"/>
            <a:ext cx="3931920" cy="320040"/>
          </a:xfrm>
          <a:prstGeom prst="rect">
            <a:avLst/>
          </a:prstGeom>
          <a:noFill/>
          <a:ln/>
        </p:spPr>
        <p:txBody>
          <a:bodyPr wrap="square" lIns="0" tIns="0" rIns="0" bIns="0" rtlCol="0" anchor="ctr"/>
          <a:lstStyle/>
          <a:p>
            <a:pPr indent="0" marL="0">
              <a:buNone/>
            </a:pPr>
            <a:r>
              <a:rPr lang="en-US" sz="1700" b="1" dirty="0">
                <a:solidFill>
                  <a:srgbClr val="1391B5"/>
                </a:solidFill>
                <a:latin typeface="Cambria" pitchFamily="34" charset="0"/>
                <a:ea typeface="Cambria" pitchFamily="34" charset="-122"/>
                <a:cs typeface="Cambria" pitchFamily="34" charset="-120"/>
              </a:rPr>
              <a:t>12.2 → 1.2</a:t>
            </a:r>
            <a:endParaRPr lang="en-US" sz="1700" dirty="0"/>
          </a:p>
        </p:txBody>
      </p:sp>
      <p:sp>
        <p:nvSpPr>
          <p:cNvPr id="9" name="Text 6"/>
          <p:cNvSpPr/>
          <p:nvPr/>
        </p:nvSpPr>
        <p:spPr>
          <a:xfrm>
            <a:off x="7498080" y="2276856"/>
            <a:ext cx="3931920" cy="256032"/>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conmutaciones de zona por minuto</a:t>
            </a:r>
            <a:endParaRPr lang="en-US" sz="1100" dirty="0"/>
          </a:p>
        </p:txBody>
      </p:sp>
      <p:sp>
        <p:nvSpPr>
          <p:cNvPr id="10" name="Shape 7"/>
          <p:cNvSpPr/>
          <p:nvPr/>
        </p:nvSpPr>
        <p:spPr>
          <a:xfrm>
            <a:off x="7269480" y="2697480"/>
            <a:ext cx="4370832" cy="713232"/>
          </a:xfrm>
          <a:prstGeom prst="roundRect">
            <a:avLst>
              <a:gd name="adj" fmla="val 7692"/>
            </a:avLst>
          </a:prstGeom>
          <a:solidFill>
            <a:srgbClr val="F1F5F8"/>
          </a:solidFill>
          <a:ln w="12700">
            <a:solidFill>
              <a:srgbClr val="D8E2EA"/>
            </a:solidFill>
            <a:prstDash val="solid"/>
          </a:ln>
        </p:spPr>
      </p:sp>
      <p:sp>
        <p:nvSpPr>
          <p:cNvPr id="11" name="Text 8"/>
          <p:cNvSpPr/>
          <p:nvPr/>
        </p:nvSpPr>
        <p:spPr>
          <a:xfrm>
            <a:off x="7498080" y="2770632"/>
            <a:ext cx="3931920" cy="320040"/>
          </a:xfrm>
          <a:prstGeom prst="rect">
            <a:avLst/>
          </a:prstGeom>
          <a:noFill/>
          <a:ln/>
        </p:spPr>
        <p:txBody>
          <a:bodyPr wrap="square" lIns="0" tIns="0" rIns="0" bIns="0" rtlCol="0" anchor="ctr"/>
          <a:lstStyle/>
          <a:p>
            <a:pPr indent="0" marL="0">
              <a:buNone/>
            </a:pPr>
            <a:r>
              <a:rPr lang="en-US" sz="1700" b="1" dirty="0">
                <a:solidFill>
                  <a:srgbClr val="1B3A5C"/>
                </a:solidFill>
                <a:latin typeface="Cambria" pitchFamily="34" charset="0"/>
                <a:ea typeface="Cambria" pitchFamily="34" charset="-122"/>
                <a:cs typeface="Cambria" pitchFamily="34" charset="-120"/>
              </a:rPr>
              <a:t>7.2 → 0.6</a:t>
            </a:r>
            <a:endParaRPr lang="en-US" sz="1700" dirty="0"/>
          </a:p>
        </p:txBody>
      </p:sp>
      <p:sp>
        <p:nvSpPr>
          <p:cNvPr id="12" name="Text 9"/>
          <p:cNvSpPr/>
          <p:nvPr/>
        </p:nvSpPr>
        <p:spPr>
          <a:xfrm>
            <a:off x="7498080" y="3099816"/>
            <a:ext cx="3931920" cy="256032"/>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acciones de dificultad por minuto</a:t>
            </a:r>
            <a:endParaRPr lang="en-US" sz="1100" dirty="0"/>
          </a:p>
        </p:txBody>
      </p:sp>
      <p:sp>
        <p:nvSpPr>
          <p:cNvPr id="13" name="Shape 10"/>
          <p:cNvSpPr/>
          <p:nvPr/>
        </p:nvSpPr>
        <p:spPr>
          <a:xfrm>
            <a:off x="7269480" y="3520440"/>
            <a:ext cx="4370832" cy="713232"/>
          </a:xfrm>
          <a:prstGeom prst="roundRect">
            <a:avLst>
              <a:gd name="adj" fmla="val 7692"/>
            </a:avLst>
          </a:prstGeom>
          <a:solidFill>
            <a:srgbClr val="F1F5F8"/>
          </a:solidFill>
          <a:ln w="12700">
            <a:solidFill>
              <a:srgbClr val="D8E2EA"/>
            </a:solidFill>
            <a:prstDash val="solid"/>
          </a:ln>
        </p:spPr>
      </p:sp>
      <p:sp>
        <p:nvSpPr>
          <p:cNvPr id="14" name="Text 11"/>
          <p:cNvSpPr/>
          <p:nvPr/>
        </p:nvSpPr>
        <p:spPr>
          <a:xfrm>
            <a:off x="7498080" y="3593592"/>
            <a:ext cx="3931920" cy="320040"/>
          </a:xfrm>
          <a:prstGeom prst="rect">
            <a:avLst/>
          </a:prstGeom>
          <a:noFill/>
          <a:ln/>
        </p:spPr>
        <p:txBody>
          <a:bodyPr wrap="square" lIns="0" tIns="0" rIns="0" bIns="0" rtlCol="0" anchor="ctr"/>
          <a:lstStyle/>
          <a:p>
            <a:pPr indent="0" marL="0">
              <a:buNone/>
            </a:pPr>
            <a:r>
              <a:rPr lang="en-US" sz="1700" b="1" dirty="0">
                <a:solidFill>
                  <a:srgbClr val="2E9E6B"/>
                </a:solidFill>
                <a:latin typeface="Cambria" pitchFamily="34" charset="0"/>
                <a:ea typeface="Cambria" pitchFamily="34" charset="-122"/>
                <a:cs typeface="Cambria" pitchFamily="34" charset="-120"/>
              </a:rPr>
              <a:t>cada 8 s → cada 100 s</a:t>
            </a:r>
            <a:endParaRPr lang="en-US" sz="1700" dirty="0"/>
          </a:p>
        </p:txBody>
      </p:sp>
      <p:sp>
        <p:nvSpPr>
          <p:cNvPr id="15" name="Text 12"/>
          <p:cNvSpPr/>
          <p:nvPr/>
        </p:nvSpPr>
        <p:spPr>
          <a:xfrm>
            <a:off x="7498080" y="3922776"/>
            <a:ext cx="3931920" cy="256032"/>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frecuencia con que se reconfigura el entrenador</a:t>
            </a:r>
            <a:endParaRPr lang="en-US" sz="1100" dirty="0"/>
          </a:p>
        </p:txBody>
      </p:sp>
      <p:sp>
        <p:nvSpPr>
          <p:cNvPr id="16" name="Shape 13"/>
          <p:cNvSpPr/>
          <p:nvPr/>
        </p:nvSpPr>
        <p:spPr>
          <a:xfrm>
            <a:off x="7269480" y="4343400"/>
            <a:ext cx="4370832" cy="868680"/>
          </a:xfrm>
          <a:prstGeom prst="roundRect">
            <a:avLst>
              <a:gd name="adj" fmla="val 6316"/>
            </a:avLst>
          </a:prstGeom>
          <a:solidFill>
            <a:srgbClr val="DCEEF5"/>
          </a:solidFill>
          <a:ln w="12700">
            <a:solidFill>
              <a:srgbClr val="BEDDE9"/>
            </a:solidFill>
            <a:prstDash val="solid"/>
          </a:ln>
        </p:spPr>
      </p:sp>
      <p:sp>
        <p:nvSpPr>
          <p:cNvPr id="17" name="Text 14"/>
          <p:cNvSpPr/>
          <p:nvPr/>
        </p:nvSpPr>
        <p:spPr>
          <a:xfrm>
            <a:off x="7498080" y="4434840"/>
            <a:ext cx="3931920" cy="731520"/>
          </a:xfrm>
          <a:prstGeom prst="rect">
            <a:avLst/>
          </a:prstGeom>
          <a:noFill/>
          <a:ln/>
        </p:spPr>
        <p:txBody>
          <a:bodyPr wrap="square" lIns="0" tIns="0" rIns="0" bIns="0" rtlCol="0" anchor="ctr"/>
          <a:lstStyle/>
          <a:p>
            <a:pPr indent="0" marL="0">
              <a:buNone/>
            </a:pPr>
            <a:r>
              <a:rPr lang="en-US" sz="1150" dirty="0">
                <a:solidFill>
                  <a:srgbClr val="26424F"/>
                </a:solidFill>
                <a:latin typeface="Calibri" pitchFamily="34" charset="0"/>
                <a:ea typeface="Calibri" pitchFamily="34" charset="-122"/>
                <a:cs typeface="Calibri" pitchFamily="34" charset="-120"/>
              </a:rPr>
              <a:t>Y sin costo en concordancia: 0.534 sin guardas → 0.572 con todas (baseline por mayoría 0.467). Filtrar nueve de cada diez conmutaciones no empeoró el seguimiento.</a:t>
            </a:r>
            <a:endParaRPr lang="en-US" sz="1150" dirty="0"/>
          </a:p>
        </p:txBody>
      </p:sp>
      <p:sp>
        <p:nvSpPr>
          <p:cNvPr id="18" name="Shape 15"/>
          <p:cNvSpPr/>
          <p:nvPr/>
        </p:nvSpPr>
        <p:spPr>
          <a:xfrm>
            <a:off x="548640" y="4709160"/>
            <a:ext cx="6492240" cy="1325880"/>
          </a:xfrm>
          <a:prstGeom prst="roundRect">
            <a:avLst>
              <a:gd name="adj" fmla="val 4138"/>
            </a:avLst>
          </a:prstGeom>
          <a:solidFill>
            <a:srgbClr val="F1F5F8"/>
          </a:solidFill>
          <a:ln w="12700">
            <a:solidFill>
              <a:srgbClr val="D8E2EA"/>
            </a:solidFill>
            <a:prstDash val="solid"/>
          </a:ln>
        </p:spPr>
      </p:sp>
      <p:sp>
        <p:nvSpPr>
          <p:cNvPr id="19" name="Text 16"/>
          <p:cNvSpPr/>
          <p:nvPr/>
        </p:nvSpPr>
        <p:spPr>
          <a:xfrm>
            <a:off x="777240" y="4828032"/>
            <a:ext cx="603504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Por qué importa</a:t>
            </a:r>
            <a:endParaRPr lang="en-US" sz="1350" dirty="0"/>
          </a:p>
        </p:txBody>
      </p:sp>
      <p:sp>
        <p:nvSpPr>
          <p:cNvPr id="20" name="Text 17"/>
          <p:cNvSpPr/>
          <p:nvPr/>
        </p:nvSpPr>
        <p:spPr>
          <a:xfrm>
            <a:off x="777240" y="5138928"/>
            <a:ext cx="6035040" cy="777240"/>
          </a:xfrm>
          <a:prstGeom prst="rect">
            <a:avLst/>
          </a:prstGeom>
          <a:noFill/>
          <a:ln/>
        </p:spPr>
        <p:txBody>
          <a:bodyPr wrap="square" lIns="0" tIns="0" rIns="0" bIns="0" rtlCol="0" anchor="ctr"/>
          <a:lstStyle/>
          <a:p>
            <a:pPr indent="0" marL="0">
              <a:buNone/>
            </a:pPr>
            <a:r>
              <a:rPr lang="en-US" sz="1200" dirty="0">
                <a:solidFill>
                  <a:srgbClr val="5D6E7E"/>
                </a:solidFill>
                <a:latin typeface="Calibri" pitchFamily="34" charset="0"/>
                <a:ea typeface="Calibri" pitchFamily="34" charset="-122"/>
                <a:cs typeface="Calibri" pitchFamily="34" charset="-120"/>
              </a:rPr>
              <a:t>Actuar directamente sobre el score crudo reconfiguraría el entrenador cada ocho segundos: es imposible entrenar así. Cada guarda elimina aproximadamente la mitad de lo que queda. El resultado es un lazo que un aprendiz puede habitar.</a:t>
            </a:r>
            <a:endParaRPr lang="en-US" sz="1200" dirty="0"/>
          </a:p>
        </p:txBody>
      </p:sp>
      <p:sp>
        <p:nvSpPr>
          <p:cNvPr id="21" name="Text 18"/>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22" name="Text 19"/>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HALLAZGO CON CONSECUENCIA DE DISEÑO</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El bucle es asimétrico: reconoce el reposo, no la sobrecarga</a:t>
            </a:r>
            <a:endParaRPr lang="en-US" sz="3000" dirty="0"/>
          </a:p>
        </p:txBody>
      </p:sp>
      <p:sp>
        <p:nvSpPr>
          <p:cNvPr id="4" name="Shape 2"/>
          <p:cNvSpPr/>
          <p:nvPr/>
        </p:nvSpPr>
        <p:spPr>
          <a:xfrm>
            <a:off x="548640" y="1417320"/>
            <a:ext cx="3520440" cy="2514600"/>
          </a:xfrm>
          <a:prstGeom prst="roundRect">
            <a:avLst>
              <a:gd name="adj" fmla="val 2182"/>
            </a:avLst>
          </a:prstGeom>
          <a:solidFill>
            <a:srgbClr val="EEF7F1"/>
          </a:solidFill>
          <a:ln w="12700">
            <a:solidFill>
              <a:srgbClr val="C9E4D5"/>
            </a:solidFill>
            <a:prstDash val="solid"/>
          </a:ln>
        </p:spPr>
      </p:sp>
      <p:sp>
        <p:nvSpPr>
          <p:cNvPr id="5" name="Text 3"/>
          <p:cNvSpPr/>
          <p:nvPr/>
        </p:nvSpPr>
        <p:spPr>
          <a:xfrm>
            <a:off x="804672" y="1554480"/>
            <a:ext cx="3017520" cy="320040"/>
          </a:xfrm>
          <a:prstGeom prst="rect">
            <a:avLst/>
          </a:prstGeom>
          <a:noFill/>
          <a:ln/>
        </p:spPr>
        <p:txBody>
          <a:bodyPr wrap="square" lIns="0" tIns="0" rIns="0" bIns="0" rtlCol="0" anchor="ctr"/>
          <a:lstStyle/>
          <a:p>
            <a:pPr indent="0" marL="0">
              <a:buNone/>
            </a:pPr>
            <a:r>
              <a:rPr lang="en-US" sz="1400" b="1" dirty="0">
                <a:solidFill>
                  <a:srgbClr val="2E9E6B"/>
                </a:solidFill>
                <a:latin typeface="Calibri" pitchFamily="34" charset="0"/>
                <a:ea typeface="Calibri" pitchFamily="34" charset="-122"/>
                <a:cs typeface="Calibri" pitchFamily="34" charset="-120"/>
              </a:rPr>
              <a:t>Dirección «infracarga»</a:t>
            </a:r>
            <a:endParaRPr lang="en-US" sz="1400" dirty="0"/>
          </a:p>
        </p:txBody>
      </p:sp>
      <p:sp>
        <p:nvSpPr>
          <p:cNvPr id="6" name="Text 4"/>
          <p:cNvSpPr/>
          <p:nvPr/>
        </p:nvSpPr>
        <p:spPr>
          <a:xfrm>
            <a:off x="804672" y="19659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Sujetos detectados</a:t>
            </a:r>
            <a:endParaRPr lang="en-US" sz="1150" dirty="0"/>
          </a:p>
        </p:txBody>
      </p:sp>
      <p:sp>
        <p:nvSpPr>
          <p:cNvPr id="7" name="Text 5"/>
          <p:cNvSpPr/>
          <p:nvPr/>
        </p:nvSpPr>
        <p:spPr>
          <a:xfrm>
            <a:off x="2651760" y="1965960"/>
            <a:ext cx="1188720" cy="365760"/>
          </a:xfrm>
          <a:prstGeom prst="rect">
            <a:avLst/>
          </a:prstGeom>
          <a:noFill/>
          <a:ln/>
        </p:spPr>
        <p:txBody>
          <a:bodyPr wrap="square" lIns="0" tIns="0" rIns="0" bIns="0" rtlCol="0" anchor="ctr"/>
          <a:lstStyle/>
          <a:p>
            <a:pPr algn="r" indent="0" marL="0">
              <a:buNone/>
            </a:pPr>
            <a:r>
              <a:rPr lang="en-US" sz="1350" b="1" dirty="0">
                <a:solidFill>
                  <a:srgbClr val="2E9E6B"/>
                </a:solidFill>
                <a:latin typeface="Cambria" pitchFamily="34" charset="0"/>
                <a:ea typeface="Cambria" pitchFamily="34" charset="-122"/>
                <a:cs typeface="Cambria" pitchFamily="34" charset="-120"/>
              </a:rPr>
              <a:t>15 / 15</a:t>
            </a:r>
            <a:endParaRPr lang="en-US" sz="1350" dirty="0"/>
          </a:p>
        </p:txBody>
      </p:sp>
      <p:sp>
        <p:nvSpPr>
          <p:cNvPr id="8" name="Text 6"/>
          <p:cNvSpPr/>
          <p:nvPr/>
        </p:nvSpPr>
        <p:spPr>
          <a:xfrm>
            <a:off x="804672" y="24231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Precisión</a:t>
            </a:r>
            <a:endParaRPr lang="en-US" sz="1150" dirty="0"/>
          </a:p>
        </p:txBody>
      </p:sp>
      <p:sp>
        <p:nvSpPr>
          <p:cNvPr id="9" name="Text 7"/>
          <p:cNvSpPr/>
          <p:nvPr/>
        </p:nvSpPr>
        <p:spPr>
          <a:xfrm>
            <a:off x="2651760" y="2423160"/>
            <a:ext cx="1188720" cy="365760"/>
          </a:xfrm>
          <a:prstGeom prst="rect">
            <a:avLst/>
          </a:prstGeom>
          <a:noFill/>
          <a:ln/>
        </p:spPr>
        <p:txBody>
          <a:bodyPr wrap="square" lIns="0" tIns="0" rIns="0" bIns="0" rtlCol="0" anchor="ctr"/>
          <a:lstStyle/>
          <a:p>
            <a:pPr algn="r" indent="0" marL="0">
              <a:buNone/>
            </a:pPr>
            <a:r>
              <a:rPr lang="en-US" sz="1350" b="1" dirty="0">
                <a:solidFill>
                  <a:srgbClr val="2E9E6B"/>
                </a:solidFill>
                <a:latin typeface="Cambria" pitchFamily="34" charset="0"/>
                <a:ea typeface="Cambria" pitchFamily="34" charset="-122"/>
                <a:cs typeface="Cambria" pitchFamily="34" charset="-120"/>
              </a:rPr>
              <a:t>0.89 ± 0.16</a:t>
            </a:r>
            <a:endParaRPr lang="en-US" sz="1350" dirty="0"/>
          </a:p>
        </p:txBody>
      </p:sp>
      <p:sp>
        <p:nvSpPr>
          <p:cNvPr id="10" name="Text 8"/>
          <p:cNvSpPr/>
          <p:nvPr/>
        </p:nvSpPr>
        <p:spPr>
          <a:xfrm>
            <a:off x="804672" y="28803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Recall</a:t>
            </a:r>
            <a:endParaRPr lang="en-US" sz="1150" dirty="0"/>
          </a:p>
        </p:txBody>
      </p:sp>
      <p:sp>
        <p:nvSpPr>
          <p:cNvPr id="11" name="Text 9"/>
          <p:cNvSpPr/>
          <p:nvPr/>
        </p:nvSpPr>
        <p:spPr>
          <a:xfrm>
            <a:off x="2651760" y="2880360"/>
            <a:ext cx="1188720" cy="365760"/>
          </a:xfrm>
          <a:prstGeom prst="rect">
            <a:avLst/>
          </a:prstGeom>
          <a:noFill/>
          <a:ln/>
        </p:spPr>
        <p:txBody>
          <a:bodyPr wrap="square" lIns="0" tIns="0" rIns="0" bIns="0" rtlCol="0" anchor="ctr"/>
          <a:lstStyle/>
          <a:p>
            <a:pPr algn="r" indent="0" marL="0">
              <a:buNone/>
            </a:pPr>
            <a:r>
              <a:rPr lang="en-US" sz="1350" b="1" dirty="0">
                <a:solidFill>
                  <a:srgbClr val="2E9E6B"/>
                </a:solidFill>
                <a:latin typeface="Cambria" pitchFamily="34" charset="0"/>
                <a:ea typeface="Cambria" pitchFamily="34" charset="-122"/>
                <a:cs typeface="Cambria" pitchFamily="34" charset="-120"/>
              </a:rPr>
              <a:t>0.67 ± 0.12</a:t>
            </a:r>
            <a:endParaRPr lang="en-US" sz="1350" dirty="0"/>
          </a:p>
        </p:txBody>
      </p:sp>
      <p:sp>
        <p:nvSpPr>
          <p:cNvPr id="12" name="Text 10"/>
          <p:cNvSpPr/>
          <p:nvPr/>
        </p:nvSpPr>
        <p:spPr>
          <a:xfrm>
            <a:off x="804672" y="33375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Latencia de reacción</a:t>
            </a:r>
            <a:endParaRPr lang="en-US" sz="1150" dirty="0"/>
          </a:p>
        </p:txBody>
      </p:sp>
      <p:sp>
        <p:nvSpPr>
          <p:cNvPr id="13" name="Text 11"/>
          <p:cNvSpPr/>
          <p:nvPr/>
        </p:nvSpPr>
        <p:spPr>
          <a:xfrm>
            <a:off x="2651760" y="3337560"/>
            <a:ext cx="1188720" cy="365760"/>
          </a:xfrm>
          <a:prstGeom prst="rect">
            <a:avLst/>
          </a:prstGeom>
          <a:noFill/>
          <a:ln/>
        </p:spPr>
        <p:txBody>
          <a:bodyPr wrap="square" lIns="0" tIns="0" rIns="0" bIns="0" rtlCol="0" anchor="ctr"/>
          <a:lstStyle/>
          <a:p>
            <a:pPr algn="r" indent="0" marL="0">
              <a:buNone/>
            </a:pPr>
            <a:r>
              <a:rPr lang="en-US" sz="1350" b="1" dirty="0">
                <a:solidFill>
                  <a:srgbClr val="2E9E6B"/>
                </a:solidFill>
                <a:latin typeface="Cambria" pitchFamily="34" charset="0"/>
                <a:ea typeface="Cambria" pitchFamily="34" charset="-122"/>
                <a:cs typeface="Cambria" pitchFamily="34" charset="-120"/>
              </a:rPr>
              <a:t>22.5 s</a:t>
            </a:r>
            <a:endParaRPr lang="en-US" sz="1350" dirty="0"/>
          </a:p>
        </p:txBody>
      </p:sp>
      <p:sp>
        <p:nvSpPr>
          <p:cNvPr id="14" name="Shape 12"/>
          <p:cNvSpPr/>
          <p:nvPr/>
        </p:nvSpPr>
        <p:spPr>
          <a:xfrm>
            <a:off x="4334256" y="1417320"/>
            <a:ext cx="3520440" cy="2514600"/>
          </a:xfrm>
          <a:prstGeom prst="roundRect">
            <a:avLst>
              <a:gd name="adj" fmla="val 2182"/>
            </a:avLst>
          </a:prstGeom>
          <a:solidFill>
            <a:srgbClr val="FDF3F2"/>
          </a:solidFill>
          <a:ln w="12700">
            <a:solidFill>
              <a:srgbClr val="F0CFCB"/>
            </a:solidFill>
            <a:prstDash val="solid"/>
          </a:ln>
        </p:spPr>
      </p:sp>
      <p:sp>
        <p:nvSpPr>
          <p:cNvPr id="15" name="Text 13"/>
          <p:cNvSpPr/>
          <p:nvPr/>
        </p:nvSpPr>
        <p:spPr>
          <a:xfrm>
            <a:off x="4590288" y="1554480"/>
            <a:ext cx="3017520" cy="320040"/>
          </a:xfrm>
          <a:prstGeom prst="rect">
            <a:avLst/>
          </a:prstGeom>
          <a:noFill/>
          <a:ln/>
        </p:spPr>
        <p:txBody>
          <a:bodyPr wrap="square" lIns="0" tIns="0" rIns="0" bIns="0" rtlCol="0" anchor="ctr"/>
          <a:lstStyle/>
          <a:p>
            <a:pPr indent="0" marL="0">
              <a:buNone/>
            </a:pPr>
            <a:r>
              <a:rPr lang="en-US" sz="1400" b="1" dirty="0">
                <a:solidFill>
                  <a:srgbClr val="B8453B"/>
                </a:solidFill>
                <a:latin typeface="Calibri" pitchFamily="34" charset="0"/>
                <a:ea typeface="Calibri" pitchFamily="34" charset="-122"/>
                <a:cs typeface="Calibri" pitchFamily="34" charset="-120"/>
              </a:rPr>
              <a:t>Dirección «sobrecarga»</a:t>
            </a:r>
            <a:endParaRPr lang="en-US" sz="1400" dirty="0"/>
          </a:p>
        </p:txBody>
      </p:sp>
      <p:sp>
        <p:nvSpPr>
          <p:cNvPr id="16" name="Text 14"/>
          <p:cNvSpPr/>
          <p:nvPr/>
        </p:nvSpPr>
        <p:spPr>
          <a:xfrm>
            <a:off x="4590288" y="19659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Sujetos detectados</a:t>
            </a:r>
            <a:endParaRPr lang="en-US" sz="1150" dirty="0"/>
          </a:p>
        </p:txBody>
      </p:sp>
      <p:sp>
        <p:nvSpPr>
          <p:cNvPr id="17" name="Text 15"/>
          <p:cNvSpPr/>
          <p:nvPr/>
        </p:nvSpPr>
        <p:spPr>
          <a:xfrm>
            <a:off x="6437376" y="1965960"/>
            <a:ext cx="1188720" cy="365760"/>
          </a:xfrm>
          <a:prstGeom prst="rect">
            <a:avLst/>
          </a:prstGeom>
          <a:noFill/>
          <a:ln/>
        </p:spPr>
        <p:txBody>
          <a:bodyPr wrap="square" lIns="0" tIns="0" rIns="0" bIns="0" rtlCol="0" anchor="ctr"/>
          <a:lstStyle/>
          <a:p>
            <a:pPr algn="r" indent="0" marL="0">
              <a:buNone/>
            </a:pPr>
            <a:r>
              <a:rPr lang="en-US" sz="1350" b="1" dirty="0">
                <a:solidFill>
                  <a:srgbClr val="B8453B"/>
                </a:solidFill>
                <a:latin typeface="Cambria" pitchFamily="34" charset="0"/>
                <a:ea typeface="Cambria" pitchFamily="34" charset="-122"/>
                <a:cs typeface="Cambria" pitchFamily="34" charset="-120"/>
              </a:rPr>
              <a:t>12 / 15</a:t>
            </a:r>
            <a:endParaRPr lang="en-US" sz="1350" dirty="0"/>
          </a:p>
        </p:txBody>
      </p:sp>
      <p:sp>
        <p:nvSpPr>
          <p:cNvPr id="18" name="Text 16"/>
          <p:cNvSpPr/>
          <p:nvPr/>
        </p:nvSpPr>
        <p:spPr>
          <a:xfrm>
            <a:off x="4590288" y="24231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Precisión</a:t>
            </a:r>
            <a:endParaRPr lang="en-US" sz="1150" dirty="0"/>
          </a:p>
        </p:txBody>
      </p:sp>
      <p:sp>
        <p:nvSpPr>
          <p:cNvPr id="19" name="Text 17"/>
          <p:cNvSpPr/>
          <p:nvPr/>
        </p:nvSpPr>
        <p:spPr>
          <a:xfrm>
            <a:off x="6437376" y="2423160"/>
            <a:ext cx="1188720" cy="365760"/>
          </a:xfrm>
          <a:prstGeom prst="rect">
            <a:avLst/>
          </a:prstGeom>
          <a:noFill/>
          <a:ln/>
        </p:spPr>
        <p:txBody>
          <a:bodyPr wrap="square" lIns="0" tIns="0" rIns="0" bIns="0" rtlCol="0" anchor="ctr"/>
          <a:lstStyle/>
          <a:p>
            <a:pPr algn="r" indent="0" marL="0">
              <a:buNone/>
            </a:pPr>
            <a:r>
              <a:rPr lang="en-US" sz="1350" b="1" dirty="0">
                <a:solidFill>
                  <a:srgbClr val="B8453B"/>
                </a:solidFill>
                <a:latin typeface="Cambria" pitchFamily="34" charset="0"/>
                <a:ea typeface="Cambria" pitchFamily="34" charset="-122"/>
                <a:cs typeface="Cambria" pitchFamily="34" charset="-120"/>
              </a:rPr>
              <a:t>0.46 ± 0.25</a:t>
            </a:r>
            <a:endParaRPr lang="en-US" sz="1350" dirty="0"/>
          </a:p>
        </p:txBody>
      </p:sp>
      <p:sp>
        <p:nvSpPr>
          <p:cNvPr id="20" name="Text 18"/>
          <p:cNvSpPr/>
          <p:nvPr/>
        </p:nvSpPr>
        <p:spPr>
          <a:xfrm>
            <a:off x="4590288" y="28803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Recall</a:t>
            </a:r>
            <a:endParaRPr lang="en-US" sz="1150" dirty="0"/>
          </a:p>
        </p:txBody>
      </p:sp>
      <p:sp>
        <p:nvSpPr>
          <p:cNvPr id="21" name="Text 19"/>
          <p:cNvSpPr/>
          <p:nvPr/>
        </p:nvSpPr>
        <p:spPr>
          <a:xfrm>
            <a:off x="6437376" y="2880360"/>
            <a:ext cx="1188720" cy="365760"/>
          </a:xfrm>
          <a:prstGeom prst="rect">
            <a:avLst/>
          </a:prstGeom>
          <a:noFill/>
          <a:ln/>
        </p:spPr>
        <p:txBody>
          <a:bodyPr wrap="square" lIns="0" tIns="0" rIns="0" bIns="0" rtlCol="0" anchor="ctr"/>
          <a:lstStyle/>
          <a:p>
            <a:pPr algn="r" indent="0" marL="0">
              <a:buNone/>
            </a:pPr>
            <a:r>
              <a:rPr lang="en-US" sz="1350" b="1" dirty="0">
                <a:solidFill>
                  <a:srgbClr val="B8453B"/>
                </a:solidFill>
                <a:latin typeface="Cambria" pitchFamily="34" charset="0"/>
                <a:ea typeface="Cambria" pitchFamily="34" charset="-122"/>
                <a:cs typeface="Cambria" pitchFamily="34" charset="-120"/>
              </a:rPr>
              <a:t>0.37 ± 0.33</a:t>
            </a:r>
            <a:endParaRPr lang="en-US" sz="1350" dirty="0"/>
          </a:p>
        </p:txBody>
      </p:sp>
      <p:sp>
        <p:nvSpPr>
          <p:cNvPr id="22" name="Text 20"/>
          <p:cNvSpPr/>
          <p:nvPr/>
        </p:nvSpPr>
        <p:spPr>
          <a:xfrm>
            <a:off x="4590288" y="3337560"/>
            <a:ext cx="1920240" cy="3657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Latencia de reacción</a:t>
            </a:r>
            <a:endParaRPr lang="en-US" sz="1150" dirty="0"/>
          </a:p>
        </p:txBody>
      </p:sp>
      <p:sp>
        <p:nvSpPr>
          <p:cNvPr id="23" name="Text 21"/>
          <p:cNvSpPr/>
          <p:nvPr/>
        </p:nvSpPr>
        <p:spPr>
          <a:xfrm>
            <a:off x="6437376" y="3337560"/>
            <a:ext cx="1188720" cy="365760"/>
          </a:xfrm>
          <a:prstGeom prst="rect">
            <a:avLst/>
          </a:prstGeom>
          <a:noFill/>
          <a:ln/>
        </p:spPr>
        <p:txBody>
          <a:bodyPr wrap="square" lIns="0" tIns="0" rIns="0" bIns="0" rtlCol="0" anchor="ctr"/>
          <a:lstStyle/>
          <a:p>
            <a:pPr algn="r" indent="0" marL="0">
              <a:buNone/>
            </a:pPr>
            <a:r>
              <a:rPr lang="en-US" sz="1350" b="1" dirty="0">
                <a:solidFill>
                  <a:srgbClr val="B8453B"/>
                </a:solidFill>
                <a:latin typeface="Cambria" pitchFamily="34" charset="0"/>
                <a:ea typeface="Cambria" pitchFamily="34" charset="-122"/>
                <a:cs typeface="Cambria" pitchFamily="34" charset="-120"/>
              </a:rPr>
              <a:t>37.7 s</a:t>
            </a:r>
            <a:endParaRPr lang="en-US" sz="1350" dirty="0"/>
          </a:p>
        </p:txBody>
      </p:sp>
      <p:sp>
        <p:nvSpPr>
          <p:cNvPr id="24" name="Shape 22"/>
          <p:cNvSpPr/>
          <p:nvPr/>
        </p:nvSpPr>
        <p:spPr>
          <a:xfrm>
            <a:off x="8119872" y="1417320"/>
            <a:ext cx="3520440" cy="2514600"/>
          </a:xfrm>
          <a:prstGeom prst="roundRect">
            <a:avLst>
              <a:gd name="adj" fmla="val 2182"/>
            </a:avLst>
          </a:prstGeom>
          <a:solidFill>
            <a:srgbClr val="0E1D33"/>
          </a:solidFill>
          <a:ln w="12700">
            <a:solidFill>
              <a:srgbClr val="0E1D33"/>
            </a:solidFill>
            <a:prstDash val="solid"/>
          </a:ln>
        </p:spPr>
      </p:sp>
      <p:sp>
        <p:nvSpPr>
          <p:cNvPr id="25" name="Text 23"/>
          <p:cNvSpPr/>
          <p:nvPr/>
        </p:nvSpPr>
        <p:spPr>
          <a:xfrm>
            <a:off x="8375904" y="1554480"/>
            <a:ext cx="3017520" cy="320040"/>
          </a:xfrm>
          <a:prstGeom prst="rect">
            <a:avLst/>
          </a:prstGeom>
          <a:noFill/>
          <a:ln/>
        </p:spPr>
        <p:txBody>
          <a:bodyPr wrap="square" lIns="0" tIns="0" rIns="0" bIns="0" rtlCol="0" anchor="ctr"/>
          <a:lstStyle/>
          <a:p>
            <a:pPr indent="0" marL="0">
              <a:buNone/>
            </a:pPr>
            <a:r>
              <a:rPr lang="en-US" sz="1400" b="1" dirty="0">
                <a:solidFill>
                  <a:srgbClr val="1391B5"/>
                </a:solidFill>
                <a:latin typeface="Calibri" pitchFamily="34" charset="0"/>
                <a:ea typeface="Calibri" pitchFamily="34" charset="-122"/>
                <a:cs typeface="Calibri" pitchFamily="34" charset="-120"/>
              </a:rPr>
              <a:t>¿Estimador o política?</a:t>
            </a:r>
            <a:endParaRPr lang="en-US" sz="1400" dirty="0"/>
          </a:p>
        </p:txBody>
      </p:sp>
      <p:sp>
        <p:nvSpPr>
          <p:cNvPr id="26" name="Text 24"/>
          <p:cNvSpPr/>
          <p:nvPr/>
        </p:nvSpPr>
        <p:spPr>
          <a:xfrm>
            <a:off x="8375904" y="1920240"/>
            <a:ext cx="3017520" cy="502920"/>
          </a:xfrm>
          <a:prstGeom prst="rect">
            <a:avLst/>
          </a:prstGeom>
          <a:noFill/>
          <a:ln/>
        </p:spPr>
        <p:txBody>
          <a:bodyPr wrap="square" lIns="0" tIns="0" rIns="0" bIns="0" rtlCol="0" anchor="ctr"/>
          <a:lstStyle/>
          <a:p>
            <a:pPr indent="0" marL="0">
              <a:buNone/>
            </a:pPr>
            <a:r>
              <a:rPr lang="en-US" sz="1150" dirty="0">
                <a:solidFill>
                  <a:srgbClr val="AFC6D6"/>
                </a:solidFill>
                <a:latin typeface="Calibri" pitchFamily="34" charset="0"/>
                <a:ea typeface="Calibri" pitchFamily="34" charset="-122"/>
                <a:cs typeface="Calibri" pitchFamily="34" charset="-120"/>
              </a:rPr>
              <a:t>Alimentando la misma política con la condición impuesta en lugar del score EEG:</a:t>
            </a:r>
            <a:endParaRPr lang="en-US" sz="1150" dirty="0"/>
          </a:p>
        </p:txBody>
      </p:sp>
      <p:sp>
        <p:nvSpPr>
          <p:cNvPr id="27" name="Text 25"/>
          <p:cNvSpPr/>
          <p:nvPr/>
        </p:nvSpPr>
        <p:spPr>
          <a:xfrm>
            <a:off x="8375904" y="2468880"/>
            <a:ext cx="3017520" cy="914400"/>
          </a:xfrm>
          <a:prstGeom prst="rect">
            <a:avLst/>
          </a:prstGeom>
          <a:noFill/>
          <a:ln/>
        </p:spPr>
        <p:txBody>
          <a:bodyPr wrap="square" lIns="0" tIns="0" rIns="0" bIns="0" rtlCol="0" anchor="ctr"/>
          <a:lstStyle/>
          <a:p>
            <a:pPr indent="0" marL="0">
              <a:lnSpc>
                <a:spcPts val="2000"/>
              </a:lnSpc>
              <a:buNone/>
            </a:pPr>
            <a:r>
              <a:rPr lang="en-US" sz="1250" b="1" dirty="0">
                <a:solidFill>
                  <a:srgbClr val="FFFFFF"/>
                </a:solidFill>
                <a:latin typeface="Calibri" pitchFamily="34" charset="0"/>
                <a:ea typeface="Calibri" pitchFamily="34" charset="-122"/>
                <a:cs typeface="Calibri" pitchFamily="34" charset="-120"/>
              </a:rPr>
              <a:t>concordancia  0.572 → 0.971
</a:t>
            </a:r>
            <a:pPr indent="0" marL="0">
              <a:lnSpc>
                <a:spcPts val="2000"/>
              </a:lnSpc>
              <a:buNone/>
            </a:pPr>
            <a:r>
              <a:rPr lang="en-US" sz="1250" b="1" dirty="0">
                <a:solidFill>
                  <a:srgbClr val="FFFFFF"/>
                </a:solidFill>
                <a:latin typeface="Calibri" pitchFamily="34" charset="0"/>
                <a:ea typeface="Calibri" pitchFamily="34" charset="-122"/>
                <a:cs typeface="Calibri" pitchFamily="34" charset="-120"/>
              </a:rPr>
              <a:t>precisión alta  0.46 → 0.96
</a:t>
            </a:r>
            <a:pPr indent="0" marL="0">
              <a:lnSpc>
                <a:spcPts val="2000"/>
              </a:lnSpc>
              <a:buNone/>
            </a:pPr>
            <a:r>
              <a:rPr lang="en-US" sz="1250" b="1" dirty="0">
                <a:solidFill>
                  <a:srgbClr val="FFFFFF"/>
                </a:solidFill>
                <a:latin typeface="Calibri" pitchFamily="34" charset="0"/>
                <a:ea typeface="Calibri" pitchFamily="34" charset="-122"/>
                <a:cs typeface="Calibri" pitchFamily="34" charset="-120"/>
              </a:rPr>
              <a:t>recall alta  0.37 → 0.97</a:t>
            </a:r>
            <a:endParaRPr lang="en-US" sz="1250" dirty="0"/>
          </a:p>
        </p:txBody>
      </p:sp>
      <p:sp>
        <p:nvSpPr>
          <p:cNvPr id="28" name="Text 26"/>
          <p:cNvSpPr/>
          <p:nvPr/>
        </p:nvSpPr>
        <p:spPr>
          <a:xfrm>
            <a:off x="8375904" y="3456432"/>
            <a:ext cx="3017520" cy="365760"/>
          </a:xfrm>
          <a:prstGeom prst="rect">
            <a:avLst/>
          </a:prstGeom>
          <a:noFill/>
          <a:ln/>
        </p:spPr>
        <p:txBody>
          <a:bodyPr wrap="square" lIns="0" tIns="0" rIns="0" bIns="0" rtlCol="0" anchor="ctr"/>
          <a:lstStyle/>
          <a:p>
            <a:pPr indent="0" marL="0">
              <a:buNone/>
            </a:pPr>
            <a:r>
              <a:rPr lang="en-US" sz="1150" i="1" dirty="0">
                <a:solidFill>
                  <a:srgbClr val="1391B5"/>
                </a:solidFill>
                <a:latin typeface="Calibri" pitchFamily="34" charset="0"/>
                <a:ea typeface="Calibri" pitchFamily="34" charset="-122"/>
                <a:cs typeface="Calibri" pitchFamily="34" charset="-120"/>
              </a:rPr>
              <a:t>El límite está en la percepción, no en la lógica del controlador.</a:t>
            </a:r>
            <a:endParaRPr lang="en-US" sz="1150" dirty="0"/>
          </a:p>
        </p:txBody>
      </p:sp>
      <p:sp>
        <p:nvSpPr>
          <p:cNvPr id="29" name="Shape 27"/>
          <p:cNvSpPr/>
          <p:nvPr/>
        </p:nvSpPr>
        <p:spPr>
          <a:xfrm>
            <a:off x="548640" y="4160520"/>
            <a:ext cx="5486400" cy="1874520"/>
          </a:xfrm>
          <a:prstGeom prst="roundRect">
            <a:avLst>
              <a:gd name="adj" fmla="val 2927"/>
            </a:avLst>
          </a:prstGeom>
          <a:solidFill>
            <a:srgbClr val="F1F5F8"/>
          </a:solidFill>
          <a:ln w="12700">
            <a:solidFill>
              <a:srgbClr val="D8E2EA"/>
            </a:solidFill>
            <a:prstDash val="solid"/>
          </a:ln>
        </p:spPr>
      </p:sp>
      <p:sp>
        <p:nvSpPr>
          <p:cNvPr id="30" name="Text 28"/>
          <p:cNvSpPr/>
          <p:nvPr/>
        </p:nvSpPr>
        <p:spPr>
          <a:xfrm>
            <a:off x="777240" y="4297680"/>
            <a:ext cx="502920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Mover el umbral no lo rescata</a:t>
            </a:r>
            <a:endParaRPr lang="en-US" sz="1350" dirty="0"/>
          </a:p>
        </p:txBody>
      </p:sp>
      <p:sp>
        <p:nvSpPr>
          <p:cNvPr id="31" name="Text 29"/>
          <p:cNvSpPr/>
          <p:nvPr/>
        </p:nvSpPr>
        <p:spPr>
          <a:xfrm>
            <a:off x="777240" y="4617720"/>
            <a:ext cx="5029200" cy="1188720"/>
          </a:xfrm>
          <a:prstGeom prst="rect">
            <a:avLst/>
          </a:prstGeom>
          <a:noFill/>
          <a:ln/>
        </p:spPr>
        <p:txBody>
          <a:bodyPr wrap="square" lIns="0" tIns="0" rIns="0" bIns="0" rtlCol="0" anchor="ctr"/>
          <a:lstStyle/>
          <a:p>
            <a:pPr indent="0" marL="0">
              <a:buNone/>
            </a:pPr>
            <a:r>
              <a:rPr lang="en-US" sz="1200" dirty="0">
                <a:solidFill>
                  <a:srgbClr val="5D6E7E"/>
                </a:solidFill>
                <a:latin typeface="Calibri" pitchFamily="34" charset="0"/>
                <a:ea typeface="Calibri" pitchFamily="34" charset="-122"/>
                <a:cs typeface="Calibri" pitchFamily="34" charset="-120"/>
              </a:rPr>
              <a:t>Barriendo θ_hi de 1.5 a 2.0, el recall nunca pasa de 0.49 y la precisión nunca de 0.54. Las falsas alarmas bajan del 16 % al 3 % solo porque el controlador deja de llamar «alta»: en el extremo superior pierde el estado por completo en 10 de 15 sujetos.</a:t>
            </a:r>
            <a:endParaRPr lang="en-US" sz="1200" dirty="0"/>
          </a:p>
        </p:txBody>
      </p:sp>
      <p:sp>
        <p:nvSpPr>
          <p:cNvPr id="32" name="Shape 30"/>
          <p:cNvSpPr/>
          <p:nvPr/>
        </p:nvSpPr>
        <p:spPr>
          <a:xfrm>
            <a:off x="6309360" y="4160520"/>
            <a:ext cx="5330952" cy="1874520"/>
          </a:xfrm>
          <a:prstGeom prst="roundRect">
            <a:avLst>
              <a:gd name="adj" fmla="val 2927"/>
            </a:avLst>
          </a:prstGeom>
          <a:solidFill>
            <a:srgbClr val="DCEEF5"/>
          </a:solidFill>
          <a:ln w="12700">
            <a:solidFill>
              <a:srgbClr val="BEDDE9"/>
            </a:solidFill>
            <a:prstDash val="solid"/>
          </a:ln>
        </p:spPr>
      </p:sp>
      <p:sp>
        <p:nvSpPr>
          <p:cNvPr id="33" name="Text 31"/>
          <p:cNvSpPr/>
          <p:nvPr/>
        </p:nvSpPr>
        <p:spPr>
          <a:xfrm>
            <a:off x="6537960" y="4297680"/>
            <a:ext cx="484632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Consecuencia de diseño para el Año 3</a:t>
            </a:r>
            <a:endParaRPr lang="en-US" sz="1350" dirty="0"/>
          </a:p>
        </p:txBody>
      </p:sp>
      <p:sp>
        <p:nvSpPr>
          <p:cNvPr id="34" name="Text 32"/>
          <p:cNvSpPr/>
          <p:nvPr/>
        </p:nvSpPr>
        <p:spPr>
          <a:xfrm>
            <a:off x="6537960" y="4617720"/>
            <a:ext cx="4846320" cy="1234440"/>
          </a:xfrm>
          <a:prstGeom prst="rect">
            <a:avLst/>
          </a:prstGeom>
          <a:noFill/>
          <a:ln/>
        </p:spPr>
        <p:txBody>
          <a:bodyPr wrap="square" lIns="0" tIns="0" rIns="0" bIns="0" rtlCol="0" anchor="ctr"/>
          <a:lstStyle/>
          <a:p>
            <a:pPr indent="0" marL="0">
              <a:buNone/>
            </a:pPr>
            <a:r>
              <a:rPr lang="en-US" sz="1200" dirty="0">
                <a:solidFill>
                  <a:srgbClr val="26424F"/>
                </a:solidFill>
                <a:latin typeface="Calibri" pitchFamily="34" charset="0"/>
                <a:ea typeface="Calibri" pitchFamily="34" charset="-122"/>
                <a:cs typeface="Calibri" pitchFamily="34" charset="-120"/>
              </a:rPr>
              <a:t>Gobernar cada dirección con una fuente distinta: el EEG decide cuándo subir la exigencia (que es donde acierta) y la telemetría de desempeño del propio entrenador —errores, tensión excesiva, trayectorias— decide cuándo aliviar. Es más honesto que seguir afinando un único estimador.</a:t>
            </a:r>
            <a:endParaRPr lang="en-US" sz="1200" dirty="0"/>
          </a:p>
        </p:txBody>
      </p:sp>
      <p:sp>
        <p:nvSpPr>
          <p:cNvPr id="35" name="Text 33"/>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36" name="Text 34"/>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TIEMPO REAL, MEDIDO</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Presupuesto de latencia: el cómputo no es el cuello de botella</a:t>
            </a:r>
            <a:endParaRPr lang="en-US" sz="3000" dirty="0"/>
          </a:p>
        </p:txBody>
      </p:sp>
      <p:sp>
        <p:nvSpPr>
          <p:cNvPr id="4" name="Text 2"/>
          <p:cNvSpPr/>
          <p:nvPr/>
        </p:nvSpPr>
        <p:spPr>
          <a:xfrm>
            <a:off x="777240" y="1280160"/>
            <a:ext cx="4206240" cy="274320"/>
          </a:xfrm>
          <a:prstGeom prst="rect">
            <a:avLst/>
          </a:prstGeom>
          <a:noFill/>
          <a:ln/>
        </p:spPr>
        <p:txBody>
          <a:bodyPr wrap="square" lIns="0" tIns="0" rIns="0" bIns="0" rtlCol="0" anchor="ctr"/>
          <a:lstStyle/>
          <a:p>
            <a:pPr algn="l" indent="0" marL="0">
              <a:buNone/>
            </a:pPr>
            <a:r>
              <a:rPr lang="en-US" sz="1100" b="1" dirty="0">
                <a:solidFill>
                  <a:srgbClr val="5D6E7E"/>
                </a:solidFill>
                <a:latin typeface="Calibri" pitchFamily="34" charset="0"/>
                <a:ea typeface="Calibri" pitchFamily="34" charset="-122"/>
                <a:cs typeface="Calibri" pitchFamily="34" charset="-120"/>
              </a:rPr>
              <a:t>Etapa</a:t>
            </a:r>
            <a:endParaRPr lang="en-US" sz="1100" dirty="0"/>
          </a:p>
        </p:txBody>
      </p:sp>
      <p:sp>
        <p:nvSpPr>
          <p:cNvPr id="5" name="Text 3"/>
          <p:cNvSpPr/>
          <p:nvPr/>
        </p:nvSpPr>
        <p:spPr>
          <a:xfrm>
            <a:off x="4983480" y="1280160"/>
            <a:ext cx="1234440" cy="274320"/>
          </a:xfrm>
          <a:prstGeom prst="rect">
            <a:avLst/>
          </a:prstGeom>
          <a:noFill/>
          <a:ln/>
        </p:spPr>
        <p:txBody>
          <a:bodyPr wrap="square" lIns="0" tIns="0" rIns="0" bIns="0" rtlCol="0" anchor="ctr"/>
          <a:lstStyle/>
          <a:p>
            <a:pPr algn="ctr" indent="0" marL="0">
              <a:buNone/>
            </a:pPr>
            <a:r>
              <a:rPr lang="en-US" sz="1100" b="1" dirty="0">
                <a:solidFill>
                  <a:srgbClr val="5D6E7E"/>
                </a:solidFill>
                <a:latin typeface="Calibri" pitchFamily="34" charset="0"/>
                <a:ea typeface="Calibri" pitchFamily="34" charset="-122"/>
                <a:cs typeface="Calibri" pitchFamily="34" charset="-120"/>
              </a:rPr>
              <a:t>Media (ms)</a:t>
            </a:r>
            <a:endParaRPr lang="en-US" sz="1100" dirty="0"/>
          </a:p>
        </p:txBody>
      </p:sp>
      <p:sp>
        <p:nvSpPr>
          <p:cNvPr id="6" name="Text 4"/>
          <p:cNvSpPr/>
          <p:nvPr/>
        </p:nvSpPr>
        <p:spPr>
          <a:xfrm>
            <a:off x="6217920" y="1280160"/>
            <a:ext cx="1234440" cy="274320"/>
          </a:xfrm>
          <a:prstGeom prst="rect">
            <a:avLst/>
          </a:prstGeom>
          <a:noFill/>
          <a:ln/>
        </p:spPr>
        <p:txBody>
          <a:bodyPr wrap="square" lIns="0" tIns="0" rIns="0" bIns="0" rtlCol="0" anchor="ctr"/>
          <a:lstStyle/>
          <a:p>
            <a:pPr algn="ctr" indent="0" marL="0">
              <a:buNone/>
            </a:pPr>
            <a:r>
              <a:rPr lang="en-US" sz="1100" b="1" dirty="0">
                <a:solidFill>
                  <a:srgbClr val="5D6E7E"/>
                </a:solidFill>
                <a:latin typeface="Calibri" pitchFamily="34" charset="0"/>
                <a:ea typeface="Calibri" pitchFamily="34" charset="-122"/>
                <a:cs typeface="Calibri" pitchFamily="34" charset="-120"/>
              </a:rPr>
              <a:t>p95 (ms)</a:t>
            </a:r>
            <a:endParaRPr lang="en-US" sz="1100" dirty="0"/>
          </a:p>
        </p:txBody>
      </p:sp>
      <p:sp>
        <p:nvSpPr>
          <p:cNvPr id="7" name="Shape 5"/>
          <p:cNvSpPr/>
          <p:nvPr/>
        </p:nvSpPr>
        <p:spPr>
          <a:xfrm>
            <a:off x="548640" y="1600200"/>
            <a:ext cx="6995160" cy="457200"/>
          </a:xfrm>
          <a:prstGeom prst="roundRect">
            <a:avLst>
              <a:gd name="adj" fmla="val 12000"/>
            </a:avLst>
          </a:prstGeom>
          <a:solidFill>
            <a:srgbClr val="F1F5F8"/>
          </a:solidFill>
          <a:ln w="12700">
            <a:solidFill>
              <a:srgbClr val="E2EAF0"/>
            </a:solidFill>
            <a:prstDash val="solid"/>
          </a:ln>
        </p:spPr>
      </p:sp>
      <p:sp>
        <p:nvSpPr>
          <p:cNvPr id="8" name="Text 6"/>
          <p:cNvSpPr/>
          <p:nvPr/>
        </p:nvSpPr>
        <p:spPr>
          <a:xfrm>
            <a:off x="777240" y="1600200"/>
            <a:ext cx="4206240" cy="45720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Extracción de características (4 s, 8 ch)</a:t>
            </a:r>
            <a:endParaRPr lang="en-US" sz="1200" dirty="0"/>
          </a:p>
        </p:txBody>
      </p:sp>
      <p:sp>
        <p:nvSpPr>
          <p:cNvPr id="9" name="Text 7"/>
          <p:cNvSpPr/>
          <p:nvPr/>
        </p:nvSpPr>
        <p:spPr>
          <a:xfrm>
            <a:off x="4983480" y="1600200"/>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10.81</a:t>
            </a:r>
            <a:endParaRPr lang="en-US" sz="1200" dirty="0"/>
          </a:p>
        </p:txBody>
      </p:sp>
      <p:sp>
        <p:nvSpPr>
          <p:cNvPr id="10" name="Text 8"/>
          <p:cNvSpPr/>
          <p:nvPr/>
        </p:nvSpPr>
        <p:spPr>
          <a:xfrm>
            <a:off x="6217920" y="1600200"/>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11.24</a:t>
            </a:r>
            <a:endParaRPr lang="en-US" sz="1200" dirty="0"/>
          </a:p>
        </p:txBody>
      </p:sp>
      <p:sp>
        <p:nvSpPr>
          <p:cNvPr id="11" name="Shape 9"/>
          <p:cNvSpPr/>
          <p:nvPr/>
        </p:nvSpPr>
        <p:spPr>
          <a:xfrm>
            <a:off x="548640" y="2112264"/>
            <a:ext cx="6995160" cy="457200"/>
          </a:xfrm>
          <a:prstGeom prst="roundRect">
            <a:avLst>
              <a:gd name="adj" fmla="val 12000"/>
            </a:avLst>
          </a:prstGeom>
          <a:solidFill>
            <a:srgbClr val="F7FAFC"/>
          </a:solidFill>
          <a:ln w="12700">
            <a:solidFill>
              <a:srgbClr val="E2EAF0"/>
            </a:solidFill>
            <a:prstDash val="solid"/>
          </a:ln>
        </p:spPr>
      </p:sp>
      <p:sp>
        <p:nvSpPr>
          <p:cNvPr id="12" name="Text 10"/>
          <p:cNvSpPr/>
          <p:nvPr/>
        </p:nvSpPr>
        <p:spPr>
          <a:xfrm>
            <a:off x="777240" y="2112264"/>
            <a:ext cx="4206240" cy="45720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Calibración por sujeto</a:t>
            </a:r>
            <a:endParaRPr lang="en-US" sz="1200" dirty="0"/>
          </a:p>
        </p:txBody>
      </p:sp>
      <p:sp>
        <p:nvSpPr>
          <p:cNvPr id="13" name="Text 11"/>
          <p:cNvSpPr/>
          <p:nvPr/>
        </p:nvSpPr>
        <p:spPr>
          <a:xfrm>
            <a:off x="4983480" y="2112264"/>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0.003</a:t>
            </a:r>
            <a:endParaRPr lang="en-US" sz="1200" dirty="0"/>
          </a:p>
        </p:txBody>
      </p:sp>
      <p:sp>
        <p:nvSpPr>
          <p:cNvPr id="14" name="Text 12"/>
          <p:cNvSpPr/>
          <p:nvPr/>
        </p:nvSpPr>
        <p:spPr>
          <a:xfrm>
            <a:off x="6217920" y="2112264"/>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0.003</a:t>
            </a:r>
            <a:endParaRPr lang="en-US" sz="1200" dirty="0"/>
          </a:p>
        </p:txBody>
      </p:sp>
      <p:sp>
        <p:nvSpPr>
          <p:cNvPr id="15" name="Shape 13"/>
          <p:cNvSpPr/>
          <p:nvPr/>
        </p:nvSpPr>
        <p:spPr>
          <a:xfrm>
            <a:off x="548640" y="2624328"/>
            <a:ext cx="6995160" cy="457200"/>
          </a:xfrm>
          <a:prstGeom prst="roundRect">
            <a:avLst>
              <a:gd name="adj" fmla="val 12000"/>
            </a:avLst>
          </a:prstGeom>
          <a:solidFill>
            <a:srgbClr val="F1F5F8"/>
          </a:solidFill>
          <a:ln w="12700">
            <a:solidFill>
              <a:srgbClr val="E2EAF0"/>
            </a:solidFill>
            <a:prstDash val="solid"/>
          </a:ln>
        </p:spPr>
      </p:sp>
      <p:sp>
        <p:nvSpPr>
          <p:cNvPr id="16" name="Text 14"/>
          <p:cNvSpPr/>
          <p:nvPr/>
        </p:nvSpPr>
        <p:spPr>
          <a:xfrm>
            <a:off x="777240" y="2624328"/>
            <a:ext cx="4206240" cy="45720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Inferencia del regresor ordinal</a:t>
            </a:r>
            <a:endParaRPr lang="en-US" sz="1200" dirty="0"/>
          </a:p>
        </p:txBody>
      </p:sp>
      <p:sp>
        <p:nvSpPr>
          <p:cNvPr id="17" name="Text 15"/>
          <p:cNvSpPr/>
          <p:nvPr/>
        </p:nvSpPr>
        <p:spPr>
          <a:xfrm>
            <a:off x="4983480" y="2624328"/>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5.17</a:t>
            </a:r>
            <a:endParaRPr lang="en-US" sz="1200" dirty="0"/>
          </a:p>
        </p:txBody>
      </p:sp>
      <p:sp>
        <p:nvSpPr>
          <p:cNvPr id="18" name="Text 16"/>
          <p:cNvSpPr/>
          <p:nvPr/>
        </p:nvSpPr>
        <p:spPr>
          <a:xfrm>
            <a:off x="6217920" y="2624328"/>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7.28</a:t>
            </a:r>
            <a:endParaRPr lang="en-US" sz="1200" dirty="0"/>
          </a:p>
        </p:txBody>
      </p:sp>
      <p:sp>
        <p:nvSpPr>
          <p:cNvPr id="19" name="Shape 17"/>
          <p:cNvSpPr/>
          <p:nvPr/>
        </p:nvSpPr>
        <p:spPr>
          <a:xfrm>
            <a:off x="548640" y="3136392"/>
            <a:ext cx="6995160" cy="457200"/>
          </a:xfrm>
          <a:prstGeom prst="roundRect">
            <a:avLst>
              <a:gd name="adj" fmla="val 12000"/>
            </a:avLst>
          </a:prstGeom>
          <a:solidFill>
            <a:srgbClr val="F7FAFC"/>
          </a:solidFill>
          <a:ln w="12700">
            <a:solidFill>
              <a:srgbClr val="E2EAF0"/>
            </a:solidFill>
            <a:prstDash val="solid"/>
          </a:ln>
        </p:spPr>
      </p:sp>
      <p:sp>
        <p:nvSpPr>
          <p:cNvPr id="20" name="Text 18"/>
          <p:cNvSpPr/>
          <p:nvPr/>
        </p:nvSpPr>
        <p:spPr>
          <a:xfrm>
            <a:off x="777240" y="3136392"/>
            <a:ext cx="4206240" cy="45720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Paso de la política adaptativa</a:t>
            </a:r>
            <a:endParaRPr lang="en-US" sz="1200" dirty="0"/>
          </a:p>
        </p:txBody>
      </p:sp>
      <p:sp>
        <p:nvSpPr>
          <p:cNvPr id="21" name="Text 19"/>
          <p:cNvSpPr/>
          <p:nvPr/>
        </p:nvSpPr>
        <p:spPr>
          <a:xfrm>
            <a:off x="4983480" y="3136392"/>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0.002</a:t>
            </a:r>
            <a:endParaRPr lang="en-US" sz="1200" dirty="0"/>
          </a:p>
        </p:txBody>
      </p:sp>
      <p:sp>
        <p:nvSpPr>
          <p:cNvPr id="22" name="Text 20"/>
          <p:cNvSpPr/>
          <p:nvPr/>
        </p:nvSpPr>
        <p:spPr>
          <a:xfrm>
            <a:off x="6217920" y="3136392"/>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0.002</a:t>
            </a:r>
            <a:endParaRPr lang="en-US" sz="1200" dirty="0"/>
          </a:p>
        </p:txBody>
      </p:sp>
      <p:sp>
        <p:nvSpPr>
          <p:cNvPr id="23" name="Shape 21"/>
          <p:cNvSpPr/>
          <p:nvPr/>
        </p:nvSpPr>
        <p:spPr>
          <a:xfrm>
            <a:off x="548640" y="3648456"/>
            <a:ext cx="6995160" cy="457200"/>
          </a:xfrm>
          <a:prstGeom prst="roundRect">
            <a:avLst>
              <a:gd name="adj" fmla="val 12000"/>
            </a:avLst>
          </a:prstGeom>
          <a:solidFill>
            <a:srgbClr val="F1F5F8"/>
          </a:solidFill>
          <a:ln w="12700">
            <a:solidFill>
              <a:srgbClr val="E2EAF0"/>
            </a:solidFill>
            <a:prstDash val="solid"/>
          </a:ln>
        </p:spPr>
      </p:sp>
      <p:sp>
        <p:nvSpPr>
          <p:cNvPr id="24" name="Text 22"/>
          <p:cNvSpPr/>
          <p:nvPr/>
        </p:nvSpPr>
        <p:spPr>
          <a:xfrm>
            <a:off x="777240" y="3648456"/>
            <a:ext cx="4206240" cy="457200"/>
          </a:xfrm>
          <a:prstGeom prst="rect">
            <a:avLst/>
          </a:prstGeom>
          <a:noFill/>
          <a:ln/>
        </p:spPr>
        <p:txBody>
          <a:bodyPr wrap="square" lIns="0" tIns="0" rIns="0" bIns="0" rtlCol="0" anchor="ctr"/>
          <a:lstStyle/>
          <a:p>
            <a:pPr indent="0" marL="0">
              <a:buNone/>
            </a:pPr>
            <a:r>
              <a:rPr lang="en-US" sz="1200" dirty="0">
                <a:solidFill>
                  <a:srgbClr val="1B2733"/>
                </a:solidFill>
                <a:latin typeface="Calibri" pitchFamily="34" charset="0"/>
                <a:ea typeface="Calibri" pitchFamily="34" charset="-122"/>
                <a:cs typeface="Calibri" pitchFamily="34" charset="-120"/>
              </a:rPr>
              <a:t>Salto UDP al entrenador</a:t>
            </a:r>
            <a:endParaRPr lang="en-US" sz="1200" dirty="0"/>
          </a:p>
        </p:txBody>
      </p:sp>
      <p:sp>
        <p:nvSpPr>
          <p:cNvPr id="25" name="Text 23"/>
          <p:cNvSpPr/>
          <p:nvPr/>
        </p:nvSpPr>
        <p:spPr>
          <a:xfrm>
            <a:off x="4983480" y="3648456"/>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0.046</a:t>
            </a:r>
            <a:endParaRPr lang="en-US" sz="1200" dirty="0"/>
          </a:p>
        </p:txBody>
      </p:sp>
      <p:sp>
        <p:nvSpPr>
          <p:cNvPr id="26" name="Text 24"/>
          <p:cNvSpPr/>
          <p:nvPr/>
        </p:nvSpPr>
        <p:spPr>
          <a:xfrm>
            <a:off x="6217920" y="3648456"/>
            <a:ext cx="1234440" cy="457200"/>
          </a:xfrm>
          <a:prstGeom prst="rect">
            <a:avLst/>
          </a:prstGeom>
          <a:noFill/>
          <a:ln/>
        </p:spPr>
        <p:txBody>
          <a:bodyPr wrap="square" lIns="0" tIns="0" rIns="0" bIns="0" rtlCol="0" anchor="ctr"/>
          <a:lstStyle/>
          <a:p>
            <a:pPr algn="ctr" indent="0" marL="0">
              <a:buNone/>
            </a:pPr>
            <a:r>
              <a:rPr lang="en-US" sz="1200" dirty="0">
                <a:solidFill>
                  <a:srgbClr val="5D6E7E"/>
                </a:solidFill>
                <a:latin typeface="Calibri" pitchFamily="34" charset="0"/>
                <a:ea typeface="Calibri" pitchFamily="34" charset="-122"/>
                <a:cs typeface="Calibri" pitchFamily="34" charset="-120"/>
              </a:rPr>
              <a:t>0.068</a:t>
            </a:r>
            <a:endParaRPr lang="en-US" sz="1200" dirty="0"/>
          </a:p>
        </p:txBody>
      </p:sp>
      <p:sp>
        <p:nvSpPr>
          <p:cNvPr id="27" name="Shape 25"/>
          <p:cNvSpPr/>
          <p:nvPr/>
        </p:nvSpPr>
        <p:spPr>
          <a:xfrm>
            <a:off x="548640" y="4251960"/>
            <a:ext cx="6995160" cy="548640"/>
          </a:xfrm>
          <a:prstGeom prst="roundRect">
            <a:avLst>
              <a:gd name="adj" fmla="val 10000"/>
            </a:avLst>
          </a:prstGeom>
          <a:solidFill>
            <a:srgbClr val="DCEEF5"/>
          </a:solidFill>
          <a:ln w="12700">
            <a:solidFill>
              <a:srgbClr val="BEDDE9"/>
            </a:solidFill>
            <a:prstDash val="solid"/>
          </a:ln>
        </p:spPr>
      </p:sp>
      <p:sp>
        <p:nvSpPr>
          <p:cNvPr id="28" name="Text 26"/>
          <p:cNvSpPr/>
          <p:nvPr/>
        </p:nvSpPr>
        <p:spPr>
          <a:xfrm>
            <a:off x="777240" y="4251960"/>
            <a:ext cx="4206240" cy="548640"/>
          </a:xfrm>
          <a:prstGeom prst="rect">
            <a:avLst/>
          </a:prstGeom>
          <a:noFill/>
          <a:ln/>
        </p:spPr>
        <p:txBody>
          <a:bodyPr wrap="square" lIns="0" tIns="0" rIns="0" bIns="0" rtlCol="0" anchor="ctr"/>
          <a:lstStyle/>
          <a:p>
            <a:pPr indent="0" marL="0">
              <a:buNone/>
            </a:pPr>
            <a:r>
              <a:rPr lang="en-US" sz="1300" b="1" dirty="0">
                <a:solidFill>
                  <a:srgbClr val="0E1D33"/>
                </a:solidFill>
                <a:latin typeface="Calibri" pitchFamily="34" charset="0"/>
                <a:ea typeface="Calibri" pitchFamily="34" charset="-122"/>
                <a:cs typeface="Calibri" pitchFamily="34" charset="-120"/>
              </a:rPr>
              <a:t>Total por ventana</a:t>
            </a:r>
            <a:endParaRPr lang="en-US" sz="1300" dirty="0"/>
          </a:p>
        </p:txBody>
      </p:sp>
      <p:sp>
        <p:nvSpPr>
          <p:cNvPr id="29" name="Text 27"/>
          <p:cNvSpPr/>
          <p:nvPr/>
        </p:nvSpPr>
        <p:spPr>
          <a:xfrm>
            <a:off x="4983480" y="4251960"/>
            <a:ext cx="123444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16.03</a:t>
            </a:r>
            <a:endParaRPr lang="en-US" sz="1500" dirty="0"/>
          </a:p>
        </p:txBody>
      </p:sp>
      <p:sp>
        <p:nvSpPr>
          <p:cNvPr id="30" name="Text 28"/>
          <p:cNvSpPr/>
          <p:nvPr/>
        </p:nvSpPr>
        <p:spPr>
          <a:xfrm>
            <a:off x="6217920" y="4251960"/>
            <a:ext cx="1234440" cy="548640"/>
          </a:xfrm>
          <a:prstGeom prst="rect">
            <a:avLst/>
          </a:prstGeom>
          <a:noFill/>
          <a:ln/>
        </p:spPr>
        <p:txBody>
          <a:bodyPr wrap="square" lIns="0" tIns="0" rIns="0" bIns="0" rtlCol="0" anchor="ctr"/>
          <a:lstStyle/>
          <a:p>
            <a:pPr algn="ctr" indent="0" marL="0">
              <a:buNone/>
            </a:pPr>
            <a:r>
              <a:rPr lang="en-US" sz="1500" b="1" dirty="0">
                <a:solidFill>
                  <a:srgbClr val="1391B5"/>
                </a:solidFill>
                <a:latin typeface="Cambria" pitchFamily="34" charset="0"/>
                <a:ea typeface="Cambria" pitchFamily="34" charset="-122"/>
                <a:cs typeface="Cambria" pitchFamily="34" charset="-120"/>
              </a:rPr>
              <a:t>18.59</a:t>
            </a:r>
            <a:endParaRPr lang="en-US" sz="1500" dirty="0"/>
          </a:p>
        </p:txBody>
      </p:sp>
      <p:sp>
        <p:nvSpPr>
          <p:cNvPr id="31" name="Text 29"/>
          <p:cNvSpPr/>
          <p:nvPr/>
        </p:nvSpPr>
        <p:spPr>
          <a:xfrm>
            <a:off x="548640" y="4892040"/>
            <a:ext cx="6995160" cy="365760"/>
          </a:xfrm>
          <a:prstGeom prst="rect">
            <a:avLst/>
          </a:prstGeom>
          <a:noFill/>
          <a:ln/>
        </p:spPr>
        <p:txBody>
          <a:bodyPr wrap="square" lIns="0" tIns="0" rIns="0" bIns="0" rtlCol="0" anchor="ctr"/>
          <a:lstStyle/>
          <a:p>
            <a:pPr indent="0" marL="0">
              <a:buNone/>
            </a:pPr>
            <a:r>
              <a:rPr lang="en-US" sz="1100" i="1" dirty="0">
                <a:solidFill>
                  <a:srgbClr val="5D6E7E"/>
                </a:solidFill>
                <a:latin typeface="Calibri" pitchFamily="34" charset="0"/>
                <a:ea typeface="Calibri" pitchFamily="34" charset="-122"/>
                <a:cs typeface="Calibri" pitchFamily="34" charset="-120"/>
              </a:rPr>
              <a:t>Medido en un solo hilo de un Apple M1 Pro, ventana a ventana — nunca por lotes, porque un lazo no puede agrupar.</a:t>
            </a:r>
            <a:endParaRPr lang="en-US" sz="1100" dirty="0"/>
          </a:p>
        </p:txBody>
      </p:sp>
      <p:sp>
        <p:nvSpPr>
          <p:cNvPr id="32" name="Shape 30"/>
          <p:cNvSpPr/>
          <p:nvPr/>
        </p:nvSpPr>
        <p:spPr>
          <a:xfrm>
            <a:off x="7863840" y="1280160"/>
            <a:ext cx="3776472" cy="1920240"/>
          </a:xfrm>
          <a:prstGeom prst="roundRect">
            <a:avLst>
              <a:gd name="adj" fmla="val 2857"/>
            </a:avLst>
          </a:prstGeom>
          <a:solidFill>
            <a:srgbClr val="0E1D33"/>
          </a:solidFill>
          <a:ln w="12700">
            <a:solidFill>
              <a:srgbClr val="0E1D33"/>
            </a:solidFill>
            <a:prstDash val="solid"/>
          </a:ln>
        </p:spPr>
      </p:sp>
      <p:sp>
        <p:nvSpPr>
          <p:cNvPr id="33" name="Text 31"/>
          <p:cNvSpPr/>
          <p:nvPr/>
        </p:nvSpPr>
        <p:spPr>
          <a:xfrm>
            <a:off x="8138160" y="1463040"/>
            <a:ext cx="3291840" cy="566928"/>
          </a:xfrm>
          <a:prstGeom prst="rect">
            <a:avLst/>
          </a:prstGeom>
          <a:noFill/>
          <a:ln/>
        </p:spPr>
        <p:txBody>
          <a:bodyPr wrap="square" lIns="0" tIns="0" rIns="0" bIns="0" rtlCol="0" anchor="ctr"/>
          <a:lstStyle/>
          <a:p>
            <a:pPr algn="l" indent="0" marL="0">
              <a:buNone/>
            </a:pPr>
            <a:r>
              <a:rPr lang="en-US" sz="4000" b="1" dirty="0">
                <a:solidFill>
                  <a:srgbClr val="1391B5"/>
                </a:solidFill>
                <a:latin typeface="Cambria" pitchFamily="34" charset="0"/>
                <a:ea typeface="Cambria" pitchFamily="34" charset="-122"/>
                <a:cs typeface="Cambria" pitchFamily="34" charset="-120"/>
              </a:rPr>
              <a:t>0.8 %</a:t>
            </a:r>
            <a:endParaRPr lang="en-US" sz="4000" dirty="0"/>
          </a:p>
        </p:txBody>
      </p:sp>
      <p:sp>
        <p:nvSpPr>
          <p:cNvPr id="34" name="Text 32"/>
          <p:cNvSpPr/>
          <p:nvPr/>
        </p:nvSpPr>
        <p:spPr>
          <a:xfrm>
            <a:off x="8138160" y="2011680"/>
            <a:ext cx="3291840" cy="457200"/>
          </a:xfrm>
          <a:prstGeom prst="rect">
            <a:avLst/>
          </a:prstGeom>
          <a:noFill/>
          <a:ln/>
        </p:spPr>
        <p:txBody>
          <a:bodyPr wrap="square" lIns="0" tIns="0" rIns="0" bIns="0" rtlCol="0" anchor="ctr"/>
          <a:lstStyle/>
          <a:p>
            <a:pPr algn="l" indent="0" marL="0">
              <a:buNone/>
            </a:pPr>
            <a:endParaRPr lang="en-US" sz="1150" dirty="0"/>
          </a:p>
        </p:txBody>
      </p:sp>
      <p:sp>
        <p:nvSpPr>
          <p:cNvPr id="35" name="Text 33"/>
          <p:cNvSpPr/>
          <p:nvPr/>
        </p:nvSpPr>
        <p:spPr>
          <a:xfrm>
            <a:off x="8138160" y="2331720"/>
            <a:ext cx="3291840" cy="640080"/>
          </a:xfrm>
          <a:prstGeom prst="rect">
            <a:avLst/>
          </a:prstGeom>
          <a:noFill/>
          <a:ln/>
        </p:spPr>
        <p:txBody>
          <a:bodyPr wrap="square" lIns="0" tIns="0" rIns="0" bIns="0" rtlCol="0" anchor="ctr"/>
          <a:lstStyle/>
          <a:p>
            <a:pPr indent="0" marL="0">
              <a:buNone/>
            </a:pPr>
            <a:r>
              <a:rPr lang="en-US" sz="1250" dirty="0">
                <a:solidFill>
                  <a:srgbClr val="D3E3EE"/>
                </a:solidFill>
                <a:latin typeface="Calibri" pitchFamily="34" charset="0"/>
                <a:ea typeface="Calibri" pitchFamily="34" charset="-122"/>
                <a:cs typeface="Calibri" pitchFamily="34" charset="-120"/>
              </a:rPr>
              <a:t>del stride de 2 s se consume en cómputo y comunicación</a:t>
            </a:r>
            <a:endParaRPr lang="en-US" sz="1250" dirty="0"/>
          </a:p>
        </p:txBody>
      </p:sp>
      <p:sp>
        <p:nvSpPr>
          <p:cNvPr id="36" name="Shape 34"/>
          <p:cNvSpPr/>
          <p:nvPr/>
        </p:nvSpPr>
        <p:spPr>
          <a:xfrm>
            <a:off x="7863840" y="3383280"/>
            <a:ext cx="3776472" cy="2651760"/>
          </a:xfrm>
          <a:prstGeom prst="roundRect">
            <a:avLst>
              <a:gd name="adj" fmla="val 2069"/>
            </a:avLst>
          </a:prstGeom>
          <a:solidFill>
            <a:srgbClr val="F1F5F8"/>
          </a:solidFill>
          <a:ln w="12700">
            <a:solidFill>
              <a:srgbClr val="D8E2EA"/>
            </a:solidFill>
            <a:prstDash val="solid"/>
          </a:ln>
        </p:spPr>
      </p:sp>
      <p:sp>
        <p:nvSpPr>
          <p:cNvPr id="37" name="Text 35"/>
          <p:cNvSpPr/>
          <p:nvPr/>
        </p:nvSpPr>
        <p:spPr>
          <a:xfrm>
            <a:off x="8138160" y="3547872"/>
            <a:ext cx="329184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Lo que el aprendiz sí percibe</a:t>
            </a:r>
            <a:endParaRPr lang="en-US" sz="1350" dirty="0"/>
          </a:p>
        </p:txBody>
      </p:sp>
      <p:sp>
        <p:nvSpPr>
          <p:cNvPr id="38" name="Text 36"/>
          <p:cNvSpPr/>
          <p:nvPr/>
        </p:nvSpPr>
        <p:spPr>
          <a:xfrm>
            <a:off x="8138160" y="3913632"/>
            <a:ext cx="3291840" cy="1920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B2733"/>
                </a:solidFill>
                <a:latin typeface="Calibri" pitchFamily="34" charset="0"/>
                <a:ea typeface="Calibri" pitchFamily="34" charset="-122"/>
                <a:cs typeface="Calibri" pitchFamily="34" charset="-120"/>
              </a:rPr>
              <a:t>La longitud de ventana (4 s) y las guardas, no el cómputo.</a:t>
            </a:r>
            <a:endParaRPr lang="en-US" sz="1150" dirty="0"/>
          </a:p>
          <a:p>
            <a:pPr marL="342900" indent="-342900">
              <a:spcAft>
                <a:spcPts val="700"/>
              </a:spcAft>
              <a:buSzPct val="100000"/>
              <a:buChar char="•"/>
            </a:pPr>
            <a:r>
              <a:rPr lang="en-US" sz="1150" dirty="0">
                <a:solidFill>
                  <a:srgbClr val="1B2733"/>
                </a:solidFill>
                <a:latin typeface="Calibri" pitchFamily="34" charset="0"/>
                <a:ea typeface="Calibri" pitchFamily="34" charset="-122"/>
                <a:cs typeface="Calibri" pitchFamily="34" charset="-120"/>
              </a:rPr>
              <a:t>Las latencias de reacción reales son de 22 a 38 s: cuatro órdenes de magnitud mayores.</a:t>
            </a:r>
            <a:endParaRPr lang="en-US" sz="1150" dirty="0"/>
          </a:p>
          <a:p>
            <a:pPr marL="342900" indent="-342900">
              <a:spcAft>
                <a:spcPts val="700"/>
              </a:spcAft>
              <a:buSzPct val="100000"/>
              <a:buChar char="•"/>
            </a:pPr>
            <a:r>
              <a:rPr lang="en-US" sz="1150" dirty="0">
                <a:solidFill>
                  <a:srgbClr val="1B2733"/>
                </a:solidFill>
                <a:latin typeface="Calibri" pitchFamily="34" charset="0"/>
                <a:ea typeface="Calibri" pitchFamily="34" charset="-122"/>
                <a:cs typeface="Calibri" pitchFamily="34" charset="-120"/>
              </a:rPr>
              <a:t>Añadir el bosque aleatorio binario junto al regresor costaría 11.2 ms más — sigue sobrando margen.</a:t>
            </a:r>
            <a:endParaRPr lang="en-US" sz="1150" dirty="0"/>
          </a:p>
        </p:txBody>
      </p:sp>
      <p:sp>
        <p:nvSpPr>
          <p:cNvPr id="39" name="Text 37"/>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40" name="Text 38"/>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DECISIÓN INFORMADA POR LOS DATOS</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Sonda sobre nuestras propias grabaciones AURA</a:t>
            </a:r>
            <a:endParaRPr lang="en-US" sz="3000" dirty="0"/>
          </a:p>
        </p:txBody>
      </p:sp>
      <p:sp>
        <p:nvSpPr>
          <p:cNvPr id="4" name="Text 2"/>
          <p:cNvSpPr/>
          <p:nvPr/>
        </p:nvSpPr>
        <p:spPr>
          <a:xfrm>
            <a:off x="548640" y="1371600"/>
            <a:ext cx="11091672" cy="320040"/>
          </a:xfrm>
          <a:prstGeom prst="rect">
            <a:avLst/>
          </a:prstGeom>
          <a:noFill/>
          <a:ln/>
        </p:spPr>
        <p:txBody>
          <a:bodyPr wrap="square" lIns="0" tIns="0" rIns="0" bIns="0" rtlCol="0" anchor="ctr"/>
          <a:lstStyle/>
          <a:p>
            <a:pPr indent="0" marL="0">
              <a:buNone/>
            </a:pPr>
            <a:r>
              <a:rPr lang="en-US" sz="1300" i="1" dirty="0">
                <a:solidFill>
                  <a:srgbClr val="1B3A5C"/>
                </a:solidFill>
                <a:latin typeface="Calibri" pitchFamily="34" charset="0"/>
                <a:ea typeface="Calibri" pitchFamily="34" charset="-122"/>
                <a:cs typeface="Calibri" pitchFamily="34" charset="-120"/>
              </a:rPr>
              <a:t>Pregunta: ¿pueden nuestras sesiones sustituir al dataset público como base del artículo de método?</a:t>
            </a:r>
            <a:endParaRPr lang="en-US" sz="1300" dirty="0"/>
          </a:p>
        </p:txBody>
      </p:sp>
      <p:sp>
        <p:nvSpPr>
          <p:cNvPr id="5" name="Shape 3"/>
          <p:cNvSpPr/>
          <p:nvPr/>
        </p:nvSpPr>
        <p:spPr>
          <a:xfrm>
            <a:off x="548640" y="1828800"/>
            <a:ext cx="3566160" cy="1371600"/>
          </a:xfrm>
          <a:prstGeom prst="roundRect">
            <a:avLst>
              <a:gd name="adj" fmla="val 4000"/>
            </a:avLst>
          </a:prstGeom>
          <a:solidFill>
            <a:srgbClr val="F1F5F8"/>
          </a:solidFill>
          <a:ln w="12700">
            <a:solidFill>
              <a:srgbClr val="D8E2EA"/>
            </a:solidFill>
            <a:prstDash val="solid"/>
          </a:ln>
        </p:spPr>
      </p:sp>
      <p:sp>
        <p:nvSpPr>
          <p:cNvPr id="6" name="Text 4"/>
          <p:cNvSpPr/>
          <p:nvPr/>
        </p:nvSpPr>
        <p:spPr>
          <a:xfrm>
            <a:off x="804672" y="1965960"/>
            <a:ext cx="3108960" cy="566928"/>
          </a:xfrm>
          <a:prstGeom prst="rect">
            <a:avLst/>
          </a:prstGeom>
          <a:noFill/>
          <a:ln/>
        </p:spPr>
        <p:txBody>
          <a:bodyPr wrap="square" lIns="0" tIns="0" rIns="0" bIns="0" rtlCol="0" anchor="ctr"/>
          <a:lstStyle/>
          <a:p>
            <a:pPr algn="l" indent="0" marL="0">
              <a:buNone/>
            </a:pPr>
            <a:r>
              <a:rPr lang="en-US" sz="2800" b="1" dirty="0">
                <a:solidFill>
                  <a:srgbClr val="C97B21"/>
                </a:solidFill>
                <a:latin typeface="Cambria" pitchFamily="34" charset="0"/>
                <a:ea typeface="Cambria" pitchFamily="34" charset="-122"/>
                <a:cs typeface="Cambria" pitchFamily="34" charset="-120"/>
              </a:rPr>
              <a:t>7 de 16</a:t>
            </a:r>
            <a:endParaRPr lang="en-US" sz="2800" dirty="0"/>
          </a:p>
        </p:txBody>
      </p:sp>
      <p:sp>
        <p:nvSpPr>
          <p:cNvPr id="7" name="Text 5"/>
          <p:cNvSpPr/>
          <p:nvPr/>
        </p:nvSpPr>
        <p:spPr>
          <a:xfrm>
            <a:off x="804672" y="2514600"/>
            <a:ext cx="3108960" cy="457200"/>
          </a:xfrm>
          <a:prstGeom prst="rect">
            <a:avLst/>
          </a:prstGeom>
          <a:noFill/>
          <a:ln/>
        </p:spPr>
        <p:txBody>
          <a:bodyPr wrap="square" lIns="0" tIns="0" rIns="0" bIns="0" rtlCol="0" anchor="ctr"/>
          <a:lstStyle/>
          <a:p>
            <a:pPr algn="l" indent="0" marL="0">
              <a:buNone/>
            </a:pPr>
            <a:endParaRPr lang="en-US" sz="1150" dirty="0"/>
          </a:p>
        </p:txBody>
      </p:sp>
      <p:sp>
        <p:nvSpPr>
          <p:cNvPr id="8" name="Text 6"/>
          <p:cNvSpPr/>
          <p:nvPr/>
        </p:nvSpPr>
        <p:spPr>
          <a:xfrm>
            <a:off x="804672" y="2542032"/>
            <a:ext cx="3108960" cy="5943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sesiones muestrean lo bastante rápido para ver alfa</a:t>
            </a:r>
            <a:endParaRPr lang="en-US" sz="1150" dirty="0"/>
          </a:p>
        </p:txBody>
      </p:sp>
      <p:sp>
        <p:nvSpPr>
          <p:cNvPr id="9" name="Shape 7"/>
          <p:cNvSpPr/>
          <p:nvPr/>
        </p:nvSpPr>
        <p:spPr>
          <a:xfrm>
            <a:off x="4297680" y="1828800"/>
            <a:ext cx="3566160" cy="1371600"/>
          </a:xfrm>
          <a:prstGeom prst="roundRect">
            <a:avLst>
              <a:gd name="adj" fmla="val 4000"/>
            </a:avLst>
          </a:prstGeom>
          <a:solidFill>
            <a:srgbClr val="F1F5F8"/>
          </a:solidFill>
          <a:ln w="12700">
            <a:solidFill>
              <a:srgbClr val="D8E2EA"/>
            </a:solidFill>
            <a:prstDash val="solid"/>
          </a:ln>
        </p:spPr>
      </p:sp>
      <p:sp>
        <p:nvSpPr>
          <p:cNvPr id="10" name="Text 8"/>
          <p:cNvSpPr/>
          <p:nvPr/>
        </p:nvSpPr>
        <p:spPr>
          <a:xfrm>
            <a:off x="4553712" y="1965960"/>
            <a:ext cx="3108960" cy="566928"/>
          </a:xfrm>
          <a:prstGeom prst="rect">
            <a:avLst/>
          </a:prstGeom>
          <a:noFill/>
          <a:ln/>
        </p:spPr>
        <p:txBody>
          <a:bodyPr wrap="square" lIns="0" tIns="0" rIns="0" bIns="0" rtlCol="0" anchor="ctr"/>
          <a:lstStyle/>
          <a:p>
            <a:pPr algn="l" indent="0" marL="0">
              <a:buNone/>
            </a:pPr>
            <a:r>
              <a:rPr lang="en-US" sz="2800" b="1" dirty="0">
                <a:solidFill>
                  <a:srgbClr val="B8453B"/>
                </a:solidFill>
                <a:latin typeface="Cambria" pitchFamily="34" charset="0"/>
                <a:ea typeface="Cambria" pitchFamily="34" charset="-122"/>
                <a:cs typeface="Cambria" pitchFamily="34" charset="-120"/>
              </a:rPr>
              <a:t>2.6 Hz</a:t>
            </a:r>
            <a:endParaRPr lang="en-US" sz="2800" dirty="0"/>
          </a:p>
        </p:txBody>
      </p:sp>
      <p:sp>
        <p:nvSpPr>
          <p:cNvPr id="11" name="Text 9"/>
          <p:cNvSpPr/>
          <p:nvPr/>
        </p:nvSpPr>
        <p:spPr>
          <a:xfrm>
            <a:off x="4553712" y="2514600"/>
            <a:ext cx="3108960" cy="457200"/>
          </a:xfrm>
          <a:prstGeom prst="rect">
            <a:avLst/>
          </a:prstGeom>
          <a:noFill/>
          <a:ln/>
        </p:spPr>
        <p:txBody>
          <a:bodyPr wrap="square" lIns="0" tIns="0" rIns="0" bIns="0" rtlCol="0" anchor="ctr"/>
          <a:lstStyle/>
          <a:p>
            <a:pPr algn="l" indent="0" marL="0">
              <a:buNone/>
            </a:pPr>
            <a:endParaRPr lang="en-US" sz="1150" dirty="0"/>
          </a:p>
        </p:txBody>
      </p:sp>
      <p:sp>
        <p:nvSpPr>
          <p:cNvPr id="12" name="Text 10"/>
          <p:cNvSpPr/>
          <p:nvPr/>
        </p:nvSpPr>
        <p:spPr>
          <a:xfrm>
            <a:off x="4553712" y="2542032"/>
            <a:ext cx="3108960" cy="5943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en ocho sesiones: con Nyquist en 1.3 Hz, theta y alfa son irrecuperables</a:t>
            </a:r>
            <a:endParaRPr lang="en-US" sz="1150" dirty="0"/>
          </a:p>
        </p:txBody>
      </p:sp>
      <p:sp>
        <p:nvSpPr>
          <p:cNvPr id="13" name="Shape 11"/>
          <p:cNvSpPr/>
          <p:nvPr/>
        </p:nvSpPr>
        <p:spPr>
          <a:xfrm>
            <a:off x="8046720" y="1828800"/>
            <a:ext cx="3566160" cy="1371600"/>
          </a:xfrm>
          <a:prstGeom prst="roundRect">
            <a:avLst>
              <a:gd name="adj" fmla="val 4000"/>
            </a:avLst>
          </a:prstGeom>
          <a:solidFill>
            <a:srgbClr val="F1F5F8"/>
          </a:solidFill>
          <a:ln w="12700">
            <a:solidFill>
              <a:srgbClr val="D8E2EA"/>
            </a:solidFill>
            <a:prstDash val="solid"/>
          </a:ln>
        </p:spPr>
      </p:sp>
      <p:sp>
        <p:nvSpPr>
          <p:cNvPr id="14" name="Text 12"/>
          <p:cNvSpPr/>
          <p:nvPr/>
        </p:nvSpPr>
        <p:spPr>
          <a:xfrm>
            <a:off x="8302752" y="1965960"/>
            <a:ext cx="3108960" cy="566928"/>
          </a:xfrm>
          <a:prstGeom prst="rect">
            <a:avLst/>
          </a:prstGeom>
          <a:noFill/>
          <a:ln/>
        </p:spPr>
        <p:txBody>
          <a:bodyPr wrap="square" lIns="0" tIns="0" rIns="0" bIns="0" rtlCol="0" anchor="ctr"/>
          <a:lstStyle/>
          <a:p>
            <a:pPr algn="l" indent="0" marL="0">
              <a:buNone/>
            </a:pPr>
            <a:r>
              <a:rPr lang="en-US" sz="2800" b="1" dirty="0">
                <a:solidFill>
                  <a:srgbClr val="B8453B"/>
                </a:solidFill>
                <a:latin typeface="Cambria" pitchFamily="34" charset="0"/>
                <a:ea typeface="Cambria" pitchFamily="34" charset="-122"/>
                <a:cs typeface="Cambria" pitchFamily="34" charset="-120"/>
              </a:rPr>
              <a:t>0.638</a:t>
            </a:r>
            <a:endParaRPr lang="en-US" sz="2800" dirty="0"/>
          </a:p>
        </p:txBody>
      </p:sp>
      <p:sp>
        <p:nvSpPr>
          <p:cNvPr id="15" name="Text 13"/>
          <p:cNvSpPr/>
          <p:nvPr/>
        </p:nvSpPr>
        <p:spPr>
          <a:xfrm>
            <a:off x="8302752" y="2514600"/>
            <a:ext cx="3108960" cy="457200"/>
          </a:xfrm>
          <a:prstGeom prst="rect">
            <a:avLst/>
          </a:prstGeom>
          <a:noFill/>
          <a:ln/>
        </p:spPr>
        <p:txBody>
          <a:bodyPr wrap="square" lIns="0" tIns="0" rIns="0" bIns="0" rtlCol="0" anchor="ctr"/>
          <a:lstStyle/>
          <a:p>
            <a:pPr algn="l" indent="0" marL="0">
              <a:buNone/>
            </a:pPr>
            <a:endParaRPr lang="en-US" sz="1150" dirty="0"/>
          </a:p>
        </p:txBody>
      </p:sp>
      <p:sp>
        <p:nvSpPr>
          <p:cNvPr id="16" name="Text 14"/>
          <p:cNvSpPr/>
          <p:nvPr/>
        </p:nvSpPr>
        <p:spPr>
          <a:xfrm>
            <a:off x="8302752" y="2542032"/>
            <a:ext cx="3108960" cy="59436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exactitud binaria LOSO, por debajo de su propio baseline por mayoría (0.657)</a:t>
            </a:r>
            <a:endParaRPr lang="en-US" sz="1150" dirty="0"/>
          </a:p>
        </p:txBody>
      </p:sp>
      <p:sp>
        <p:nvSpPr>
          <p:cNvPr id="17" name="Shape 15"/>
          <p:cNvSpPr/>
          <p:nvPr/>
        </p:nvSpPr>
        <p:spPr>
          <a:xfrm>
            <a:off x="548640" y="3364992"/>
            <a:ext cx="5486400" cy="1600200"/>
          </a:xfrm>
          <a:prstGeom prst="roundRect">
            <a:avLst>
              <a:gd name="adj" fmla="val 3429"/>
            </a:avLst>
          </a:prstGeom>
          <a:solidFill>
            <a:srgbClr val="F1F5F8"/>
          </a:solidFill>
          <a:ln w="12700">
            <a:solidFill>
              <a:srgbClr val="D8E2EA"/>
            </a:solidFill>
            <a:prstDash val="solid"/>
          </a:ln>
        </p:spPr>
      </p:sp>
      <p:sp>
        <p:nvSpPr>
          <p:cNvPr id="18" name="Text 16"/>
          <p:cNvSpPr/>
          <p:nvPr/>
        </p:nvSpPr>
        <p:spPr>
          <a:xfrm>
            <a:off x="777240" y="3493008"/>
            <a:ext cx="502920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La firma fisiológica sí está presente</a:t>
            </a:r>
            <a:endParaRPr lang="en-US" sz="1350" dirty="0"/>
          </a:p>
        </p:txBody>
      </p:sp>
      <p:sp>
        <p:nvSpPr>
          <p:cNvPr id="19" name="Text 17"/>
          <p:cNvSpPr/>
          <p:nvPr/>
        </p:nvSpPr>
        <p:spPr>
          <a:xfrm>
            <a:off x="777240" y="3803904"/>
            <a:ext cx="5029200" cy="1051560"/>
          </a:xfrm>
          <a:prstGeom prst="rect">
            <a:avLst/>
          </a:prstGeom>
          <a:noFill/>
          <a:ln/>
        </p:spPr>
        <p:txBody>
          <a:bodyPr wrap="square" lIns="0" tIns="0" rIns="0" bIns="0" rtlCol="0" anchor="ctr"/>
          <a:lstStyle/>
          <a:p>
            <a:pPr indent="0" marL="0">
              <a:lnSpc>
                <a:spcPts val="1600"/>
              </a:lnSpc>
              <a:buNone/>
            </a:pPr>
            <a:r>
              <a:rPr lang="en-US" sz="1100" dirty="0">
                <a:solidFill>
                  <a:srgbClr val="5D6E7E"/>
                </a:solidFill>
                <a:latin typeface="Calibri" pitchFamily="34" charset="0"/>
                <a:ea typeface="Calibri" pitchFamily="34" charset="-122"/>
                <a:cs typeface="Calibri" pitchFamily="34" charset="-120"/>
              </a:rPr>
              <a:t>Normalizado al reposo (baseline → baja → alta):</a:t>
            </a:r>
            <a:endParaRPr lang="en-US" sz="1100" dirty="0"/>
          </a:p>
          <a:p>
            <a:pPr indent="0" marL="0">
              <a:lnSpc>
                <a:spcPts val="1600"/>
              </a:lnSpc>
              <a:buNone/>
            </a:pPr>
            <a:r>
              <a:rPr lang="en-US" sz="1100" dirty="0">
                <a:solidFill>
                  <a:srgbClr val="5D6E7E"/>
                </a:solidFill>
                <a:latin typeface="Calibri" pitchFamily="34" charset="0"/>
                <a:ea typeface="Calibri" pitchFamily="34" charset="-122"/>
                <a:cs typeface="Calibri" pitchFamily="34" charset="-120"/>
              </a:rPr>
              <a:t>θ(Fz) 1.00 → 0.94 → 1.93      α(Pz) 1.00 → 0.67 → 0.95      CLI 1.00 → 0.96 → 1.30</a:t>
            </a:r>
            <a:endParaRPr lang="en-US" sz="1100" dirty="0"/>
          </a:p>
          <a:p>
            <a:pPr indent="0" marL="0">
              <a:lnSpc>
                <a:spcPts val="1600"/>
              </a:lnSpc>
              <a:buNone/>
            </a:pPr>
            <a:r>
              <a:rPr lang="en-US" sz="1100" dirty="0">
                <a:solidFill>
                  <a:srgbClr val="5D6E7E"/>
                </a:solidFill>
                <a:latin typeface="Calibri" pitchFamily="34" charset="0"/>
                <a:ea typeface="Calibri" pitchFamily="34" charset="-122"/>
                <a:cs typeface="Calibri" pitchFamily="34" charset="-120"/>
              </a:rPr>
              <a:t>Pero «baja» no queda entre reposo y «alta»: no hay estructura ordinal (ρ = −0.07 ± 0.38).</a:t>
            </a:r>
            <a:endParaRPr lang="en-US" sz="1100" dirty="0"/>
          </a:p>
        </p:txBody>
      </p:sp>
      <p:sp>
        <p:nvSpPr>
          <p:cNvPr id="20" name="Shape 18"/>
          <p:cNvSpPr/>
          <p:nvPr/>
        </p:nvSpPr>
        <p:spPr>
          <a:xfrm>
            <a:off x="6309360" y="3364992"/>
            <a:ext cx="5330952" cy="1600200"/>
          </a:xfrm>
          <a:prstGeom prst="roundRect">
            <a:avLst>
              <a:gd name="adj" fmla="val 3429"/>
            </a:avLst>
          </a:prstGeom>
          <a:solidFill>
            <a:srgbClr val="F1F5F8"/>
          </a:solidFill>
          <a:ln w="12700">
            <a:solidFill>
              <a:srgbClr val="D8E2EA"/>
            </a:solidFill>
            <a:prstDash val="solid"/>
          </a:ln>
        </p:spPr>
      </p:sp>
      <p:sp>
        <p:nvSpPr>
          <p:cNvPr id="21" name="Text 19"/>
          <p:cNvSpPr/>
          <p:nvPr/>
        </p:nvSpPr>
        <p:spPr>
          <a:xfrm>
            <a:off x="6537960" y="3493008"/>
            <a:ext cx="4846320" cy="274320"/>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El control descarta que sea culpa de las features</a:t>
            </a:r>
            <a:endParaRPr lang="en-US" sz="1350" dirty="0"/>
          </a:p>
        </p:txBody>
      </p:sp>
      <p:sp>
        <p:nvSpPr>
          <p:cNvPr id="22" name="Text 20"/>
          <p:cNvSpPr/>
          <p:nvPr/>
        </p:nvSpPr>
        <p:spPr>
          <a:xfrm>
            <a:off x="6537960" y="3822192"/>
            <a:ext cx="4846320" cy="1005840"/>
          </a:xfrm>
          <a:prstGeom prst="rect">
            <a:avLst/>
          </a:prstGeom>
          <a:noFill/>
          <a:ln/>
        </p:spPr>
        <p:txBody>
          <a:bodyPr wrap="square" lIns="0" tIns="0" rIns="0" bIns="0" rtlCol="0" anchor="ctr"/>
          <a:lstStyle/>
          <a:p>
            <a:pPr indent="0" marL="0">
              <a:buNone/>
            </a:pPr>
            <a:r>
              <a:rPr lang="en-US" sz="1150" dirty="0">
                <a:solidFill>
                  <a:srgbClr val="5D6E7E"/>
                </a:solidFill>
                <a:latin typeface="Calibri" pitchFamily="34" charset="0"/>
                <a:ea typeface="Calibri" pitchFamily="34" charset="-122"/>
                <a:cs typeface="Calibri" pitchFamily="34" charset="-120"/>
              </a:rPr>
              <a:t>Con exactamente las mismas 16 características theta/alfa, el dataset público alcanza 0.813 — casi lo mismo que con las 218 del pipeline completo. El conjunto de características no es el limitante: el 0.638 viene de los datos.</a:t>
            </a:r>
            <a:endParaRPr lang="en-US" sz="1150" dirty="0"/>
          </a:p>
        </p:txBody>
      </p:sp>
      <p:sp>
        <p:nvSpPr>
          <p:cNvPr id="23" name="Shape 21"/>
          <p:cNvSpPr/>
          <p:nvPr/>
        </p:nvSpPr>
        <p:spPr>
          <a:xfrm>
            <a:off x="548640" y="5120640"/>
            <a:ext cx="11091672" cy="960120"/>
          </a:xfrm>
          <a:prstGeom prst="roundRect">
            <a:avLst>
              <a:gd name="adj" fmla="val 5714"/>
            </a:avLst>
          </a:prstGeom>
          <a:solidFill>
            <a:srgbClr val="0E1D33"/>
          </a:solidFill>
          <a:ln w="12700">
            <a:solidFill>
              <a:srgbClr val="0E1D33"/>
            </a:solidFill>
            <a:prstDash val="solid"/>
          </a:ln>
        </p:spPr>
      </p:sp>
      <p:sp>
        <p:nvSpPr>
          <p:cNvPr id="24" name="Text 22"/>
          <p:cNvSpPr/>
          <p:nvPr/>
        </p:nvSpPr>
        <p:spPr>
          <a:xfrm>
            <a:off x="868680" y="5230368"/>
            <a:ext cx="10424160" cy="749808"/>
          </a:xfrm>
          <a:prstGeom prst="rect">
            <a:avLst/>
          </a:prstGeom>
          <a:noFill/>
          <a:ln/>
        </p:spPr>
        <p:txBody>
          <a:bodyPr wrap="square" lIns="0" tIns="0" rIns="0" bIns="0" rtlCol="0" anchor="ctr"/>
          <a:lstStyle/>
          <a:p>
            <a:pPr indent="0" marL="0">
              <a:lnSpc>
                <a:spcPts val="1900"/>
              </a:lnSpc>
              <a:buNone/>
            </a:pPr>
            <a:r>
              <a:rPr lang="en-US" sz="1250" b="1" dirty="0">
                <a:solidFill>
                  <a:srgbClr val="1391B5"/>
                </a:solidFill>
                <a:latin typeface="Calibri" pitchFamily="34" charset="0"/>
                <a:ea typeface="Calibri" pitchFamily="34" charset="-122"/>
                <a:cs typeface="Calibri" pitchFamily="34" charset="-120"/>
              </a:rPr>
              <a:t>Decisión:  </a:t>
            </a:r>
            <a:pPr indent="0" marL="0">
              <a:lnSpc>
                <a:spcPts val="1900"/>
              </a:lnSpc>
              <a:buNone/>
            </a:pPr>
            <a:r>
              <a:rPr lang="en-US" sz="1250" dirty="0">
                <a:solidFill>
                  <a:srgbClr val="FFFFFF"/>
                </a:solidFill>
                <a:latin typeface="Calibri" pitchFamily="34" charset="0"/>
                <a:ea typeface="Calibri" pitchFamily="34" charset="-122"/>
                <a:cs typeface="Calibri" pitchFamily="34" charset="-120"/>
              </a:rPr>
              <a:t>el dataset público queda como base del artículo de método; nuestras grabaciones sostienen una figura fisiológica suplementaria. Se re-adquiere el corpus propio con tasa de muestreo verificada antes del experimento del Año 3 — el criterio de Nyquist entra al protocolo de adquisición.</a:t>
            </a:r>
            <a:endParaRPr lang="en-US" sz="1250" dirty="0"/>
          </a:p>
        </p:txBody>
      </p:sp>
      <p:sp>
        <p:nvSpPr>
          <p:cNvPr id="25" name="Text 23"/>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26" name="Text 24"/>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PRODUCCIÓN</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Publicaciones y productos académicos</a:t>
            </a:r>
            <a:endParaRPr lang="en-US" sz="3000" dirty="0"/>
          </a:p>
        </p:txBody>
      </p:sp>
      <p:sp>
        <p:nvSpPr>
          <p:cNvPr id="4" name="Shape 2"/>
          <p:cNvSpPr/>
          <p:nvPr/>
        </p:nvSpPr>
        <p:spPr>
          <a:xfrm>
            <a:off x="548640" y="1417320"/>
            <a:ext cx="7772400" cy="868680"/>
          </a:xfrm>
          <a:prstGeom prst="roundRect">
            <a:avLst>
              <a:gd name="adj" fmla="val 6316"/>
            </a:avLst>
          </a:prstGeom>
          <a:solidFill>
            <a:srgbClr val="F1F5F8"/>
          </a:solidFill>
          <a:ln w="12700">
            <a:solidFill>
              <a:srgbClr val="D8E2EA"/>
            </a:solidFill>
            <a:prstDash val="solid"/>
          </a:ln>
        </p:spPr>
      </p:sp>
      <p:sp>
        <p:nvSpPr>
          <p:cNvPr id="5" name="Text 3"/>
          <p:cNvSpPr/>
          <p:nvPr/>
        </p:nvSpPr>
        <p:spPr>
          <a:xfrm>
            <a:off x="777240" y="1508760"/>
            <a:ext cx="5120640" cy="256032"/>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ISIE 2026 — IEEE</a:t>
            </a:r>
            <a:endParaRPr lang="en-US" sz="1250" dirty="0"/>
          </a:p>
        </p:txBody>
      </p:sp>
      <p:sp>
        <p:nvSpPr>
          <p:cNvPr id="6" name="Text 4"/>
          <p:cNvSpPr/>
          <p:nvPr/>
        </p:nvSpPr>
        <p:spPr>
          <a:xfrm>
            <a:off x="777240" y="1764792"/>
            <a:ext cx="5852160" cy="457200"/>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Validation of a Theta/Alpha (Fz/Pz) EEG-Based Cognitive Load Index for Workload-Aware Human–Machine Systems</a:t>
            </a:r>
            <a:endParaRPr lang="en-US" sz="1100" dirty="0"/>
          </a:p>
        </p:txBody>
      </p:sp>
      <p:sp>
        <p:nvSpPr>
          <p:cNvPr id="7" name="Shape 5"/>
          <p:cNvSpPr/>
          <p:nvPr/>
        </p:nvSpPr>
        <p:spPr>
          <a:xfrm>
            <a:off x="6720840" y="1691640"/>
            <a:ext cx="1417320" cy="329184"/>
          </a:xfrm>
          <a:prstGeom prst="roundRect">
            <a:avLst>
              <a:gd name="adj" fmla="val 47222"/>
            </a:avLst>
          </a:prstGeom>
          <a:solidFill>
            <a:srgbClr val="E4F3EC"/>
          </a:solidFill>
          <a:ln w="12700">
            <a:solidFill>
              <a:srgbClr val="333333"/>
            </a:solidFill>
            <a:prstDash val="solid"/>
          </a:ln>
        </p:spPr>
      </p:sp>
      <p:sp>
        <p:nvSpPr>
          <p:cNvPr id="8" name="Text 6"/>
          <p:cNvSpPr/>
          <p:nvPr/>
        </p:nvSpPr>
        <p:spPr>
          <a:xfrm>
            <a:off x="6720840" y="1691640"/>
            <a:ext cx="1417320" cy="329184"/>
          </a:xfrm>
          <a:prstGeom prst="rect">
            <a:avLst/>
          </a:prstGeom>
          <a:noFill/>
          <a:ln/>
        </p:spPr>
        <p:txBody>
          <a:bodyPr wrap="square" lIns="0" tIns="0" rIns="0" bIns="0" rtlCol="0" anchor="ctr"/>
          <a:lstStyle/>
          <a:p>
            <a:pPr algn="ctr" indent="0" marL="0">
              <a:buNone/>
            </a:pPr>
            <a:r>
              <a:rPr lang="en-US" sz="1000" b="1" dirty="0">
                <a:solidFill>
                  <a:srgbClr val="2E9E6B"/>
                </a:solidFill>
                <a:latin typeface="Calibri" pitchFamily="34" charset="0"/>
                <a:ea typeface="Calibri" pitchFamily="34" charset="-122"/>
                <a:cs typeface="Calibri" pitchFamily="34" charset="-120"/>
              </a:rPr>
              <a:t>Presentado</a:t>
            </a:r>
            <a:endParaRPr lang="en-US" sz="1000" dirty="0"/>
          </a:p>
        </p:txBody>
      </p:sp>
      <p:sp>
        <p:nvSpPr>
          <p:cNvPr id="9" name="Shape 7"/>
          <p:cNvSpPr/>
          <p:nvPr/>
        </p:nvSpPr>
        <p:spPr>
          <a:xfrm>
            <a:off x="548640" y="2377440"/>
            <a:ext cx="7772400" cy="868680"/>
          </a:xfrm>
          <a:prstGeom prst="roundRect">
            <a:avLst>
              <a:gd name="adj" fmla="val 6316"/>
            </a:avLst>
          </a:prstGeom>
          <a:solidFill>
            <a:srgbClr val="F1F5F8"/>
          </a:solidFill>
          <a:ln w="12700">
            <a:solidFill>
              <a:srgbClr val="D8E2EA"/>
            </a:solidFill>
            <a:prstDash val="solid"/>
          </a:ln>
        </p:spPr>
      </p:sp>
      <p:sp>
        <p:nvSpPr>
          <p:cNvPr id="10" name="Text 8"/>
          <p:cNvSpPr/>
          <p:nvPr/>
        </p:nvSpPr>
        <p:spPr>
          <a:xfrm>
            <a:off x="777240" y="2468880"/>
            <a:ext cx="5120640" cy="256032"/>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Wiley — Advances in Human-Computer Interaction</a:t>
            </a:r>
            <a:endParaRPr lang="en-US" sz="1250" dirty="0"/>
          </a:p>
        </p:txBody>
      </p:sp>
      <p:sp>
        <p:nvSpPr>
          <p:cNvPr id="11" name="Text 9"/>
          <p:cNvSpPr/>
          <p:nvPr/>
        </p:nvSpPr>
        <p:spPr>
          <a:xfrm>
            <a:off x="777240" y="2724912"/>
            <a:ext cx="5852160" cy="457200"/>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A Compact EEG-Based Cognitive Load Index: Controlled and Ecological Validation of a Regional Theta/Alpha Ratio</a:t>
            </a:r>
            <a:endParaRPr lang="en-US" sz="1100" dirty="0"/>
          </a:p>
        </p:txBody>
      </p:sp>
      <p:sp>
        <p:nvSpPr>
          <p:cNvPr id="12" name="Shape 10"/>
          <p:cNvSpPr/>
          <p:nvPr/>
        </p:nvSpPr>
        <p:spPr>
          <a:xfrm>
            <a:off x="6720840" y="2651760"/>
            <a:ext cx="1417320" cy="329184"/>
          </a:xfrm>
          <a:prstGeom prst="roundRect">
            <a:avLst>
              <a:gd name="adj" fmla="val 47222"/>
            </a:avLst>
          </a:prstGeom>
          <a:solidFill>
            <a:srgbClr val="FBEEDC"/>
          </a:solidFill>
          <a:ln w="12700">
            <a:solidFill>
              <a:srgbClr val="333333"/>
            </a:solidFill>
            <a:prstDash val="solid"/>
          </a:ln>
        </p:spPr>
      </p:sp>
      <p:sp>
        <p:nvSpPr>
          <p:cNvPr id="13" name="Text 11"/>
          <p:cNvSpPr/>
          <p:nvPr/>
        </p:nvSpPr>
        <p:spPr>
          <a:xfrm>
            <a:off x="6720840" y="2651760"/>
            <a:ext cx="1417320" cy="329184"/>
          </a:xfrm>
          <a:prstGeom prst="rect">
            <a:avLst/>
          </a:prstGeom>
          <a:noFill/>
          <a:ln/>
        </p:spPr>
        <p:txBody>
          <a:bodyPr wrap="square" lIns="0" tIns="0" rIns="0" bIns="0" rtlCol="0" anchor="ctr"/>
          <a:lstStyle/>
          <a:p>
            <a:pPr algn="ctr" indent="0" marL="0">
              <a:buNone/>
            </a:pPr>
            <a:r>
              <a:rPr lang="en-US" sz="1000" b="1" dirty="0">
                <a:solidFill>
                  <a:srgbClr val="C97B21"/>
                </a:solidFill>
                <a:latin typeface="Calibri" pitchFamily="34" charset="0"/>
                <a:ea typeface="Calibri" pitchFamily="34" charset="-122"/>
                <a:cs typeface="Calibri" pitchFamily="34" charset="-120"/>
              </a:rPr>
              <a:t>En revisión</a:t>
            </a:r>
            <a:endParaRPr lang="en-US" sz="1000" dirty="0"/>
          </a:p>
        </p:txBody>
      </p:sp>
      <p:sp>
        <p:nvSpPr>
          <p:cNvPr id="14" name="Shape 12"/>
          <p:cNvSpPr/>
          <p:nvPr/>
        </p:nvSpPr>
        <p:spPr>
          <a:xfrm>
            <a:off x="548640" y="3337560"/>
            <a:ext cx="7772400" cy="868680"/>
          </a:xfrm>
          <a:prstGeom prst="roundRect">
            <a:avLst>
              <a:gd name="adj" fmla="val 6316"/>
            </a:avLst>
          </a:prstGeom>
          <a:solidFill>
            <a:srgbClr val="F1F5F8"/>
          </a:solidFill>
          <a:ln w="12700">
            <a:solidFill>
              <a:srgbClr val="D8E2EA"/>
            </a:solidFill>
            <a:prstDash val="solid"/>
          </a:ln>
        </p:spPr>
      </p:sp>
      <p:sp>
        <p:nvSpPr>
          <p:cNvPr id="15" name="Text 13"/>
          <p:cNvSpPr/>
          <p:nvPr/>
        </p:nvSpPr>
        <p:spPr>
          <a:xfrm>
            <a:off x="777240" y="3429000"/>
            <a:ext cx="5120640" cy="256032"/>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Artículo de método (en preparación)</a:t>
            </a:r>
            <a:endParaRPr lang="en-US" sz="1250" dirty="0"/>
          </a:p>
        </p:txBody>
      </p:sp>
      <p:sp>
        <p:nvSpPr>
          <p:cNvPr id="16" name="Text 14"/>
          <p:cNvSpPr/>
          <p:nvPr/>
        </p:nvSpPr>
        <p:spPr>
          <a:xfrm>
            <a:off x="777240" y="3685032"/>
            <a:ext cx="5852160" cy="457200"/>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A Deployable, Interpretable EEG Cognitive-Load Index — protocolo honesto LOSO, ablación de montaje y descomposición del índice</a:t>
            </a:r>
            <a:endParaRPr lang="en-US" sz="1100" dirty="0"/>
          </a:p>
        </p:txBody>
      </p:sp>
      <p:sp>
        <p:nvSpPr>
          <p:cNvPr id="17" name="Shape 15"/>
          <p:cNvSpPr/>
          <p:nvPr/>
        </p:nvSpPr>
        <p:spPr>
          <a:xfrm>
            <a:off x="6720840" y="3611880"/>
            <a:ext cx="1417320" cy="329184"/>
          </a:xfrm>
          <a:prstGeom prst="roundRect">
            <a:avLst>
              <a:gd name="adj" fmla="val 47222"/>
            </a:avLst>
          </a:prstGeom>
          <a:solidFill>
            <a:srgbClr val="DCEEF5"/>
          </a:solidFill>
          <a:ln w="12700">
            <a:solidFill>
              <a:srgbClr val="333333"/>
            </a:solidFill>
            <a:prstDash val="solid"/>
          </a:ln>
        </p:spPr>
      </p:sp>
      <p:sp>
        <p:nvSpPr>
          <p:cNvPr id="18" name="Text 16"/>
          <p:cNvSpPr/>
          <p:nvPr/>
        </p:nvSpPr>
        <p:spPr>
          <a:xfrm>
            <a:off x="6720840" y="3611880"/>
            <a:ext cx="1417320" cy="329184"/>
          </a:xfrm>
          <a:prstGeom prst="rect">
            <a:avLst/>
          </a:prstGeom>
          <a:noFill/>
          <a:ln/>
        </p:spPr>
        <p:txBody>
          <a:bodyPr wrap="square" lIns="0" tIns="0" rIns="0" bIns="0" rtlCol="0" anchor="ctr"/>
          <a:lstStyle/>
          <a:p>
            <a:pPr algn="ctr" indent="0" marL="0">
              <a:buNone/>
            </a:pPr>
            <a:r>
              <a:rPr lang="en-US" sz="1000" b="1" dirty="0">
                <a:solidFill>
                  <a:srgbClr val="1391B5"/>
                </a:solidFill>
                <a:latin typeface="Calibri" pitchFamily="34" charset="0"/>
                <a:ea typeface="Calibri" pitchFamily="34" charset="-122"/>
                <a:cs typeface="Calibri" pitchFamily="34" charset="-120"/>
              </a:rPr>
              <a:t>Borrador completo</a:t>
            </a:r>
            <a:endParaRPr lang="en-US" sz="1000" dirty="0"/>
          </a:p>
        </p:txBody>
      </p:sp>
      <p:sp>
        <p:nvSpPr>
          <p:cNvPr id="19" name="Shape 17"/>
          <p:cNvSpPr/>
          <p:nvPr/>
        </p:nvSpPr>
        <p:spPr>
          <a:xfrm>
            <a:off x="548640" y="4297680"/>
            <a:ext cx="7772400" cy="868680"/>
          </a:xfrm>
          <a:prstGeom prst="roundRect">
            <a:avLst>
              <a:gd name="adj" fmla="val 6316"/>
            </a:avLst>
          </a:prstGeom>
          <a:solidFill>
            <a:srgbClr val="F1F5F8"/>
          </a:solidFill>
          <a:ln w="12700">
            <a:solidFill>
              <a:srgbClr val="D8E2EA"/>
            </a:solidFill>
            <a:prstDash val="solid"/>
          </a:ln>
        </p:spPr>
      </p:sp>
      <p:sp>
        <p:nvSpPr>
          <p:cNvPr id="20" name="Text 18"/>
          <p:cNvSpPr/>
          <p:nvPr/>
        </p:nvSpPr>
        <p:spPr>
          <a:xfrm>
            <a:off x="777240" y="4389120"/>
            <a:ext cx="5120640" cy="256032"/>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COMRob 2026 (en preparación)</a:t>
            </a:r>
            <a:endParaRPr lang="en-US" sz="1250" dirty="0"/>
          </a:p>
        </p:txBody>
      </p:sp>
      <p:sp>
        <p:nvSpPr>
          <p:cNvPr id="21" name="Text 19"/>
          <p:cNvSpPr/>
          <p:nvPr/>
        </p:nvSpPr>
        <p:spPr>
          <a:xfrm>
            <a:off x="777240" y="4645152"/>
            <a:ext cx="5852160" cy="457200"/>
          </a:xfrm>
          <a:prstGeom prst="rect">
            <a:avLst/>
          </a:prstGeom>
          <a:noFill/>
          <a:ln/>
        </p:spPr>
        <p:txBody>
          <a:bodyPr wrap="square" lIns="0" tIns="0" rIns="0" bIns="0" rtlCol="0" anchor="ctr"/>
          <a:lstStyle/>
          <a:p>
            <a:pPr indent="0" marL="0">
              <a:buNone/>
            </a:pPr>
            <a:r>
              <a:rPr lang="en-US" sz="1100" dirty="0">
                <a:solidFill>
                  <a:srgbClr val="5D6E7E"/>
                </a:solidFill>
                <a:latin typeface="Calibri" pitchFamily="34" charset="0"/>
                <a:ea typeface="Calibri" pitchFamily="34" charset="-122"/>
                <a:cs typeface="Calibri" pitchFamily="34" charset="-120"/>
              </a:rPr>
              <a:t>EEG Cognitive-Load Control of a Robotic Suturing Trainer — plataforma, controlador y evaluación del lazo</a:t>
            </a:r>
            <a:endParaRPr lang="en-US" sz="1100" dirty="0"/>
          </a:p>
        </p:txBody>
      </p:sp>
      <p:sp>
        <p:nvSpPr>
          <p:cNvPr id="22" name="Shape 20"/>
          <p:cNvSpPr/>
          <p:nvPr/>
        </p:nvSpPr>
        <p:spPr>
          <a:xfrm>
            <a:off x="6720840" y="4572000"/>
            <a:ext cx="1417320" cy="329184"/>
          </a:xfrm>
          <a:prstGeom prst="roundRect">
            <a:avLst>
              <a:gd name="adj" fmla="val 47222"/>
            </a:avLst>
          </a:prstGeom>
          <a:solidFill>
            <a:srgbClr val="DCEEF5"/>
          </a:solidFill>
          <a:ln w="12700">
            <a:solidFill>
              <a:srgbClr val="333333"/>
            </a:solidFill>
            <a:prstDash val="solid"/>
          </a:ln>
        </p:spPr>
      </p:sp>
      <p:sp>
        <p:nvSpPr>
          <p:cNvPr id="23" name="Text 21"/>
          <p:cNvSpPr/>
          <p:nvPr/>
        </p:nvSpPr>
        <p:spPr>
          <a:xfrm>
            <a:off x="6720840" y="4572000"/>
            <a:ext cx="1417320" cy="329184"/>
          </a:xfrm>
          <a:prstGeom prst="rect">
            <a:avLst/>
          </a:prstGeom>
          <a:noFill/>
          <a:ln/>
        </p:spPr>
        <p:txBody>
          <a:bodyPr wrap="square" lIns="0" tIns="0" rIns="0" bIns="0" rtlCol="0" anchor="ctr"/>
          <a:lstStyle/>
          <a:p>
            <a:pPr algn="ctr" indent="0" marL="0">
              <a:buNone/>
            </a:pPr>
            <a:r>
              <a:rPr lang="en-US" sz="1000" b="1" dirty="0">
                <a:solidFill>
                  <a:srgbClr val="1391B5"/>
                </a:solidFill>
                <a:latin typeface="Calibri" pitchFamily="34" charset="0"/>
                <a:ea typeface="Calibri" pitchFamily="34" charset="-122"/>
                <a:cs typeface="Calibri" pitchFamily="34" charset="-120"/>
              </a:rPr>
              <a:t>Borrador completo</a:t>
            </a:r>
            <a:endParaRPr lang="en-US" sz="1000" dirty="0"/>
          </a:p>
        </p:txBody>
      </p:sp>
      <p:sp>
        <p:nvSpPr>
          <p:cNvPr id="24" name="Shape 22"/>
          <p:cNvSpPr/>
          <p:nvPr/>
        </p:nvSpPr>
        <p:spPr>
          <a:xfrm>
            <a:off x="8595360" y="1417320"/>
            <a:ext cx="3044952" cy="1874520"/>
          </a:xfrm>
          <a:prstGeom prst="roundRect">
            <a:avLst>
              <a:gd name="adj" fmla="val 2927"/>
            </a:avLst>
          </a:prstGeom>
          <a:solidFill>
            <a:srgbClr val="F1F5F8"/>
          </a:solidFill>
          <a:ln w="12700">
            <a:solidFill>
              <a:srgbClr val="D8E2EA"/>
            </a:solidFill>
            <a:prstDash val="solid"/>
          </a:ln>
        </p:spPr>
      </p:sp>
      <p:sp>
        <p:nvSpPr>
          <p:cNvPr id="25" name="Text 23"/>
          <p:cNvSpPr/>
          <p:nvPr/>
        </p:nvSpPr>
        <p:spPr>
          <a:xfrm>
            <a:off x="8823960" y="1536192"/>
            <a:ext cx="2651760" cy="256032"/>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Tesis</a:t>
            </a:r>
            <a:endParaRPr lang="en-US" sz="1350" dirty="0"/>
          </a:p>
        </p:txBody>
      </p:sp>
      <p:sp>
        <p:nvSpPr>
          <p:cNvPr id="26" name="Text 24"/>
          <p:cNvSpPr/>
          <p:nvPr/>
        </p:nvSpPr>
        <p:spPr>
          <a:xfrm>
            <a:off x="8823960" y="1828800"/>
            <a:ext cx="2651760" cy="13716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B2733"/>
                </a:solidFill>
                <a:latin typeface="Calibri" pitchFamily="34" charset="0"/>
                <a:ea typeface="Calibri" pitchFamily="34" charset="-122"/>
                <a:cs typeface="Calibri" pitchFamily="34" charset="-120"/>
              </a:rPr>
              <a:t>Cap. 1–3: redactados</a:t>
            </a:r>
            <a:endParaRPr lang="en-US" sz="1100" dirty="0"/>
          </a:p>
          <a:p>
            <a:pPr marL="342900" indent="-342900">
              <a:spcAft>
                <a:spcPts val="500"/>
              </a:spcAft>
              <a:buSzPct val="100000"/>
              <a:buChar char="•"/>
            </a:pPr>
            <a:r>
              <a:rPr lang="en-US" sz="1100" dirty="0">
                <a:solidFill>
                  <a:srgbClr val="1B2733"/>
                </a:solidFill>
                <a:latin typeface="Calibri" pitchFamily="34" charset="0"/>
                <a:ea typeface="Calibri" pitchFamily="34" charset="-122"/>
                <a:cs typeface="Calibri" pitchFamily="34" charset="-120"/>
              </a:rPr>
              <a:t>Cap. 4: consola adaptativa</a:t>
            </a:r>
            <a:endParaRPr lang="en-US" sz="1100" dirty="0"/>
          </a:p>
          <a:p>
            <a:pPr marL="342900" indent="-342900">
              <a:spcAft>
                <a:spcPts val="500"/>
              </a:spcAft>
              <a:buSzPct val="100000"/>
              <a:buChar char="•"/>
            </a:pPr>
            <a:r>
              <a:rPr lang="en-US" sz="1100" dirty="0">
                <a:solidFill>
                  <a:srgbClr val="1B2733"/>
                </a:solidFill>
                <a:latin typeface="Calibri" pitchFamily="34" charset="0"/>
                <a:ea typeface="Calibri" pitchFamily="34" charset="-122"/>
                <a:cs typeface="Calibri" pitchFamily="34" charset="-120"/>
              </a:rPr>
              <a:t>Cap. 5: IA cognitiva — reescrito con los resultados LOSO</a:t>
            </a:r>
            <a:endParaRPr lang="en-US" sz="1100" dirty="0"/>
          </a:p>
          <a:p>
            <a:pPr marL="342900" indent="-342900">
              <a:spcAft>
                <a:spcPts val="500"/>
              </a:spcAft>
              <a:buSzPct val="100000"/>
              <a:buChar char="•"/>
            </a:pPr>
            <a:r>
              <a:rPr lang="en-US" sz="1100" dirty="0">
                <a:solidFill>
                  <a:srgbClr val="1B2733"/>
                </a:solidFill>
                <a:latin typeface="Calibri" pitchFamily="34" charset="0"/>
                <a:ea typeface="Calibri" pitchFamily="34" charset="-122"/>
                <a:cs typeface="Calibri" pitchFamily="34" charset="-120"/>
              </a:rPr>
              <a:t>Cap. 6: diseño del experimento de validación</a:t>
            </a:r>
            <a:endParaRPr lang="en-US" sz="1100" dirty="0"/>
          </a:p>
        </p:txBody>
      </p:sp>
      <p:sp>
        <p:nvSpPr>
          <p:cNvPr id="27" name="Shape 25"/>
          <p:cNvSpPr/>
          <p:nvPr/>
        </p:nvSpPr>
        <p:spPr>
          <a:xfrm>
            <a:off x="8595360" y="3429000"/>
            <a:ext cx="3044952" cy="1874520"/>
          </a:xfrm>
          <a:prstGeom prst="roundRect">
            <a:avLst>
              <a:gd name="adj" fmla="val 2927"/>
            </a:avLst>
          </a:prstGeom>
          <a:solidFill>
            <a:srgbClr val="F1F5F8"/>
          </a:solidFill>
          <a:ln w="12700">
            <a:solidFill>
              <a:srgbClr val="D8E2EA"/>
            </a:solidFill>
            <a:prstDash val="solid"/>
          </a:ln>
        </p:spPr>
      </p:sp>
      <p:sp>
        <p:nvSpPr>
          <p:cNvPr id="28" name="Text 26"/>
          <p:cNvSpPr/>
          <p:nvPr/>
        </p:nvSpPr>
        <p:spPr>
          <a:xfrm>
            <a:off x="8823960" y="3547872"/>
            <a:ext cx="2651760" cy="256032"/>
          </a:xfrm>
          <a:prstGeom prst="rect">
            <a:avLst/>
          </a:prstGeom>
          <a:noFill/>
          <a:ln/>
        </p:spPr>
        <p:txBody>
          <a:bodyPr wrap="square" lIns="0" tIns="0" rIns="0" bIns="0" rtlCol="0" anchor="ctr"/>
          <a:lstStyle/>
          <a:p>
            <a:pPr indent="0" marL="0">
              <a:buNone/>
            </a:pPr>
            <a:r>
              <a:rPr lang="en-US" sz="1350" b="1" dirty="0">
                <a:solidFill>
                  <a:srgbClr val="0E1D33"/>
                </a:solidFill>
                <a:latin typeface="Calibri" pitchFamily="34" charset="0"/>
                <a:ea typeface="Calibri" pitchFamily="34" charset="-122"/>
                <a:cs typeface="Calibri" pitchFamily="34" charset="-120"/>
              </a:rPr>
              <a:t>Código y datos</a:t>
            </a:r>
            <a:endParaRPr lang="en-US" sz="1350" dirty="0"/>
          </a:p>
        </p:txBody>
      </p:sp>
      <p:sp>
        <p:nvSpPr>
          <p:cNvPr id="29" name="Text 27"/>
          <p:cNvSpPr/>
          <p:nvPr/>
        </p:nvSpPr>
        <p:spPr>
          <a:xfrm>
            <a:off x="8823960" y="3840480"/>
            <a:ext cx="2651760" cy="13716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B2733"/>
                </a:solidFill>
                <a:latin typeface="Calibri" pitchFamily="34" charset="0"/>
                <a:ea typeface="Calibri" pitchFamily="34" charset="-122"/>
                <a:cs typeface="Calibri" pitchFamily="34" charset="-120"/>
              </a:rPr>
              <a:t>Pipeline EEG reproducible (un comando por etapa)</a:t>
            </a:r>
            <a:endParaRPr lang="en-US" sz="1100" dirty="0"/>
          </a:p>
          <a:p>
            <a:pPr marL="342900" indent="-342900">
              <a:spcAft>
                <a:spcPts val="500"/>
              </a:spcAft>
              <a:buSzPct val="100000"/>
              <a:buChar char="•"/>
            </a:pPr>
            <a:r>
              <a:rPr lang="en-US" sz="1100" dirty="0">
                <a:solidFill>
                  <a:srgbClr val="1B2733"/>
                </a:solidFill>
                <a:latin typeface="Calibri" pitchFamily="34" charset="0"/>
                <a:ea typeface="Calibri" pitchFamily="34" charset="-122"/>
                <a:cs typeface="Calibri" pitchFamily="34" charset="-120"/>
              </a:rPr>
              <a:t>Dataset AURA anonimizado publicado</a:t>
            </a:r>
            <a:endParaRPr lang="en-US" sz="1100" dirty="0"/>
          </a:p>
          <a:p>
            <a:pPr marL="342900" indent="-342900">
              <a:spcAft>
                <a:spcPts val="500"/>
              </a:spcAft>
              <a:buSzPct val="100000"/>
              <a:buChar char="•"/>
            </a:pPr>
            <a:r>
              <a:rPr lang="en-US" sz="1100" dirty="0">
                <a:solidFill>
                  <a:srgbClr val="1B2733"/>
                </a:solidFill>
                <a:latin typeface="Calibri" pitchFamily="34" charset="0"/>
                <a:ea typeface="Calibri" pitchFamily="34" charset="-122"/>
                <a:cs typeface="Calibri" pitchFamily="34" charset="-120"/>
              </a:rPr>
              <a:t>Entrenador VR: clonar y correr</a:t>
            </a:r>
            <a:endParaRPr lang="en-US" sz="1100" dirty="0"/>
          </a:p>
        </p:txBody>
      </p:sp>
      <p:sp>
        <p:nvSpPr>
          <p:cNvPr id="30" name="Shape 28"/>
          <p:cNvSpPr/>
          <p:nvPr/>
        </p:nvSpPr>
        <p:spPr>
          <a:xfrm>
            <a:off x="548640" y="5349240"/>
            <a:ext cx="7772400" cy="731520"/>
          </a:xfrm>
          <a:prstGeom prst="roundRect">
            <a:avLst>
              <a:gd name="adj" fmla="val 7500"/>
            </a:avLst>
          </a:prstGeom>
          <a:solidFill>
            <a:srgbClr val="F1F5F8"/>
          </a:solidFill>
          <a:ln w="12700">
            <a:solidFill>
              <a:srgbClr val="D8E2EA"/>
            </a:solidFill>
            <a:prstDash val="solid"/>
          </a:ln>
        </p:spPr>
      </p:sp>
      <p:sp>
        <p:nvSpPr>
          <p:cNvPr id="31" name="Text 29"/>
          <p:cNvSpPr/>
          <p:nvPr/>
        </p:nvSpPr>
        <p:spPr>
          <a:xfrm>
            <a:off x="777240" y="5349240"/>
            <a:ext cx="7315200" cy="731520"/>
          </a:xfrm>
          <a:prstGeom prst="rect">
            <a:avLst/>
          </a:prstGeom>
          <a:noFill/>
          <a:ln/>
        </p:spPr>
        <p:txBody>
          <a:bodyPr wrap="square" lIns="0" tIns="0" rIns="0" bIns="0" rtlCol="0" anchor="ctr"/>
          <a:lstStyle/>
          <a:p>
            <a:pPr indent="0" marL="0">
              <a:buNone/>
            </a:pPr>
            <a:r>
              <a:rPr lang="en-US" sz="1150" dirty="0">
                <a:solidFill>
                  <a:srgbClr val="1B3A5C"/>
                </a:solidFill>
                <a:latin typeface="Calibri" pitchFamily="34" charset="0"/>
                <a:ea typeface="Calibri" pitchFamily="34" charset="-122"/>
                <a:cs typeface="Calibri" pitchFamily="34" charset="-120"/>
              </a:rPr>
              <a:t>Retribución social:  2 participaciones en «Tecnoverso» (Radio UAEH) · talleres de tecnología en Japón (Mirai Innovation Research Institute)</a:t>
            </a:r>
            <a:endParaRPr lang="en-US" sz="1150" dirty="0"/>
          </a:p>
        </p:txBody>
      </p:sp>
      <p:sp>
        <p:nvSpPr>
          <p:cNvPr id="32" name="Text 30"/>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33" name="Text 31"/>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CRONOGRAMA DOCTORAL</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indent="0" marL="0">
              <a:buNone/>
            </a:pPr>
            <a:r>
              <a:rPr lang="en-US" sz="3000" b="1" dirty="0">
                <a:solidFill>
                  <a:srgbClr val="0E1D33"/>
                </a:solidFill>
                <a:latin typeface="Cambria" pitchFamily="34" charset="0"/>
                <a:ea typeface="Cambria" pitchFamily="34" charset="-122"/>
                <a:cs typeface="Cambria" pitchFamily="34" charset="-120"/>
              </a:rPr>
              <a:t>Dónde estamos y qué sigue</a:t>
            </a:r>
            <a:endParaRPr lang="en-US" sz="3000" dirty="0"/>
          </a:p>
        </p:txBody>
      </p:sp>
      <p:sp>
        <p:nvSpPr>
          <p:cNvPr id="4" name="Shape 2"/>
          <p:cNvSpPr/>
          <p:nvPr/>
        </p:nvSpPr>
        <p:spPr>
          <a:xfrm>
            <a:off x="548640" y="1417320"/>
            <a:ext cx="3520440" cy="3794760"/>
          </a:xfrm>
          <a:prstGeom prst="roundRect">
            <a:avLst>
              <a:gd name="adj" fmla="val 1558"/>
            </a:avLst>
          </a:prstGeom>
          <a:solidFill>
            <a:srgbClr val="FFFFFF"/>
          </a:solidFill>
          <a:ln w="12700">
            <a:solidFill>
              <a:srgbClr val="D8E2EA"/>
            </a:solidFill>
            <a:prstDash val="solid"/>
          </a:ln>
        </p:spPr>
      </p:sp>
      <p:sp>
        <p:nvSpPr>
          <p:cNvPr id="5" name="Shape 3"/>
          <p:cNvSpPr/>
          <p:nvPr/>
        </p:nvSpPr>
        <p:spPr>
          <a:xfrm>
            <a:off x="548640" y="1417320"/>
            <a:ext cx="3520440" cy="777240"/>
          </a:xfrm>
          <a:prstGeom prst="roundRect">
            <a:avLst>
              <a:gd name="adj" fmla="val 7059"/>
            </a:avLst>
          </a:prstGeom>
          <a:solidFill>
            <a:srgbClr val="E4F3EC"/>
          </a:solidFill>
          <a:ln w="12700">
            <a:solidFill>
              <a:srgbClr val="D8E2EA"/>
            </a:solidFill>
            <a:prstDash val="solid"/>
          </a:ln>
        </p:spPr>
      </p:sp>
      <p:sp>
        <p:nvSpPr>
          <p:cNvPr id="6" name="Text 4"/>
          <p:cNvSpPr/>
          <p:nvPr/>
        </p:nvSpPr>
        <p:spPr>
          <a:xfrm>
            <a:off x="777240" y="1536192"/>
            <a:ext cx="3063240" cy="256032"/>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AÑO 1 · 2025–2026</a:t>
            </a:r>
            <a:endParaRPr lang="en-US" sz="1250" dirty="0"/>
          </a:p>
        </p:txBody>
      </p:sp>
      <p:sp>
        <p:nvSpPr>
          <p:cNvPr id="7" name="Text 5"/>
          <p:cNvSpPr/>
          <p:nvPr/>
        </p:nvSpPr>
        <p:spPr>
          <a:xfrm>
            <a:off x="777240" y="1810512"/>
            <a:ext cx="3063240" cy="256032"/>
          </a:xfrm>
          <a:prstGeom prst="rect">
            <a:avLst/>
          </a:prstGeom>
          <a:noFill/>
          <a:ln/>
        </p:spPr>
        <p:txBody>
          <a:bodyPr wrap="square" lIns="0" tIns="0" rIns="0" bIns="0" rtlCol="0" anchor="ctr"/>
          <a:lstStyle/>
          <a:p>
            <a:pPr indent="0" marL="0">
              <a:buNone/>
            </a:pPr>
            <a:r>
              <a:rPr lang="en-US" sz="1050" b="1" spc="140" kern="0" dirty="0">
                <a:solidFill>
                  <a:srgbClr val="2E9E6B"/>
                </a:solidFill>
                <a:latin typeface="Calibri" pitchFamily="34" charset="0"/>
                <a:ea typeface="Calibri" pitchFamily="34" charset="-122"/>
                <a:cs typeface="Calibri" pitchFamily="34" charset="-120"/>
              </a:rPr>
              <a:t>COMPLETADO</a:t>
            </a:r>
            <a:endParaRPr lang="en-US" sz="1050" dirty="0"/>
          </a:p>
        </p:txBody>
      </p:sp>
      <p:sp>
        <p:nvSpPr>
          <p:cNvPr id="8" name="Text 6"/>
          <p:cNvSpPr/>
          <p:nvPr/>
        </p:nvSpPr>
        <p:spPr>
          <a:xfrm>
            <a:off x="777240" y="2395728"/>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Índice CLI validado (ISIE + Wiley)</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Pipeline EEG y repositorio</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Capítulos 1 y 3</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Arquitectura B1–B8 definida</a:t>
            </a:r>
            <a:endParaRPr lang="en-US" sz="1150" dirty="0"/>
          </a:p>
        </p:txBody>
      </p:sp>
      <p:sp>
        <p:nvSpPr>
          <p:cNvPr id="9" name="Shape 7"/>
          <p:cNvSpPr/>
          <p:nvPr/>
        </p:nvSpPr>
        <p:spPr>
          <a:xfrm>
            <a:off x="4334256" y="1417320"/>
            <a:ext cx="3520440" cy="3794760"/>
          </a:xfrm>
          <a:prstGeom prst="roundRect">
            <a:avLst>
              <a:gd name="adj" fmla="val 1558"/>
            </a:avLst>
          </a:prstGeom>
          <a:solidFill>
            <a:srgbClr val="FFFFFF"/>
          </a:solidFill>
          <a:ln w="12700">
            <a:solidFill>
              <a:srgbClr val="D8E2EA"/>
            </a:solidFill>
            <a:prstDash val="solid"/>
          </a:ln>
        </p:spPr>
      </p:sp>
      <p:sp>
        <p:nvSpPr>
          <p:cNvPr id="10" name="Shape 8"/>
          <p:cNvSpPr/>
          <p:nvPr/>
        </p:nvSpPr>
        <p:spPr>
          <a:xfrm>
            <a:off x="4334256" y="1417320"/>
            <a:ext cx="3520440" cy="777240"/>
          </a:xfrm>
          <a:prstGeom prst="roundRect">
            <a:avLst>
              <a:gd name="adj" fmla="val 7059"/>
            </a:avLst>
          </a:prstGeom>
          <a:solidFill>
            <a:srgbClr val="DCEEF5"/>
          </a:solidFill>
          <a:ln w="12700">
            <a:solidFill>
              <a:srgbClr val="D8E2EA"/>
            </a:solidFill>
            <a:prstDash val="solid"/>
          </a:ln>
        </p:spPr>
      </p:sp>
      <p:sp>
        <p:nvSpPr>
          <p:cNvPr id="11" name="Text 9"/>
          <p:cNvSpPr/>
          <p:nvPr/>
        </p:nvSpPr>
        <p:spPr>
          <a:xfrm>
            <a:off x="4562856" y="1536192"/>
            <a:ext cx="3063240" cy="256032"/>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AÑO 2 · 2026–2027</a:t>
            </a:r>
            <a:endParaRPr lang="en-US" sz="1250" dirty="0"/>
          </a:p>
        </p:txBody>
      </p:sp>
      <p:sp>
        <p:nvSpPr>
          <p:cNvPr id="12" name="Text 10"/>
          <p:cNvSpPr/>
          <p:nvPr/>
        </p:nvSpPr>
        <p:spPr>
          <a:xfrm>
            <a:off x="4562856" y="1810512"/>
            <a:ext cx="3063240" cy="256032"/>
          </a:xfrm>
          <a:prstGeom prst="rect">
            <a:avLst/>
          </a:prstGeom>
          <a:noFill/>
          <a:ln/>
        </p:spPr>
        <p:txBody>
          <a:bodyPr wrap="square" lIns="0" tIns="0" rIns="0" bIns="0" rtlCol="0" anchor="ctr"/>
          <a:lstStyle/>
          <a:p>
            <a:pPr indent="0" marL="0">
              <a:buNone/>
            </a:pPr>
            <a:r>
              <a:rPr lang="en-US" sz="1050" b="1" spc="140" kern="0" dirty="0">
                <a:solidFill>
                  <a:srgbClr val="1391B5"/>
                </a:solidFill>
                <a:latin typeface="Calibri" pitchFamily="34" charset="0"/>
                <a:ea typeface="Calibri" pitchFamily="34" charset="-122"/>
                <a:cs typeface="Calibri" pitchFamily="34" charset="-120"/>
              </a:rPr>
              <a:t>EN CURSO</a:t>
            </a:r>
            <a:endParaRPr lang="en-US" sz="1050" dirty="0"/>
          </a:p>
        </p:txBody>
      </p:sp>
      <p:sp>
        <p:nvSpPr>
          <p:cNvPr id="13" name="Text 11"/>
          <p:cNvSpPr/>
          <p:nvPr/>
        </p:nvSpPr>
        <p:spPr>
          <a:xfrm>
            <a:off x="4562856" y="2395728"/>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Módulo B3 con validación honesta ✓</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Entorno VR de sutura + háptica ✓</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Controlador de bucle cerrado ✓</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Evaluación software-in-the-loop ✓</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Falta: EEG→VR en vivo con usuario</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Falta: re-adquisición del corpus propio</a:t>
            </a:r>
            <a:endParaRPr lang="en-US" sz="1150" dirty="0"/>
          </a:p>
        </p:txBody>
      </p:sp>
      <p:sp>
        <p:nvSpPr>
          <p:cNvPr id="14" name="Shape 12"/>
          <p:cNvSpPr/>
          <p:nvPr/>
        </p:nvSpPr>
        <p:spPr>
          <a:xfrm>
            <a:off x="8119872" y="1417320"/>
            <a:ext cx="3520440" cy="3794760"/>
          </a:xfrm>
          <a:prstGeom prst="roundRect">
            <a:avLst>
              <a:gd name="adj" fmla="val 1558"/>
            </a:avLst>
          </a:prstGeom>
          <a:solidFill>
            <a:srgbClr val="FFFFFF"/>
          </a:solidFill>
          <a:ln w="12700">
            <a:solidFill>
              <a:srgbClr val="D8E2EA"/>
            </a:solidFill>
            <a:prstDash val="solid"/>
          </a:ln>
        </p:spPr>
      </p:sp>
      <p:sp>
        <p:nvSpPr>
          <p:cNvPr id="15" name="Shape 13"/>
          <p:cNvSpPr/>
          <p:nvPr/>
        </p:nvSpPr>
        <p:spPr>
          <a:xfrm>
            <a:off x="8119872" y="1417320"/>
            <a:ext cx="3520440" cy="777240"/>
          </a:xfrm>
          <a:prstGeom prst="roundRect">
            <a:avLst>
              <a:gd name="adj" fmla="val 7059"/>
            </a:avLst>
          </a:prstGeom>
          <a:solidFill>
            <a:srgbClr val="F1F5F8"/>
          </a:solidFill>
          <a:ln w="12700">
            <a:solidFill>
              <a:srgbClr val="D8E2EA"/>
            </a:solidFill>
            <a:prstDash val="solid"/>
          </a:ln>
        </p:spPr>
      </p:sp>
      <p:sp>
        <p:nvSpPr>
          <p:cNvPr id="16" name="Text 14"/>
          <p:cNvSpPr/>
          <p:nvPr/>
        </p:nvSpPr>
        <p:spPr>
          <a:xfrm>
            <a:off x="8348472" y="1536192"/>
            <a:ext cx="3063240" cy="256032"/>
          </a:xfrm>
          <a:prstGeom prst="rect">
            <a:avLst/>
          </a:prstGeom>
          <a:noFill/>
          <a:ln/>
        </p:spPr>
        <p:txBody>
          <a:bodyPr wrap="square" lIns="0" tIns="0" rIns="0" bIns="0" rtlCol="0" anchor="ctr"/>
          <a:lstStyle/>
          <a:p>
            <a:pPr indent="0" marL="0">
              <a:buNone/>
            </a:pPr>
            <a:r>
              <a:rPr lang="en-US" sz="1250" b="1" dirty="0">
                <a:solidFill>
                  <a:srgbClr val="0E1D33"/>
                </a:solidFill>
                <a:latin typeface="Calibri" pitchFamily="34" charset="0"/>
                <a:ea typeface="Calibri" pitchFamily="34" charset="-122"/>
                <a:cs typeface="Calibri" pitchFamily="34" charset="-120"/>
              </a:rPr>
              <a:t>AÑO 3 · 2027–2028</a:t>
            </a:r>
            <a:endParaRPr lang="en-US" sz="1250" dirty="0"/>
          </a:p>
        </p:txBody>
      </p:sp>
      <p:sp>
        <p:nvSpPr>
          <p:cNvPr id="17" name="Text 15"/>
          <p:cNvSpPr/>
          <p:nvPr/>
        </p:nvSpPr>
        <p:spPr>
          <a:xfrm>
            <a:off x="8348472" y="1810512"/>
            <a:ext cx="3063240" cy="256032"/>
          </a:xfrm>
          <a:prstGeom prst="rect">
            <a:avLst/>
          </a:prstGeom>
          <a:noFill/>
          <a:ln/>
        </p:spPr>
        <p:txBody>
          <a:bodyPr wrap="square" lIns="0" tIns="0" rIns="0" bIns="0" rtlCol="0" anchor="ctr"/>
          <a:lstStyle/>
          <a:p>
            <a:pPr indent="0" marL="0">
              <a:buNone/>
            </a:pPr>
            <a:r>
              <a:rPr lang="en-US" sz="1050" b="1" spc="140" kern="0" dirty="0">
                <a:solidFill>
                  <a:srgbClr val="1B3A5C"/>
                </a:solidFill>
                <a:latin typeface="Calibri" pitchFamily="34" charset="0"/>
                <a:ea typeface="Calibri" pitchFamily="34" charset="-122"/>
                <a:cs typeface="Calibri" pitchFamily="34" charset="-120"/>
              </a:rPr>
              <a:t>SIGUIENTE</a:t>
            </a:r>
            <a:endParaRPr lang="en-US" sz="1050" dirty="0"/>
          </a:p>
        </p:txBody>
      </p:sp>
      <p:sp>
        <p:nvSpPr>
          <p:cNvPr id="18" name="Text 16"/>
          <p:cNvSpPr/>
          <p:nvPr/>
        </p:nvSpPr>
        <p:spPr>
          <a:xfrm>
            <a:off x="8348472" y="2395728"/>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Experimento control vs adaptativo (N = 24–30)</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Doble fuente: EEG para exigir, desempeño para aliviar</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Análisis EEG + VR + háptica + NASA-TLX</a:t>
            </a:r>
            <a:endParaRPr lang="en-US" sz="1150" dirty="0"/>
          </a:p>
          <a:p>
            <a:pPr marL="342900" indent="-342900">
              <a:spcAft>
                <a:spcPts val="800"/>
              </a:spcAft>
              <a:buSzPct val="100000"/>
              <a:buChar char="•"/>
            </a:pPr>
            <a:r>
              <a:rPr lang="en-US" sz="1150" dirty="0">
                <a:solidFill>
                  <a:srgbClr val="1B2733"/>
                </a:solidFill>
                <a:latin typeface="Calibri" pitchFamily="34" charset="0"/>
                <a:ea typeface="Calibri" pitchFamily="34" charset="-122"/>
                <a:cs typeface="Calibri" pitchFamily="34" charset="-120"/>
              </a:rPr>
              <a:t>Redacción y defensa</a:t>
            </a:r>
            <a:endParaRPr lang="en-US" sz="1150" dirty="0"/>
          </a:p>
        </p:txBody>
      </p:sp>
      <p:sp>
        <p:nvSpPr>
          <p:cNvPr id="19" name="Shape 17"/>
          <p:cNvSpPr/>
          <p:nvPr/>
        </p:nvSpPr>
        <p:spPr>
          <a:xfrm>
            <a:off x="548640" y="5440680"/>
            <a:ext cx="11091672" cy="685800"/>
          </a:xfrm>
          <a:prstGeom prst="roundRect">
            <a:avLst>
              <a:gd name="adj" fmla="val 8000"/>
            </a:avLst>
          </a:prstGeom>
          <a:solidFill>
            <a:srgbClr val="0E1D33"/>
          </a:solidFill>
          <a:ln w="12700">
            <a:solidFill>
              <a:srgbClr val="0E1D33"/>
            </a:solidFill>
            <a:prstDash val="solid"/>
          </a:ln>
        </p:spPr>
      </p:sp>
      <p:sp>
        <p:nvSpPr>
          <p:cNvPr id="20" name="Text 18"/>
          <p:cNvSpPr/>
          <p:nvPr/>
        </p:nvSpPr>
        <p:spPr>
          <a:xfrm>
            <a:off x="868680" y="5440680"/>
            <a:ext cx="10424160" cy="685800"/>
          </a:xfrm>
          <a:prstGeom prst="rect">
            <a:avLst/>
          </a:prstGeom>
          <a:noFill/>
          <a:ln/>
        </p:spPr>
        <p:txBody>
          <a:bodyPr wrap="square" lIns="0" tIns="0" rIns="0" bIns="0" rtlCol="0" anchor="ctr"/>
          <a:lstStyle/>
          <a:p>
            <a:pPr indent="0" marL="0">
              <a:buNone/>
            </a:pPr>
            <a:r>
              <a:rPr lang="en-US" sz="1300" b="1" dirty="0">
                <a:solidFill>
                  <a:srgbClr val="1391B5"/>
                </a:solidFill>
                <a:latin typeface="Calibri" pitchFamily="34" charset="0"/>
                <a:ea typeface="Calibri" pitchFamily="34" charset="-122"/>
                <a:cs typeface="Calibri" pitchFamily="34" charset="-120"/>
              </a:rPr>
              <a:t>Hito inmediato (próximos 3 meses):  </a:t>
            </a:r>
            <a:pPr indent="0" marL="0">
              <a:buNone/>
            </a:pPr>
            <a:r>
              <a:rPr lang="en-US" sz="1300" dirty="0">
                <a:solidFill>
                  <a:srgbClr val="FFFFFF"/>
                </a:solidFill>
                <a:latin typeface="Calibri" pitchFamily="34" charset="0"/>
                <a:ea typeface="Calibri" pitchFamily="34" charset="-122"/>
                <a:cs typeface="Calibri" pitchFamily="34" charset="-120"/>
              </a:rPr>
              <a:t>conectar el proceso de inferencia al entrenador por UDP y correr el primer piloto interno (N = 5–8) con la diadema puesta.</a:t>
            </a:r>
            <a:endParaRPr lang="en-US" sz="1300" dirty="0"/>
          </a:p>
        </p:txBody>
      </p:sp>
      <p:sp>
        <p:nvSpPr>
          <p:cNvPr id="21" name="Text 19"/>
          <p:cNvSpPr/>
          <p:nvPr/>
        </p:nvSpPr>
        <p:spPr>
          <a:xfrm>
            <a:off x="548640" y="6419088"/>
            <a:ext cx="7772400" cy="256032"/>
          </a:xfrm>
          <a:prstGeom prst="rect">
            <a:avLst/>
          </a:prstGeom>
          <a:noFill/>
          <a:ln/>
        </p:spPr>
        <p:txBody>
          <a:bodyPr wrap="square" lIns="0" tIns="0" rIns="0" bIns="0" rtlCol="0" anchor="ctr"/>
          <a:lstStyle/>
          <a:p>
            <a:pPr indent="0" marL="0">
              <a:buNone/>
            </a:pPr>
            <a:r>
              <a:rPr lang="en-US" sz="950" dirty="0">
                <a:solidFill>
                  <a:srgbClr val="9AAAB8"/>
                </a:solidFill>
                <a:latin typeface="Calibri" pitchFamily="34" charset="0"/>
                <a:ea typeface="Calibri" pitchFamily="34" charset="-122"/>
                <a:cs typeface="Calibri" pitchFamily="34" charset="-120"/>
              </a:rPr>
              <a:t>Seminario de Tesis III  ·  E. Rafael Hernández Ríos  ·  Agosto 2026</a:t>
            </a:r>
            <a:endParaRPr lang="en-US" sz="950" dirty="0"/>
          </a:p>
        </p:txBody>
      </p:sp>
      <p:sp>
        <p:nvSpPr>
          <p:cNvPr id="22" name="Text 20"/>
          <p:cNvSpPr/>
          <p:nvPr/>
        </p:nvSpPr>
        <p:spPr>
          <a:xfrm>
            <a:off x="11247120" y="6419088"/>
            <a:ext cx="411480" cy="256032"/>
          </a:xfrm>
          <a:prstGeom prst="rect">
            <a:avLst/>
          </a:prstGeom>
          <a:noFill/>
          <a:ln/>
        </p:spPr>
        <p:txBody>
          <a:bodyPr wrap="square" lIns="0" tIns="0" rIns="0" bIns="0" rtlCol="0" anchor="ctr"/>
          <a:lstStyle/>
          <a:p>
            <a:pPr algn="r" indent="0" marL="0">
              <a:buNone/>
            </a:pPr>
            <a:r>
              <a:rPr lang="en-US" sz="1050" dirty="0">
                <a:solidFill>
                  <a:srgbClr val="9AAAB8"/>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D33"/>
        </a:solidFill>
      </p:bgPr>
    </p:bg>
    <p:spTree>
      <p:nvGrpSpPr>
        <p:cNvPr id="1" name=""/>
        <p:cNvGrpSpPr/>
        <p:nvPr/>
      </p:nvGrpSpPr>
      <p:grpSpPr>
        <a:xfrm>
          <a:off x="0" y="0"/>
          <a:ext cx="0" cy="0"/>
          <a:chOff x="0" y="0"/>
          <a:chExt cx="0" cy="0"/>
        </a:xfrm>
      </p:grpSpPr>
      <p:sp>
        <p:nvSpPr>
          <p:cNvPr id="2" name="Shape 0"/>
          <p:cNvSpPr/>
          <p:nvPr/>
        </p:nvSpPr>
        <p:spPr>
          <a:xfrm>
            <a:off x="10058400" y="4937760"/>
            <a:ext cx="3657600" cy="3657600"/>
          </a:xfrm>
          <a:prstGeom prst="ellipse">
            <a:avLst/>
          </a:prstGeom>
          <a:solidFill>
            <a:srgbClr val="142B47"/>
          </a:solidFill>
          <a:ln w="12700">
            <a:solidFill>
              <a:srgbClr val="333333"/>
            </a:solidFill>
            <a:prstDash val="solid"/>
          </a:ln>
        </p:spPr>
      </p:sp>
      <p:sp>
        <p:nvSpPr>
          <p:cNvPr id="3" name="Text 1"/>
          <p:cNvSpPr/>
          <p:nvPr/>
        </p:nvSpPr>
        <p:spPr>
          <a:xfrm>
            <a:off x="640080" y="502920"/>
            <a:ext cx="7315200" cy="274320"/>
          </a:xfrm>
          <a:prstGeom prst="rect">
            <a:avLst/>
          </a:prstGeom>
          <a:noFill/>
          <a:ln/>
        </p:spPr>
        <p:txBody>
          <a:bodyPr wrap="square" lIns="0" tIns="0" rIns="0" bIns="0" rtlCol="0" anchor="ctr"/>
          <a:lstStyle/>
          <a:p>
            <a:pPr indent="0" marL="0">
              <a:buNone/>
            </a:pPr>
            <a:r>
              <a:rPr lang="en-US" sz="1150" b="1" spc="200" kern="0" dirty="0">
                <a:solidFill>
                  <a:srgbClr val="1391B5"/>
                </a:solidFill>
                <a:latin typeface="Calibri" pitchFamily="34" charset="0"/>
                <a:ea typeface="Calibri" pitchFamily="34" charset="-122"/>
                <a:cs typeface="Calibri" pitchFamily="34" charset="-120"/>
              </a:rPr>
              <a:t>CONCLUSIONES</a:t>
            </a:r>
            <a:endParaRPr lang="en-US" sz="1150" dirty="0"/>
          </a:p>
        </p:txBody>
      </p:sp>
      <p:sp>
        <p:nvSpPr>
          <p:cNvPr id="4" name="Text 2"/>
          <p:cNvSpPr/>
          <p:nvPr/>
        </p:nvSpPr>
        <p:spPr>
          <a:xfrm>
            <a:off x="640080" y="822960"/>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Cuatro cosas que hoy sé y en junio no</a:t>
            </a:r>
            <a:endParaRPr lang="en-US" sz="3000" dirty="0"/>
          </a:p>
        </p:txBody>
      </p:sp>
      <p:sp>
        <p:nvSpPr>
          <p:cNvPr id="5" name="Shape 3"/>
          <p:cNvSpPr/>
          <p:nvPr/>
        </p:nvSpPr>
        <p:spPr>
          <a:xfrm>
            <a:off x="640080" y="1600200"/>
            <a:ext cx="10881360" cy="987552"/>
          </a:xfrm>
          <a:prstGeom prst="roundRect">
            <a:avLst>
              <a:gd name="adj" fmla="val 5556"/>
            </a:avLst>
          </a:prstGeom>
          <a:solidFill>
            <a:srgbClr val="14283F"/>
          </a:solidFill>
          <a:ln w="12700">
            <a:solidFill>
              <a:srgbClr val="24405E"/>
            </a:solidFill>
            <a:prstDash val="solid"/>
          </a:ln>
        </p:spPr>
      </p:sp>
      <p:sp>
        <p:nvSpPr>
          <p:cNvPr id="6" name="Text 4"/>
          <p:cNvSpPr/>
          <p:nvPr/>
        </p:nvSpPr>
        <p:spPr>
          <a:xfrm>
            <a:off x="868680" y="1719072"/>
            <a:ext cx="640080" cy="411480"/>
          </a:xfrm>
          <a:prstGeom prst="rect">
            <a:avLst/>
          </a:prstGeom>
          <a:noFill/>
          <a:ln/>
        </p:spPr>
        <p:txBody>
          <a:bodyPr wrap="square" lIns="0" tIns="0" rIns="0" bIns="0" rtlCol="0" anchor="ctr"/>
          <a:lstStyle/>
          <a:p>
            <a:pPr indent="0" marL="0">
              <a:buNone/>
            </a:pPr>
            <a:r>
              <a:rPr lang="en-US" sz="2000" b="1" dirty="0">
                <a:solidFill>
                  <a:srgbClr val="1391B5"/>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1600200" y="1709928"/>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El estimador aguanta un protocolo honesto.</a:t>
            </a:r>
            <a:endParaRPr lang="en-US" sz="1400" dirty="0"/>
          </a:p>
        </p:txBody>
      </p:sp>
      <p:sp>
        <p:nvSpPr>
          <p:cNvPr id="8" name="Text 6"/>
          <p:cNvSpPr/>
          <p:nvPr/>
        </p:nvSpPr>
        <p:spPr>
          <a:xfrm>
            <a:off x="1600200" y="2020824"/>
            <a:ext cx="9692640" cy="502920"/>
          </a:xfrm>
          <a:prstGeom prst="rect">
            <a:avLst/>
          </a:prstGeom>
          <a:noFill/>
          <a:ln/>
        </p:spPr>
        <p:txBody>
          <a:bodyPr wrap="square" lIns="0" tIns="0" rIns="0" bIns="0" rtlCol="0" anchor="ctr"/>
          <a:lstStyle/>
          <a:p>
            <a:pPr indent="0" marL="0">
              <a:buNone/>
            </a:pPr>
            <a:r>
              <a:rPr lang="en-US" sz="1150" dirty="0">
                <a:solidFill>
                  <a:srgbClr val="A9C1D3"/>
                </a:solidFill>
                <a:latin typeface="Calibri" pitchFamily="34" charset="0"/>
                <a:ea typeface="Calibri" pitchFamily="34" charset="-122"/>
                <a:cs typeface="Calibri" pitchFamily="34" charset="-120"/>
              </a:rPr>
              <a:t>0.82 y 0.76 de exactitud reposo–tarea en 51 sujetos y dos sistemas de registro, con calibración por sujeto y LOSO estricto. La palanca es el protocolo, no el modelo.</a:t>
            </a:r>
            <a:endParaRPr lang="en-US" sz="1150" dirty="0"/>
          </a:p>
        </p:txBody>
      </p:sp>
      <p:sp>
        <p:nvSpPr>
          <p:cNvPr id="9" name="Shape 7"/>
          <p:cNvSpPr/>
          <p:nvPr/>
        </p:nvSpPr>
        <p:spPr>
          <a:xfrm>
            <a:off x="640080" y="2715768"/>
            <a:ext cx="10881360" cy="987552"/>
          </a:xfrm>
          <a:prstGeom prst="roundRect">
            <a:avLst>
              <a:gd name="adj" fmla="val 5556"/>
            </a:avLst>
          </a:prstGeom>
          <a:solidFill>
            <a:srgbClr val="14283F"/>
          </a:solidFill>
          <a:ln w="12700">
            <a:solidFill>
              <a:srgbClr val="24405E"/>
            </a:solidFill>
            <a:prstDash val="solid"/>
          </a:ln>
        </p:spPr>
      </p:sp>
      <p:sp>
        <p:nvSpPr>
          <p:cNvPr id="10" name="Text 8"/>
          <p:cNvSpPr/>
          <p:nvPr/>
        </p:nvSpPr>
        <p:spPr>
          <a:xfrm>
            <a:off x="868680" y="2834640"/>
            <a:ext cx="640080" cy="411480"/>
          </a:xfrm>
          <a:prstGeom prst="rect">
            <a:avLst/>
          </a:prstGeom>
          <a:noFill/>
          <a:ln/>
        </p:spPr>
        <p:txBody>
          <a:bodyPr wrap="square" lIns="0" tIns="0" rIns="0" bIns="0" rtlCol="0" anchor="ctr"/>
          <a:lstStyle/>
          <a:p>
            <a:pPr indent="0" marL="0">
              <a:buNone/>
            </a:pPr>
            <a:r>
              <a:rPr lang="en-US" sz="2000" b="1" dirty="0">
                <a:solidFill>
                  <a:srgbClr val="1391B5"/>
                </a:solidFill>
                <a:latin typeface="Cambria" pitchFamily="34" charset="0"/>
                <a:ea typeface="Cambria" pitchFamily="34" charset="-122"/>
                <a:cs typeface="Cambria" pitchFamily="34" charset="-120"/>
              </a:rPr>
              <a:t>02</a:t>
            </a:r>
            <a:endParaRPr lang="en-US" sz="2000" dirty="0"/>
          </a:p>
        </p:txBody>
      </p:sp>
      <p:sp>
        <p:nvSpPr>
          <p:cNvPr id="11" name="Text 9"/>
          <p:cNvSpPr/>
          <p:nvPr/>
        </p:nvSpPr>
        <p:spPr>
          <a:xfrm>
            <a:off x="1600200" y="2825496"/>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El índice CLI mide supresión alfa, no theta frontal.</a:t>
            </a:r>
            <a:endParaRPr lang="en-US" sz="1400" dirty="0"/>
          </a:p>
        </p:txBody>
      </p:sp>
      <p:sp>
        <p:nvSpPr>
          <p:cNvPr id="12" name="Text 10"/>
          <p:cNvSpPr/>
          <p:nvPr/>
        </p:nvSpPr>
        <p:spPr>
          <a:xfrm>
            <a:off x="1600200" y="3136392"/>
            <a:ext cx="9692640" cy="502920"/>
          </a:xfrm>
          <a:prstGeom prst="rect">
            <a:avLst/>
          </a:prstGeom>
          <a:noFill/>
          <a:ln/>
        </p:spPr>
        <p:txBody>
          <a:bodyPr wrap="square" lIns="0" tIns="0" rIns="0" bIns="0" rtlCol="0" anchor="ctr"/>
          <a:lstStyle/>
          <a:p>
            <a:pPr indent="0" marL="0">
              <a:buNone/>
            </a:pPr>
            <a:r>
              <a:rPr lang="en-US" sz="1150" dirty="0">
                <a:solidFill>
                  <a:srgbClr val="A9C1D3"/>
                </a:solidFill>
                <a:latin typeface="Calibri" pitchFamily="34" charset="0"/>
                <a:ea typeface="Calibri" pitchFamily="34" charset="-122"/>
                <a:cs typeface="Calibri" pitchFamily="34" charset="-120"/>
              </a:rPr>
              <a:t>El numerador está plano en ambos datasets; la caída de alfa parietal explica la totalidad del efecto ×1.93. Cambia la interpretación y la elección de montaje.</a:t>
            </a:r>
            <a:endParaRPr lang="en-US" sz="1150" dirty="0"/>
          </a:p>
        </p:txBody>
      </p:sp>
      <p:sp>
        <p:nvSpPr>
          <p:cNvPr id="13" name="Shape 11"/>
          <p:cNvSpPr/>
          <p:nvPr/>
        </p:nvSpPr>
        <p:spPr>
          <a:xfrm>
            <a:off x="640080" y="3831336"/>
            <a:ext cx="10881360" cy="987552"/>
          </a:xfrm>
          <a:prstGeom prst="roundRect">
            <a:avLst>
              <a:gd name="adj" fmla="val 5556"/>
            </a:avLst>
          </a:prstGeom>
          <a:solidFill>
            <a:srgbClr val="14283F"/>
          </a:solidFill>
          <a:ln w="12700">
            <a:solidFill>
              <a:srgbClr val="24405E"/>
            </a:solidFill>
            <a:prstDash val="solid"/>
          </a:ln>
        </p:spPr>
      </p:sp>
      <p:sp>
        <p:nvSpPr>
          <p:cNvPr id="14" name="Text 12"/>
          <p:cNvSpPr/>
          <p:nvPr/>
        </p:nvSpPr>
        <p:spPr>
          <a:xfrm>
            <a:off x="868680" y="3950208"/>
            <a:ext cx="640080" cy="411480"/>
          </a:xfrm>
          <a:prstGeom prst="rect">
            <a:avLst/>
          </a:prstGeom>
          <a:noFill/>
          <a:ln/>
        </p:spPr>
        <p:txBody>
          <a:bodyPr wrap="square" lIns="0" tIns="0" rIns="0" bIns="0" rtlCol="0" anchor="ctr"/>
          <a:lstStyle/>
          <a:p>
            <a:pPr indent="0" marL="0">
              <a:buNone/>
            </a:pPr>
            <a:r>
              <a:rPr lang="en-US" sz="2000" b="1" dirty="0">
                <a:solidFill>
                  <a:srgbClr val="1391B5"/>
                </a:solidFill>
                <a:latin typeface="Cambria" pitchFamily="34" charset="0"/>
                <a:ea typeface="Cambria" pitchFamily="34" charset="-122"/>
                <a:cs typeface="Cambria" pitchFamily="34" charset="-120"/>
              </a:rPr>
              <a:t>03</a:t>
            </a:r>
            <a:endParaRPr lang="en-US" sz="2000" dirty="0"/>
          </a:p>
        </p:txBody>
      </p:sp>
      <p:sp>
        <p:nvSpPr>
          <p:cNvPr id="15" name="Text 13"/>
          <p:cNvSpPr/>
          <p:nvPr/>
        </p:nvSpPr>
        <p:spPr>
          <a:xfrm>
            <a:off x="1600200" y="3941064"/>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El sistema completo ya está construido y medido.</a:t>
            </a:r>
            <a:endParaRPr lang="en-US" sz="1400" dirty="0"/>
          </a:p>
        </p:txBody>
      </p:sp>
      <p:sp>
        <p:nvSpPr>
          <p:cNvPr id="16" name="Text 14"/>
          <p:cNvSpPr/>
          <p:nvPr/>
        </p:nvSpPr>
        <p:spPr>
          <a:xfrm>
            <a:off x="1600200" y="4251960"/>
            <a:ext cx="9692640" cy="502920"/>
          </a:xfrm>
          <a:prstGeom prst="rect">
            <a:avLst/>
          </a:prstGeom>
          <a:noFill/>
          <a:ln/>
        </p:spPr>
        <p:txBody>
          <a:bodyPr wrap="square" lIns="0" tIns="0" rIns="0" bIns="0" rtlCol="0" anchor="ctr"/>
          <a:lstStyle/>
          <a:p>
            <a:pPr indent="0" marL="0">
              <a:buNone/>
            </a:pPr>
            <a:r>
              <a:rPr lang="en-US" sz="1150" dirty="0">
                <a:solidFill>
                  <a:srgbClr val="A9C1D3"/>
                </a:solidFill>
                <a:latin typeface="Calibri" pitchFamily="34" charset="0"/>
                <a:ea typeface="Calibri" pitchFamily="34" charset="-122"/>
                <a:cs typeface="Calibri" pitchFamily="34" charset="-120"/>
              </a:rPr>
              <a:t>Entrenador VR háptico de sutura, controlador de dificultad con guardas, 16 ms de latencia de cómputo sobre un stride de 2 s. Falta el usuario, no el software.</a:t>
            </a:r>
            <a:endParaRPr lang="en-US" sz="1150" dirty="0"/>
          </a:p>
        </p:txBody>
      </p:sp>
      <p:sp>
        <p:nvSpPr>
          <p:cNvPr id="17" name="Shape 15"/>
          <p:cNvSpPr/>
          <p:nvPr/>
        </p:nvSpPr>
        <p:spPr>
          <a:xfrm>
            <a:off x="640080" y="4946904"/>
            <a:ext cx="10881360" cy="987552"/>
          </a:xfrm>
          <a:prstGeom prst="roundRect">
            <a:avLst>
              <a:gd name="adj" fmla="val 5556"/>
            </a:avLst>
          </a:prstGeom>
          <a:solidFill>
            <a:srgbClr val="14283F"/>
          </a:solidFill>
          <a:ln w="12700">
            <a:solidFill>
              <a:srgbClr val="24405E"/>
            </a:solidFill>
            <a:prstDash val="solid"/>
          </a:ln>
        </p:spPr>
      </p:sp>
      <p:sp>
        <p:nvSpPr>
          <p:cNvPr id="18" name="Text 16"/>
          <p:cNvSpPr/>
          <p:nvPr/>
        </p:nvSpPr>
        <p:spPr>
          <a:xfrm>
            <a:off x="868680" y="5065776"/>
            <a:ext cx="640080" cy="411480"/>
          </a:xfrm>
          <a:prstGeom prst="rect">
            <a:avLst/>
          </a:prstGeom>
          <a:noFill/>
          <a:ln/>
        </p:spPr>
        <p:txBody>
          <a:bodyPr wrap="square" lIns="0" tIns="0" rIns="0" bIns="0" rtlCol="0" anchor="ctr"/>
          <a:lstStyle/>
          <a:p>
            <a:pPr indent="0" marL="0">
              <a:buNone/>
            </a:pPr>
            <a:r>
              <a:rPr lang="en-US" sz="2000" b="1" dirty="0">
                <a:solidFill>
                  <a:srgbClr val="1391B5"/>
                </a:solidFill>
                <a:latin typeface="Cambria" pitchFamily="34" charset="0"/>
                <a:ea typeface="Cambria" pitchFamily="34" charset="-122"/>
                <a:cs typeface="Cambria" pitchFamily="34" charset="-120"/>
              </a:rPr>
              <a:t>04</a:t>
            </a:r>
            <a:endParaRPr lang="en-US" sz="2000" dirty="0"/>
          </a:p>
        </p:txBody>
      </p:sp>
      <p:sp>
        <p:nvSpPr>
          <p:cNvPr id="19" name="Text 17"/>
          <p:cNvSpPr/>
          <p:nvPr/>
        </p:nvSpPr>
        <p:spPr>
          <a:xfrm>
            <a:off x="1600200" y="5056632"/>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El lazo debe gobernarse con dos fuentes.</a:t>
            </a:r>
            <a:endParaRPr lang="en-US" sz="1400" dirty="0"/>
          </a:p>
        </p:txBody>
      </p:sp>
      <p:sp>
        <p:nvSpPr>
          <p:cNvPr id="20" name="Text 18"/>
          <p:cNvSpPr/>
          <p:nvPr/>
        </p:nvSpPr>
        <p:spPr>
          <a:xfrm>
            <a:off x="1600200" y="5367528"/>
            <a:ext cx="9692640" cy="502920"/>
          </a:xfrm>
          <a:prstGeom prst="rect">
            <a:avLst/>
          </a:prstGeom>
          <a:noFill/>
          <a:ln/>
        </p:spPr>
        <p:txBody>
          <a:bodyPr wrap="square" lIns="0" tIns="0" rIns="0" bIns="0" rtlCol="0" anchor="ctr"/>
          <a:lstStyle/>
          <a:p>
            <a:pPr indent="0" marL="0">
              <a:buNone/>
            </a:pPr>
            <a:r>
              <a:rPr lang="en-US" sz="1150" dirty="0">
                <a:solidFill>
                  <a:srgbClr val="A9C1D3"/>
                </a:solidFill>
                <a:latin typeface="Calibri" pitchFamily="34" charset="0"/>
                <a:ea typeface="Calibri" pitchFamily="34" charset="-122"/>
                <a:cs typeface="Calibri" pitchFamily="34" charset="-120"/>
              </a:rPr>
              <a:t>El EEG reconoce el reposo con 0.89 de precisión y la sobrecarga con 0.46. Con entrada perfecta la política alcanza 0.971: el límite es la percepción, y la telemetría de desempeño debe cubrir la dirección débil.</a:t>
            </a:r>
            <a:endParaRPr lang="en-US" sz="1150" dirty="0"/>
          </a:p>
        </p:txBody>
      </p:sp>
      <p:sp>
        <p:nvSpPr>
          <p:cNvPr id="21" name="Text 19"/>
          <p:cNvSpPr/>
          <p:nvPr/>
        </p:nvSpPr>
        <p:spPr>
          <a:xfrm>
            <a:off x="640080" y="6309360"/>
            <a:ext cx="8229600" cy="274320"/>
          </a:xfrm>
          <a:prstGeom prst="rect">
            <a:avLst/>
          </a:prstGeom>
          <a:noFill/>
          <a:ln/>
        </p:spPr>
        <p:txBody>
          <a:bodyPr wrap="square" lIns="0" tIns="0" rIns="0" bIns="0" rtlCol="0" anchor="ctr"/>
          <a:lstStyle/>
          <a:p>
            <a:pPr indent="0" marL="0">
              <a:buNone/>
            </a:pPr>
            <a:r>
              <a:rPr lang="en-US" sz="1050" dirty="0">
                <a:solidFill>
                  <a:srgbClr val="7C99AD"/>
                </a:solidFill>
                <a:latin typeface="Calibri" pitchFamily="34" charset="0"/>
                <a:ea typeface="Calibri" pitchFamily="34" charset="-122"/>
                <a:cs typeface="Calibri" pitchFamily="34" charset="-120"/>
              </a:rPr>
              <a:t>M. Eng. Edgar Rafael Hernández Ríos  ·  Seminario de Tesis III  ·  Agosto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Seminario de Tesis III</dc:title>
  <dc:subject>PptxGenJS Presentation</dc:subject>
  <dc:creator>Edgar Rafael Hernandez Rios</dc:creator>
  <cp:lastModifiedBy>Edgar Rafael Hernandez Rios</cp:lastModifiedBy>
  <cp:revision>1</cp:revision>
  <dcterms:created xsi:type="dcterms:W3CDTF">2026-08-14T11:49:56Z</dcterms:created>
  <dcterms:modified xsi:type="dcterms:W3CDTF">2026-08-14T11:49:56Z</dcterms:modified>
</cp:coreProperties>
</file>